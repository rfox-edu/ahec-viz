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0"/>
  </p:notesMasterIdLst>
  <p:sldIdLst>
    <p:sldId id="256" r:id="rId2"/>
    <p:sldId id="257" r:id="rId3"/>
    <p:sldId id="261" r:id="rId4"/>
    <p:sldId id="262" r:id="rId5"/>
    <p:sldId id="258" r:id="rId6"/>
    <p:sldId id="259" r:id="rId7"/>
    <p:sldId id="260" r:id="rId8"/>
    <p:sldId id="263" r:id="rId9"/>
  </p:sldIdLst>
  <p:sldSz cx="12192000" cy="6858000"/>
  <p:notesSz cx="6858000" cy="9144000"/>
  <p:embeddedFontLst>
    <p:embeddedFont>
      <p:font typeface="Lora Medium" panose="020F0502020204030204" pitchFamily="2" charset="0"/>
      <p:regular r:id="rId11"/>
      <p:italic r:id="rId12"/>
    </p:embeddedFont>
    <p:embeddedFont>
      <p:font typeface="Lora SemiBold" panose="020B0604020202020204" charset="0"/>
      <p:regular r:id="rId13"/>
      <p:bold r:id="rId14"/>
      <p:italic r:id="rId15"/>
      <p:boldItalic r:id="rId16"/>
    </p:embeddedFont>
    <p:embeddedFont>
      <p:font typeface="Roboto" panose="02000000000000000000" pitchFamily="2" charset="0"/>
      <p:regular r:id="rId17"/>
      <p:bold r:id="rId18"/>
      <p:italic r:id="rId19"/>
      <p:boldItalic r:id="rId20"/>
    </p:embeddedFont>
    <p:embeddedFont>
      <p:font typeface="Roboto Medium" panose="02000000000000000000" pitchFamily="2" charset="0"/>
      <p:regular r:id="rId21"/>
      <p:italic r:id="rId22"/>
    </p:embeddedFont>
    <p:embeddedFont>
      <p:font typeface="Roboto SemiBold" panose="020B060402020202020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2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font" Target="fonts/font16.fntdata"/><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viewProps" Target="viewProp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1"/>
        <c:ser>
          <c:idx val="0"/>
          <c:order val="0"/>
          <c:tx>
            <c:v>Performance</c:v>
          </c:tx>
          <c:spPr>
            <a:solidFill>
              <a:srgbClr val="FF0000"/>
            </a:solidFill>
            <a:ln w="19050">
              <a:solidFill>
                <a:srgbClr val="FF000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Phone call</c:v>
                </c:pt>
                <c:pt idx="1">
                  <c:v>Text</c:v>
                </c:pt>
                <c:pt idx="2">
                  <c:v>AI outreach</c:v>
                </c:pt>
                <c:pt idx="3">
                  <c:v>Email</c:v>
                </c:pt>
              </c:strCache>
            </c:strRef>
          </c:cat>
          <c:val>
            <c:numRef>
              <c:f>'Chart Data'!$B$2:$B$5</c:f>
              <c:numCache>
                <c:formatCode>0.0%</c:formatCode>
                <c:ptCount val="4"/>
                <c:pt idx="0">
                  <c:v>9.2705170000000003E-2</c:v>
                </c:pt>
                <c:pt idx="1">
                  <c:v>8.4210530000000006E-2</c:v>
                </c:pt>
                <c:pt idx="2">
                  <c:v>0.11232279000000001</c:v>
                </c:pt>
                <c:pt idx="3">
                  <c:v>0.10430622000000001</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0000"/>
                    </a:solidFill>
                  </a:ln>
                </c14:spPr>
              </c14:invertSolidFillFmt>
            </c:ext>
            <c:ext xmlns:c16="http://schemas.microsoft.com/office/drawing/2014/chart" uri="{C3380CC4-5D6E-409C-BE32-E72D297353CC}">
              <c16:uniqueId val="{00000000-2B81-49C7-8DB1-F69BC874AAFC}"/>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14288">
            <a:solidFill>
              <a:srgbClr val="000000"/>
            </a:solidFill>
          </a:ln>
        </c:spPr>
        <c:txPr>
          <a:bodyPr anchorCtr="1"/>
          <a:lstStyle/>
          <a:p>
            <a:pPr>
              <a:defRPr sz="1050">
                <a:solidFill>
                  <a:srgbClr val="222936"/>
                </a:solidFill>
                <a:latin typeface="Roboto"/>
                <a:ea typeface="Roboto"/>
                <a:cs typeface="Roboto"/>
              </a:defRPr>
            </a:pPr>
            <a:endParaRPr lang="en-US"/>
          </a:p>
        </c:txPr>
        <c:crossAx val="48672768"/>
        <c:crosses val="autoZero"/>
        <c:auto val="1"/>
        <c:lblAlgn val="ctr"/>
        <c:lblOffset val="100"/>
        <c:noMultiLvlLbl val="1"/>
      </c:catAx>
      <c:valAx>
        <c:axId val="48672768"/>
        <c:scaling>
          <c:orientation val="minMax"/>
          <c:max val="0.12"/>
          <c:min val="0.08"/>
        </c:scaling>
        <c:delete val="0"/>
        <c:axPos val="l"/>
        <c:majorGridlines>
          <c:spPr>
            <a:ln w="14288">
              <a:solidFill>
                <a:srgbClr val="999999"/>
              </a:solidFill>
            </a:ln>
          </c:spPr>
        </c:majorGridlines>
        <c:title>
          <c:tx>
            <c:rich>
              <a:bodyPr/>
              <a:lstStyle/>
              <a:p>
                <a:r>
                  <a:rPr lang="en-US">
                    <a:latin typeface="Roboto"/>
                    <a:ea typeface="Roboto"/>
                    <a:cs typeface="Roboto"/>
                  </a:rPr>
                  <a:t>No-show rate</a:t>
                </a:r>
              </a:p>
            </c:rich>
          </c:tx>
          <c:overlay val="0"/>
        </c:title>
        <c:numFmt formatCode="0.0%" sourceLinked="1"/>
        <c:majorTickMark val="none"/>
        <c:minorTickMark val="none"/>
        <c:tickLblPos val="nextTo"/>
        <c:spPr>
          <a:ln w="9525">
            <a:solidFill>
              <a:srgbClr val="000000"/>
            </a:solidFill>
          </a:ln>
        </c:spPr>
        <c:txPr>
          <a:bodyPr anchorCtr="1"/>
          <a:lstStyle/>
          <a:p>
            <a:pPr>
              <a:defRPr sz="1050">
                <a:solidFill>
                  <a:srgbClr val="222936"/>
                </a:solidFill>
                <a:latin typeface="Roboto"/>
                <a:ea typeface="Roboto"/>
                <a:cs typeface="Roboto"/>
              </a:defRPr>
            </a:pPr>
            <a:endParaRPr lang="en-US"/>
          </a:p>
        </c:txPr>
        <c:crossAx val="48650112"/>
        <c:crosses val="autoZero"/>
        <c:crossBetween val="between"/>
      </c:valAx>
      <c:spPr>
        <a:solidFill>
          <a:srgbClr val="D9E1F2"/>
        </a:solidFill>
        <a:ln w="9525">
          <a:solidFill>
            <a:srgbClr val="000000"/>
          </a:solidFill>
        </a:ln>
      </c:spPr>
    </c:plotArea>
    <c:legend>
      <c:legendPos val="r"/>
      <c:overlay val="0"/>
      <c:txPr>
        <a:bodyPr anchorCtr="1"/>
        <a:lstStyle/>
        <a:p>
          <a:pPr>
            <a:defRPr sz="1050">
              <a:solidFill>
                <a:srgbClr val="566070"/>
              </a:solidFill>
              <a:latin typeface="Roboto"/>
              <a:ea typeface="Roboto"/>
              <a:cs typeface="Roboto"/>
            </a:defRPr>
          </a:pPr>
          <a:endParaRPr lang="en-US"/>
        </a:p>
      </c:txPr>
    </c:legend>
    <c:plotVisOnly val="1"/>
    <c:dispBlanksAs val="zero"/>
    <c:showDLblsOverMax val="1"/>
  </c:chart>
  <c:spPr>
    <a:solidFill>
      <a:srgbClr val="F2F2F2"/>
    </a:solidFill>
    <a:ln w="9525">
      <a:solidFill>
        <a:srgbClr val="000000"/>
      </a:solid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v>0–7 days</c:v>
          </c:tx>
          <c:spPr>
            <a:solidFill>
              <a:srgbClr val="FF0000"/>
            </a:solidFill>
            <a:ln w="19050">
              <a:solidFill>
                <a:srgbClr val="FF000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Phone call</c:v>
                </c:pt>
                <c:pt idx="1">
                  <c:v>Text</c:v>
                </c:pt>
                <c:pt idx="2">
                  <c:v>AI outreach</c:v>
                </c:pt>
                <c:pt idx="3">
                  <c:v>Email</c:v>
                </c:pt>
              </c:strCache>
            </c:strRef>
          </c:cat>
          <c:val>
            <c:numRef>
              <c:f>'Chart Data'!$B$2:$B$5</c:f>
              <c:numCache>
                <c:formatCode>0%</c:formatCode>
                <c:ptCount val="4"/>
                <c:pt idx="0">
                  <c:v>0.29711246000000002</c:v>
                </c:pt>
                <c:pt idx="1">
                  <c:v>0.38836565000000001</c:v>
                </c:pt>
                <c:pt idx="2">
                  <c:v>8.5059979999999993E-2</c:v>
                </c:pt>
                <c:pt idx="3">
                  <c:v>0.29856459000000002</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0000"/>
                    </a:solidFill>
                  </a:ln>
                </c14:spPr>
              </c14:invertSolidFillFmt>
            </c:ext>
            <c:ext xmlns:c16="http://schemas.microsoft.com/office/drawing/2014/chart" uri="{C3380CC4-5D6E-409C-BE32-E72D297353CC}">
              <c16:uniqueId val="{00000000-0570-4B5D-99EB-59E9919243BE}"/>
            </c:ext>
          </c:extLst>
        </c:ser>
        <c:ser>
          <c:idx val="1"/>
          <c:order val="1"/>
          <c:tx>
            <c:v>8–21 days</c:v>
          </c:tx>
          <c:spPr>
            <a:solidFill>
              <a:srgbClr val="00B050"/>
            </a:solidFill>
            <a:ln w="19050">
              <a:solidFill>
                <a:srgbClr val="00B05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Phone call</c:v>
                </c:pt>
                <c:pt idx="1">
                  <c:v>Text</c:v>
                </c:pt>
                <c:pt idx="2">
                  <c:v>AI outreach</c:v>
                </c:pt>
                <c:pt idx="3">
                  <c:v>Email</c:v>
                </c:pt>
              </c:strCache>
            </c:strRef>
          </c:cat>
          <c:val>
            <c:numRef>
              <c:f>'Chart Data'!$D$2:$D$5</c:f>
              <c:numCache>
                <c:formatCode>0%</c:formatCode>
                <c:ptCount val="4"/>
                <c:pt idx="0">
                  <c:v>0.29559270999999998</c:v>
                </c:pt>
                <c:pt idx="1">
                  <c:v>0.34072022000000002</c:v>
                </c:pt>
                <c:pt idx="2">
                  <c:v>0.15049072999999999</c:v>
                </c:pt>
                <c:pt idx="3">
                  <c:v>0.32535884999999998</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00B050"/>
                    </a:solidFill>
                  </a:ln>
                </c14:spPr>
              </c14:invertSolidFillFmt>
            </c:ext>
            <c:ext xmlns:c16="http://schemas.microsoft.com/office/drawing/2014/chart" uri="{C3380CC4-5D6E-409C-BE32-E72D297353CC}">
              <c16:uniqueId val="{00000001-0570-4B5D-99EB-59E9919243BE}"/>
            </c:ext>
          </c:extLst>
        </c:ser>
        <c:ser>
          <c:idx val="2"/>
          <c:order val="2"/>
          <c:tx>
            <c:v>22–42 days</c:v>
          </c:tx>
          <c:spPr>
            <a:solidFill>
              <a:srgbClr val="FFC000"/>
            </a:solidFill>
            <a:ln w="19050">
              <a:solidFill>
                <a:srgbClr val="FFC00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Data'!$E$2:$E$5</c:f>
              <c:strCache>
                <c:ptCount val="4"/>
                <c:pt idx="0">
                  <c:v>Phone call</c:v>
                </c:pt>
                <c:pt idx="1">
                  <c:v>Text</c:v>
                </c:pt>
                <c:pt idx="2">
                  <c:v>AI outreach</c:v>
                </c:pt>
                <c:pt idx="3">
                  <c:v>Email</c:v>
                </c:pt>
              </c:strCache>
            </c:strRef>
          </c:cat>
          <c:val>
            <c:numRef>
              <c:f>'Chart Data'!$F$2:$F$5</c:f>
              <c:numCache>
                <c:formatCode>0%</c:formatCode>
                <c:ptCount val="4"/>
                <c:pt idx="0">
                  <c:v>0.26671732999999997</c:v>
                </c:pt>
                <c:pt idx="1">
                  <c:v>0.20221607</c:v>
                </c:pt>
                <c:pt idx="2">
                  <c:v>0.32878953</c:v>
                </c:pt>
                <c:pt idx="3">
                  <c:v>0.25933013999999999</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C000"/>
                    </a:solidFill>
                  </a:ln>
                </c14:spPr>
              </c14:invertSolidFillFmt>
            </c:ext>
            <c:ext xmlns:c16="http://schemas.microsoft.com/office/drawing/2014/chart" uri="{C3380CC4-5D6E-409C-BE32-E72D297353CC}">
              <c16:uniqueId val="{00000002-0570-4B5D-99EB-59E9919243BE}"/>
            </c:ext>
          </c:extLst>
        </c:ser>
        <c:ser>
          <c:idx val="3"/>
          <c:order val="3"/>
          <c:tx>
            <c:v>43–90 days</c:v>
          </c:tx>
          <c:spPr>
            <a:solidFill>
              <a:srgbClr val="7030A0"/>
            </a:solidFill>
            <a:ln w="19050">
              <a:solidFill>
                <a:srgbClr val="7030A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Data'!$G$2:$G$5</c:f>
              <c:strCache>
                <c:ptCount val="4"/>
                <c:pt idx="0">
                  <c:v>Phone call</c:v>
                </c:pt>
                <c:pt idx="1">
                  <c:v>Text</c:v>
                </c:pt>
                <c:pt idx="2">
                  <c:v>AI outreach</c:v>
                </c:pt>
                <c:pt idx="3">
                  <c:v>Email</c:v>
                </c:pt>
              </c:strCache>
            </c:strRef>
          </c:cat>
          <c:val>
            <c:numRef>
              <c:f>'Chart Data'!$H$2:$H$5</c:f>
              <c:numCache>
                <c:formatCode>0%</c:formatCode>
                <c:ptCount val="4"/>
                <c:pt idx="0">
                  <c:v>0.14057750999999999</c:v>
                </c:pt>
                <c:pt idx="1">
                  <c:v>6.8698060000000005E-2</c:v>
                </c:pt>
                <c:pt idx="2">
                  <c:v>0.43565976000000001</c:v>
                </c:pt>
                <c:pt idx="3">
                  <c:v>0.11674640999999999</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7030A0"/>
                    </a:solidFill>
                  </a:ln>
                </c14:spPr>
              </c14:invertSolidFillFmt>
            </c:ext>
            <c:ext xmlns:c16="http://schemas.microsoft.com/office/drawing/2014/chart" uri="{C3380CC4-5D6E-409C-BE32-E72D297353CC}">
              <c16:uniqueId val="{00000003-0570-4B5D-99EB-59E9919243BE}"/>
            </c:ext>
          </c:extLst>
        </c:ser>
        <c:dLbls>
          <c:dLblPos val="ctr"/>
          <c:showLegendKey val="0"/>
          <c:showVal val="1"/>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14288">
            <a:solidFill>
              <a:srgbClr val="000000"/>
            </a:solidFill>
          </a:ln>
        </c:spPr>
        <c:txPr>
          <a:bodyPr anchorCtr="1"/>
          <a:lstStyle/>
          <a:p>
            <a:pPr>
              <a:defRPr sz="1050">
                <a:solidFill>
                  <a:srgbClr val="222936"/>
                </a:solidFill>
                <a:latin typeface="Roboto"/>
                <a:ea typeface="Roboto"/>
                <a:cs typeface="Roboto"/>
              </a:defRPr>
            </a:pPr>
            <a:endParaRPr lang="en-US"/>
          </a:p>
        </c:txPr>
        <c:crossAx val="48672768"/>
        <c:crosses val="autoZero"/>
        <c:auto val="1"/>
        <c:lblAlgn val="ctr"/>
        <c:lblOffset val="100"/>
        <c:noMultiLvlLbl val="1"/>
      </c:catAx>
      <c:valAx>
        <c:axId val="48672768"/>
        <c:scaling>
          <c:orientation val="minMax"/>
          <c:max val="1"/>
          <c:min val="0"/>
        </c:scaling>
        <c:delete val="0"/>
        <c:axPos val="l"/>
        <c:majorGridlines>
          <c:spPr>
            <a:ln w="14288">
              <a:solidFill>
                <a:srgbClr val="999999"/>
              </a:solidFill>
            </a:ln>
          </c:spPr>
        </c:majorGridlines>
        <c:title>
          <c:tx>
            <c:rich>
              <a:bodyPr/>
              <a:lstStyle/>
              <a:p>
                <a:r>
                  <a:rPr lang="en-US">
                    <a:latin typeface="Roboto"/>
                    <a:ea typeface="Roboto"/>
                    <a:cs typeface="Roboto"/>
                  </a:rPr>
                  <a:t>Share of scheduled appointments</a:t>
                </a:r>
              </a:p>
            </c:rich>
          </c:tx>
          <c:overlay val="0"/>
        </c:title>
        <c:numFmt formatCode="0%" sourceLinked="1"/>
        <c:majorTickMark val="none"/>
        <c:minorTickMark val="none"/>
        <c:tickLblPos val="nextTo"/>
        <c:spPr>
          <a:ln w="9525">
            <a:solidFill>
              <a:srgbClr val="000000"/>
            </a:solidFill>
          </a:ln>
        </c:spPr>
        <c:txPr>
          <a:bodyPr anchorCtr="1"/>
          <a:lstStyle/>
          <a:p>
            <a:pPr>
              <a:defRPr sz="1050">
                <a:solidFill>
                  <a:srgbClr val="222936"/>
                </a:solidFill>
                <a:latin typeface="Roboto"/>
                <a:ea typeface="Roboto"/>
                <a:cs typeface="Roboto"/>
              </a:defRPr>
            </a:pPr>
            <a:endParaRPr lang="en-US"/>
          </a:p>
        </c:txPr>
        <c:crossAx val="48650112"/>
        <c:crosses val="autoZero"/>
        <c:crossBetween val="between"/>
      </c:valAx>
      <c:spPr>
        <a:solidFill>
          <a:srgbClr val="D9E1F2"/>
        </a:solidFill>
        <a:ln w="9525">
          <a:solidFill>
            <a:srgbClr val="000000"/>
          </a:solidFill>
        </a:ln>
      </c:spPr>
    </c:plotArea>
    <c:legend>
      <c:legendPos val="r"/>
      <c:overlay val="0"/>
      <c:txPr>
        <a:bodyPr anchorCtr="1"/>
        <a:lstStyle/>
        <a:p>
          <a:pPr>
            <a:defRPr sz="1050">
              <a:solidFill>
                <a:srgbClr val="566070"/>
              </a:solidFill>
              <a:latin typeface="Roboto"/>
              <a:ea typeface="Roboto"/>
              <a:cs typeface="Roboto"/>
            </a:defRPr>
          </a:pPr>
          <a:endParaRPr lang="en-US"/>
        </a:p>
      </c:txPr>
    </c:legend>
    <c:plotVisOnly val="1"/>
    <c:dispBlanksAs val="zero"/>
    <c:showDLblsOverMax val="1"/>
  </c:chart>
  <c:spPr>
    <a:solidFill>
      <a:srgbClr val="F2F2F2"/>
    </a:solidFill>
    <a:ln w="9525">
      <a:solidFill>
        <a:srgbClr val="000000"/>
      </a:solid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Phone call</c:v>
          </c:tx>
          <c:spPr>
            <a:ln w="19050">
              <a:solidFill>
                <a:srgbClr val="FF0000"/>
              </a:solidFill>
            </a:ln>
          </c:spPr>
          <c:marker>
            <c:symbol val="circle"/>
            <c:size val="8"/>
            <c:spPr>
              <a:solidFill>
                <a:srgbClr val="FF0000"/>
              </a:solidFill>
            </c:spPr>
          </c:marker>
          <c:dLbls>
            <c:spPr>
              <a:noFill/>
              <a:ln>
                <a:noFill/>
              </a:ln>
              <a:effectLst/>
            </c:spPr>
            <c:txPr>
              <a:bodyPr anchorCtr="1"/>
              <a:lstStyle/>
              <a:p>
                <a:pPr>
                  <a:defRPr sz="1050" b="0">
                    <a:solidFill>
                      <a:srgbClr val="222936"/>
                    </a:solidFill>
                    <a:latin typeface="Roboto"/>
                    <a:ea typeface="Roboto"/>
                    <a:cs typeface="Roboto"/>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0–7</c:v>
                </c:pt>
                <c:pt idx="1">
                  <c:v>8–21</c:v>
                </c:pt>
                <c:pt idx="2">
                  <c:v>22–42</c:v>
                </c:pt>
                <c:pt idx="3">
                  <c:v>43–90</c:v>
                </c:pt>
              </c:strCache>
            </c:strRef>
          </c:cat>
          <c:val>
            <c:numRef>
              <c:f>'Chart Data'!$B$2:$B$5</c:f>
              <c:numCache>
                <c:formatCode>0%</c:formatCode>
                <c:ptCount val="4"/>
                <c:pt idx="0">
                  <c:v>3.8363170000000002E-2</c:v>
                </c:pt>
                <c:pt idx="1">
                  <c:v>7.1979429999999997E-2</c:v>
                </c:pt>
                <c:pt idx="2">
                  <c:v>0.12250712</c:v>
                </c:pt>
                <c:pt idx="3">
                  <c:v>0.19459459000000001</c:v>
                </c:pt>
              </c:numCache>
            </c:numRef>
          </c:val>
          <c:smooth val="0"/>
          <c:extLst>
            <c:ext xmlns:c16="http://schemas.microsoft.com/office/drawing/2014/chart" uri="{C3380CC4-5D6E-409C-BE32-E72D297353CC}">
              <c16:uniqueId val="{00000000-B502-4E9B-B110-DEB631C710F8}"/>
            </c:ext>
          </c:extLst>
        </c:ser>
        <c:ser>
          <c:idx val="1"/>
          <c:order val="1"/>
          <c:tx>
            <c:v>Text</c:v>
          </c:tx>
          <c:spPr>
            <a:ln w="19050">
              <a:solidFill>
                <a:srgbClr val="00B050"/>
              </a:solidFill>
            </a:ln>
          </c:spPr>
          <c:marker>
            <c:symbol val="circle"/>
            <c:size val="8"/>
            <c:spPr>
              <a:solidFill>
                <a:srgbClr val="00B050"/>
              </a:solidFill>
            </c:spPr>
          </c:marker>
          <c:dLbls>
            <c:spPr>
              <a:noFill/>
              <a:ln>
                <a:noFill/>
              </a:ln>
              <a:effectLst/>
            </c:spPr>
            <c:txPr>
              <a:bodyPr anchorCtr="1"/>
              <a:lstStyle/>
              <a:p>
                <a:pPr>
                  <a:defRPr sz="1050" b="0">
                    <a:solidFill>
                      <a:srgbClr val="222936"/>
                    </a:solidFill>
                    <a:latin typeface="Roboto"/>
                    <a:ea typeface="Roboto"/>
                    <a:cs typeface="Roboto"/>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0–7</c:v>
                </c:pt>
                <c:pt idx="1">
                  <c:v>8–21</c:v>
                </c:pt>
                <c:pt idx="2">
                  <c:v>22–42</c:v>
                </c:pt>
                <c:pt idx="3">
                  <c:v>43–90</c:v>
                </c:pt>
              </c:strCache>
            </c:strRef>
          </c:cat>
          <c:val>
            <c:numRef>
              <c:f>'Chart Data'!$D$2:$D$5</c:f>
              <c:numCache>
                <c:formatCode>0%</c:formatCode>
                <c:ptCount val="4"/>
                <c:pt idx="0">
                  <c:v>4.7075609999999997E-2</c:v>
                </c:pt>
                <c:pt idx="1">
                  <c:v>7.6422760000000006E-2</c:v>
                </c:pt>
                <c:pt idx="2">
                  <c:v>0.12876712000000001</c:v>
                </c:pt>
                <c:pt idx="3">
                  <c:v>0.20161290000000001</c:v>
                </c:pt>
              </c:numCache>
            </c:numRef>
          </c:val>
          <c:smooth val="0"/>
          <c:extLst>
            <c:ext xmlns:c16="http://schemas.microsoft.com/office/drawing/2014/chart" uri="{C3380CC4-5D6E-409C-BE32-E72D297353CC}">
              <c16:uniqueId val="{00000001-B502-4E9B-B110-DEB631C710F8}"/>
            </c:ext>
          </c:extLst>
        </c:ser>
        <c:ser>
          <c:idx val="2"/>
          <c:order val="2"/>
          <c:tx>
            <c:v>AI outreach</c:v>
          </c:tx>
          <c:spPr>
            <a:ln w="19050">
              <a:solidFill>
                <a:srgbClr val="FFC000"/>
              </a:solidFill>
            </a:ln>
          </c:spPr>
          <c:marker>
            <c:symbol val="circle"/>
            <c:size val="8"/>
            <c:spPr>
              <a:solidFill>
                <a:srgbClr val="FFC000"/>
              </a:solidFill>
            </c:spPr>
          </c:marker>
          <c:dLbls>
            <c:spPr>
              <a:noFill/>
              <a:ln>
                <a:noFill/>
              </a:ln>
              <a:effectLst/>
            </c:spPr>
            <c:txPr>
              <a:bodyPr anchorCtr="1"/>
              <a:lstStyle/>
              <a:p>
                <a:pPr>
                  <a:defRPr sz="1050" b="0">
                    <a:solidFill>
                      <a:srgbClr val="222936"/>
                    </a:solidFill>
                    <a:latin typeface="Roboto"/>
                    <a:ea typeface="Roboto"/>
                    <a:cs typeface="Roboto"/>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Data'!$E$2:$E$5</c:f>
              <c:strCache>
                <c:ptCount val="4"/>
                <c:pt idx="0">
                  <c:v>0–7</c:v>
                </c:pt>
                <c:pt idx="1">
                  <c:v>8–21</c:v>
                </c:pt>
                <c:pt idx="2">
                  <c:v>22–42</c:v>
                </c:pt>
                <c:pt idx="3">
                  <c:v>43–90</c:v>
                </c:pt>
              </c:strCache>
            </c:strRef>
          </c:cat>
          <c:val>
            <c:numRef>
              <c:f>'Chart Data'!$F$2:$F$5</c:f>
              <c:numCache>
                <c:formatCode>0%</c:formatCode>
                <c:ptCount val="4"/>
                <c:pt idx="0">
                  <c:v>1.9230770000000001E-2</c:v>
                </c:pt>
                <c:pt idx="1">
                  <c:v>4.3478259999999998E-2</c:v>
                </c:pt>
                <c:pt idx="2">
                  <c:v>9.4527360000000005E-2</c:v>
                </c:pt>
                <c:pt idx="3">
                  <c:v>0.16770963999999999</c:v>
                </c:pt>
              </c:numCache>
            </c:numRef>
          </c:val>
          <c:smooth val="0"/>
          <c:extLst>
            <c:ext xmlns:c16="http://schemas.microsoft.com/office/drawing/2014/chart" uri="{C3380CC4-5D6E-409C-BE32-E72D297353CC}">
              <c16:uniqueId val="{00000002-B502-4E9B-B110-DEB631C710F8}"/>
            </c:ext>
          </c:extLst>
        </c:ser>
        <c:ser>
          <c:idx val="3"/>
          <c:order val="3"/>
          <c:tx>
            <c:v>Email</c:v>
          </c:tx>
          <c:spPr>
            <a:ln w="19050">
              <a:solidFill>
                <a:srgbClr val="7030A0"/>
              </a:solidFill>
            </a:ln>
          </c:spPr>
          <c:marker>
            <c:symbol val="circle"/>
            <c:size val="8"/>
            <c:spPr>
              <a:solidFill>
                <a:srgbClr val="7030A0"/>
              </a:solidFill>
            </c:spPr>
          </c:marker>
          <c:dLbls>
            <c:spPr>
              <a:noFill/>
              <a:ln>
                <a:noFill/>
              </a:ln>
              <a:effectLst/>
            </c:spPr>
            <c:txPr>
              <a:bodyPr anchorCtr="1"/>
              <a:lstStyle/>
              <a:p>
                <a:pPr>
                  <a:defRPr sz="1050" b="0">
                    <a:solidFill>
                      <a:srgbClr val="222936"/>
                    </a:solidFill>
                    <a:latin typeface="Roboto"/>
                    <a:ea typeface="Roboto"/>
                    <a:cs typeface="Roboto"/>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Data'!$G$2:$G$5</c:f>
              <c:strCache>
                <c:ptCount val="4"/>
                <c:pt idx="0">
                  <c:v>0–7</c:v>
                </c:pt>
                <c:pt idx="1">
                  <c:v>8–21</c:v>
                </c:pt>
                <c:pt idx="2">
                  <c:v>22–42</c:v>
                </c:pt>
                <c:pt idx="3">
                  <c:v>43–90</c:v>
                </c:pt>
              </c:strCache>
            </c:strRef>
          </c:cat>
          <c:val>
            <c:numRef>
              <c:f>'Chart Data'!$H$2:$H$5</c:f>
              <c:numCache>
                <c:formatCode>0%</c:formatCode>
                <c:ptCount val="4"/>
                <c:pt idx="0">
                  <c:v>5.4487180000000003E-2</c:v>
                </c:pt>
                <c:pt idx="1">
                  <c:v>8.5294120000000001E-2</c:v>
                </c:pt>
                <c:pt idx="2">
                  <c:v>0.13653137000000001</c:v>
                </c:pt>
                <c:pt idx="3">
                  <c:v>0.21311474999999999</c:v>
                </c:pt>
              </c:numCache>
            </c:numRef>
          </c:val>
          <c:smooth val="0"/>
          <c:extLst>
            <c:ext xmlns:c16="http://schemas.microsoft.com/office/drawing/2014/chart" uri="{C3380CC4-5D6E-409C-BE32-E72D297353CC}">
              <c16:uniqueId val="{00000003-B502-4E9B-B110-DEB631C710F8}"/>
            </c:ext>
          </c:extLst>
        </c:ser>
        <c:dLbls>
          <c:showLegendKey val="0"/>
          <c:showVal val="1"/>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14288">
            <a:solidFill>
              <a:srgbClr val="000000"/>
            </a:solidFill>
          </a:ln>
        </c:spPr>
        <c:txPr>
          <a:bodyPr anchorCtr="1"/>
          <a:lstStyle/>
          <a:p>
            <a:pPr>
              <a:defRPr sz="1050">
                <a:solidFill>
                  <a:srgbClr val="222936"/>
                </a:solidFill>
                <a:latin typeface="Roboto"/>
                <a:ea typeface="Roboto"/>
                <a:cs typeface="Roboto"/>
              </a:defRPr>
            </a:pPr>
            <a:endParaRPr lang="en-US"/>
          </a:p>
        </c:txPr>
        <c:crossAx val="48672768"/>
        <c:crosses val="autoZero"/>
        <c:auto val="1"/>
        <c:lblAlgn val="ctr"/>
        <c:lblOffset val="100"/>
        <c:noMultiLvlLbl val="1"/>
      </c:catAx>
      <c:valAx>
        <c:axId val="48672768"/>
        <c:scaling>
          <c:orientation val="minMax"/>
          <c:max val="0.23"/>
          <c:min val="0"/>
        </c:scaling>
        <c:delete val="0"/>
        <c:axPos val="l"/>
        <c:majorGridlines>
          <c:spPr>
            <a:ln w="14288">
              <a:solidFill>
                <a:srgbClr val="999999"/>
              </a:solidFill>
            </a:ln>
          </c:spPr>
        </c:majorGridlines>
        <c:title>
          <c:tx>
            <c:rich>
              <a:bodyPr/>
              <a:lstStyle/>
              <a:p>
                <a:r>
                  <a:rPr lang="en-US">
                    <a:latin typeface="Roboto"/>
                    <a:ea typeface="Roboto"/>
                    <a:cs typeface="Roboto"/>
                  </a:rPr>
                  <a:t>No-show rate</a:t>
                </a:r>
              </a:p>
            </c:rich>
          </c:tx>
          <c:overlay val="0"/>
        </c:title>
        <c:numFmt formatCode="0%" sourceLinked="1"/>
        <c:majorTickMark val="none"/>
        <c:minorTickMark val="none"/>
        <c:tickLblPos val="nextTo"/>
        <c:spPr>
          <a:ln w="9525">
            <a:solidFill>
              <a:srgbClr val="000000"/>
            </a:solidFill>
          </a:ln>
        </c:spPr>
        <c:txPr>
          <a:bodyPr anchorCtr="1"/>
          <a:lstStyle/>
          <a:p>
            <a:pPr>
              <a:defRPr sz="1050">
                <a:solidFill>
                  <a:srgbClr val="222936"/>
                </a:solidFill>
                <a:latin typeface="Roboto"/>
                <a:ea typeface="Roboto"/>
                <a:cs typeface="Roboto"/>
              </a:defRPr>
            </a:pPr>
            <a:endParaRPr lang="en-US"/>
          </a:p>
        </c:txPr>
        <c:crossAx val="48650112"/>
        <c:crosses val="autoZero"/>
        <c:crossBetween val="between"/>
      </c:valAx>
      <c:spPr>
        <a:solidFill>
          <a:srgbClr val="D9E1F2"/>
        </a:solidFill>
        <a:ln w="9525">
          <a:solidFill>
            <a:srgbClr val="000000"/>
          </a:solidFill>
        </a:ln>
      </c:spPr>
    </c:plotArea>
    <c:legend>
      <c:legendPos val="r"/>
      <c:overlay val="0"/>
      <c:txPr>
        <a:bodyPr anchorCtr="1"/>
        <a:lstStyle/>
        <a:p>
          <a:pPr>
            <a:defRPr sz="1050">
              <a:solidFill>
                <a:srgbClr val="566070"/>
              </a:solidFill>
              <a:latin typeface="Roboto"/>
              <a:ea typeface="Roboto"/>
              <a:cs typeface="Roboto"/>
            </a:defRPr>
          </a:pPr>
          <a:endParaRPr lang="en-US"/>
        </a:p>
      </c:txPr>
    </c:legend>
    <c:plotVisOnly val="1"/>
    <c:dispBlanksAs val="zero"/>
    <c:showDLblsOverMax val="1"/>
  </c:chart>
  <c:spPr>
    <a:solidFill>
      <a:srgbClr val="F2F2F2"/>
    </a:solidFill>
    <a:ln w="9525">
      <a:solidFill>
        <a:srgbClr val="000000"/>
      </a:solid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synthetic_appointments.csv. Entirely simulated training data. One row is one original scheduled appointment. No-show rate uses all scheduled appointments, including cancellations. These observational comparisons do not establish causal effects.</a:t>
            </a:r>
          </a:p>
          <a:p>
            <a:r>
              <a:t>6,000 simulated appointments across four specialties and one fictional calendar year. Student draft.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r>
              <a:t>Phone call: 122/1316 = 9.3%</a:t>
            </a:r>
          </a:p>
          <a:p>
            <a:pPr marL="0" lvl="0" indent="0" algn="l">
              <a:spcBef>
                <a:spcPts val="0"/>
              </a:spcBef>
              <a:spcAft>
                <a:spcPts val="0"/>
              </a:spcAft>
              <a:buNone/>
            </a:pPr>
            <a:r>
              <a:t>Text: 152/1805 = 8.4%</a:t>
            </a:r>
          </a:p>
          <a:p>
            <a:pPr marL="0" lvl="0" indent="0" algn="l">
              <a:spcBef>
                <a:spcPts val="0"/>
              </a:spcBef>
              <a:spcAft>
                <a:spcPts val="0"/>
              </a:spcAft>
              <a:buNone/>
            </a:pPr>
            <a:r>
              <a:t>AI outreach: 206/1834 = 11.2%</a:t>
            </a:r>
          </a:p>
          <a:p>
            <a:pPr marL="0" lvl="0" indent="0" algn="l">
              <a:spcBef>
                <a:spcPts val="0"/>
              </a:spcBef>
              <a:spcAft>
                <a:spcPts val="0"/>
              </a:spcAft>
              <a:buNone/>
            </a:pPr>
            <a:r>
              <a:t>Email: 109/1045 = 10.4%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r>
              <a:t>Phone call, 0–7 days: n=391, 29.7%</a:t>
            </a:r>
          </a:p>
          <a:p>
            <a:pPr marL="0" lvl="0" indent="0" algn="l">
              <a:spcBef>
                <a:spcPts val="0"/>
              </a:spcBef>
              <a:spcAft>
                <a:spcPts val="0"/>
              </a:spcAft>
              <a:buNone/>
            </a:pPr>
            <a:r>
              <a:t>Text, 0–7 days: n=701, 38.8%</a:t>
            </a:r>
          </a:p>
          <a:p>
            <a:pPr marL="0" lvl="0" indent="0" algn="l">
              <a:spcBef>
                <a:spcPts val="0"/>
              </a:spcBef>
              <a:spcAft>
                <a:spcPts val="0"/>
              </a:spcAft>
              <a:buNone/>
            </a:pPr>
            <a:r>
              <a:t>AI outreach, 0–7 days: n=156, 8.5%</a:t>
            </a:r>
          </a:p>
          <a:p>
            <a:pPr marL="0" lvl="0" indent="0" algn="l">
              <a:spcBef>
                <a:spcPts val="0"/>
              </a:spcBef>
              <a:spcAft>
                <a:spcPts val="0"/>
              </a:spcAft>
              <a:buNone/>
            </a:pPr>
            <a:r>
              <a:t>Email, 0–7 days: n=312, 29.9%</a:t>
            </a:r>
          </a:p>
          <a:p>
            <a:pPr marL="0" lvl="0" indent="0" algn="l">
              <a:spcBef>
                <a:spcPts val="0"/>
              </a:spcBef>
              <a:spcAft>
                <a:spcPts val="0"/>
              </a:spcAft>
              <a:buNone/>
            </a:pPr>
            <a:r>
              <a:t>Phone call, 8–21 days: n=389, 29.6%</a:t>
            </a:r>
          </a:p>
          <a:p>
            <a:pPr marL="0" lvl="0" indent="0" algn="l">
              <a:spcBef>
                <a:spcPts val="0"/>
              </a:spcBef>
              <a:spcAft>
                <a:spcPts val="0"/>
              </a:spcAft>
              <a:buNone/>
            </a:pPr>
            <a:r>
              <a:t>Text, 8–21 days: n=615, 34.1%</a:t>
            </a:r>
          </a:p>
          <a:p>
            <a:pPr marL="0" lvl="0" indent="0" algn="l">
              <a:spcBef>
                <a:spcPts val="0"/>
              </a:spcBef>
              <a:spcAft>
                <a:spcPts val="0"/>
              </a:spcAft>
              <a:buNone/>
            </a:pPr>
            <a:r>
              <a:t>AI outreach, 8–21 days: n=276, 15.0%</a:t>
            </a:r>
          </a:p>
          <a:p>
            <a:pPr marL="0" lvl="0" indent="0" algn="l">
              <a:spcBef>
                <a:spcPts val="0"/>
              </a:spcBef>
              <a:spcAft>
                <a:spcPts val="0"/>
              </a:spcAft>
              <a:buNone/>
            </a:pPr>
            <a:r>
              <a:t>Email, 8–21 days: n=340, 32.5%</a:t>
            </a:r>
          </a:p>
          <a:p>
            <a:pPr marL="0" lvl="0" indent="0" algn="l">
              <a:spcBef>
                <a:spcPts val="0"/>
              </a:spcBef>
              <a:spcAft>
                <a:spcPts val="0"/>
              </a:spcAft>
              <a:buNone/>
            </a:pPr>
            <a:r>
              <a:t>Phone call, 22–42 days: n=351, 26.7%</a:t>
            </a:r>
          </a:p>
          <a:p>
            <a:pPr marL="0" lvl="0" indent="0" algn="l">
              <a:spcBef>
                <a:spcPts val="0"/>
              </a:spcBef>
              <a:spcAft>
                <a:spcPts val="0"/>
              </a:spcAft>
              <a:buNone/>
            </a:pPr>
            <a:r>
              <a:t>Text, 22–42 days: n=365, 20.2%</a:t>
            </a:r>
          </a:p>
          <a:p>
            <a:pPr marL="0" lvl="0" indent="0" algn="l">
              <a:spcBef>
                <a:spcPts val="0"/>
              </a:spcBef>
              <a:spcAft>
                <a:spcPts val="0"/>
              </a:spcAft>
              <a:buNone/>
            </a:pPr>
            <a:r>
              <a:t>AI outreach, 22–42 days: n=603, 32.9%</a:t>
            </a:r>
          </a:p>
          <a:p>
            <a:pPr marL="0" lvl="0" indent="0" algn="l">
              <a:spcBef>
                <a:spcPts val="0"/>
              </a:spcBef>
              <a:spcAft>
                <a:spcPts val="0"/>
              </a:spcAft>
              <a:buNone/>
            </a:pPr>
            <a:r>
              <a:t>Email, 22–42 days: n=271, 25.9%</a:t>
            </a:r>
          </a:p>
          <a:p>
            <a:pPr marL="0" lvl="0" indent="0" algn="l">
              <a:spcBef>
                <a:spcPts val="0"/>
              </a:spcBef>
              <a:spcAft>
                <a:spcPts val="0"/>
              </a:spcAft>
              <a:buNone/>
            </a:pPr>
            <a:r>
              <a:t>Phone call, 43–90 days: n=185, 14.1%</a:t>
            </a:r>
          </a:p>
          <a:p>
            <a:pPr marL="0" lvl="0" indent="0" algn="l">
              <a:spcBef>
                <a:spcPts val="0"/>
              </a:spcBef>
              <a:spcAft>
                <a:spcPts val="0"/>
              </a:spcAft>
              <a:buNone/>
            </a:pPr>
            <a:r>
              <a:t>Text, 43–90 days: n=124, 6.9%</a:t>
            </a:r>
          </a:p>
          <a:p>
            <a:pPr marL="0" lvl="0" indent="0" algn="l">
              <a:spcBef>
                <a:spcPts val="0"/>
              </a:spcBef>
              <a:spcAft>
                <a:spcPts val="0"/>
              </a:spcAft>
              <a:buNone/>
            </a:pPr>
            <a:r>
              <a:t>AI outreach, 43–90 days: n=799, 43.6%</a:t>
            </a:r>
          </a:p>
          <a:p>
            <a:pPr marL="0" lvl="0" indent="0" algn="l">
              <a:spcBef>
                <a:spcPts val="0"/>
              </a:spcBef>
              <a:spcAft>
                <a:spcPts val="0"/>
              </a:spcAft>
              <a:buNone/>
            </a:pPr>
            <a:r>
              <a:t>Email, 43–90 days: n=122, 11.7%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r>
              <a:t>Phone call, 0–7 days: 15/391 = 3.8%</a:t>
            </a:r>
          </a:p>
          <a:p>
            <a:pPr marL="0" lvl="0" indent="0" algn="l">
              <a:spcBef>
                <a:spcPts val="0"/>
              </a:spcBef>
              <a:spcAft>
                <a:spcPts val="0"/>
              </a:spcAft>
              <a:buNone/>
            </a:pPr>
            <a:r>
              <a:t>Text, 0–7 days: 33/701 = 4.7%</a:t>
            </a:r>
          </a:p>
          <a:p>
            <a:pPr marL="0" lvl="0" indent="0" algn="l">
              <a:spcBef>
                <a:spcPts val="0"/>
              </a:spcBef>
              <a:spcAft>
                <a:spcPts val="0"/>
              </a:spcAft>
              <a:buNone/>
            </a:pPr>
            <a:r>
              <a:t>AI outreach, 0–7 days: 3/156 = 1.9%</a:t>
            </a:r>
          </a:p>
          <a:p>
            <a:pPr marL="0" lvl="0" indent="0" algn="l">
              <a:spcBef>
                <a:spcPts val="0"/>
              </a:spcBef>
              <a:spcAft>
                <a:spcPts val="0"/>
              </a:spcAft>
              <a:buNone/>
            </a:pPr>
            <a:r>
              <a:t>Email, 0–7 days: 17/312 = 5.4%</a:t>
            </a:r>
          </a:p>
          <a:p>
            <a:pPr marL="0" lvl="0" indent="0" algn="l">
              <a:spcBef>
                <a:spcPts val="0"/>
              </a:spcBef>
              <a:spcAft>
                <a:spcPts val="0"/>
              </a:spcAft>
              <a:buNone/>
            </a:pPr>
            <a:r>
              <a:t>Phone call, 8–21 days: 28/389 = 7.2%</a:t>
            </a:r>
          </a:p>
          <a:p>
            <a:pPr marL="0" lvl="0" indent="0" algn="l">
              <a:spcBef>
                <a:spcPts val="0"/>
              </a:spcBef>
              <a:spcAft>
                <a:spcPts val="0"/>
              </a:spcAft>
              <a:buNone/>
            </a:pPr>
            <a:r>
              <a:t>Text, 8–21 days: 47/615 = 7.6%</a:t>
            </a:r>
          </a:p>
          <a:p>
            <a:pPr marL="0" lvl="0" indent="0" algn="l">
              <a:spcBef>
                <a:spcPts val="0"/>
              </a:spcBef>
              <a:spcAft>
                <a:spcPts val="0"/>
              </a:spcAft>
              <a:buNone/>
            </a:pPr>
            <a:r>
              <a:t>AI outreach, 8–21 days: 12/276 = 4.3%</a:t>
            </a:r>
          </a:p>
          <a:p>
            <a:pPr marL="0" lvl="0" indent="0" algn="l">
              <a:spcBef>
                <a:spcPts val="0"/>
              </a:spcBef>
              <a:spcAft>
                <a:spcPts val="0"/>
              </a:spcAft>
              <a:buNone/>
            </a:pPr>
            <a:r>
              <a:t>Email, 8–21 days: 29/340 = 8.5%</a:t>
            </a:r>
          </a:p>
          <a:p>
            <a:pPr marL="0" lvl="0" indent="0" algn="l">
              <a:spcBef>
                <a:spcPts val="0"/>
              </a:spcBef>
              <a:spcAft>
                <a:spcPts val="0"/>
              </a:spcAft>
              <a:buNone/>
            </a:pPr>
            <a:r>
              <a:t>Phone call, 22–42 days: 43/351 = 12.3%</a:t>
            </a:r>
          </a:p>
          <a:p>
            <a:pPr marL="0" lvl="0" indent="0" algn="l">
              <a:spcBef>
                <a:spcPts val="0"/>
              </a:spcBef>
              <a:spcAft>
                <a:spcPts val="0"/>
              </a:spcAft>
              <a:buNone/>
            </a:pPr>
            <a:r>
              <a:t>Text, 22–42 days: 47/365 = 12.9%</a:t>
            </a:r>
          </a:p>
          <a:p>
            <a:pPr marL="0" lvl="0" indent="0" algn="l">
              <a:spcBef>
                <a:spcPts val="0"/>
              </a:spcBef>
              <a:spcAft>
                <a:spcPts val="0"/>
              </a:spcAft>
              <a:buNone/>
            </a:pPr>
            <a:r>
              <a:t>AI outreach, 22–42 days: 57/603 = 9.5%</a:t>
            </a:r>
          </a:p>
          <a:p>
            <a:pPr marL="0" lvl="0" indent="0" algn="l">
              <a:spcBef>
                <a:spcPts val="0"/>
              </a:spcBef>
              <a:spcAft>
                <a:spcPts val="0"/>
              </a:spcAft>
              <a:buNone/>
            </a:pPr>
            <a:r>
              <a:t>Email, 22–42 days: 37/271 = 13.7%</a:t>
            </a:r>
          </a:p>
          <a:p>
            <a:pPr marL="0" lvl="0" indent="0" algn="l">
              <a:spcBef>
                <a:spcPts val="0"/>
              </a:spcBef>
              <a:spcAft>
                <a:spcPts val="0"/>
              </a:spcAft>
              <a:buNone/>
            </a:pPr>
            <a:r>
              <a:t>Phone call, 43–90 days: 36/185 = 19.5%</a:t>
            </a:r>
          </a:p>
          <a:p>
            <a:pPr marL="0" lvl="0" indent="0" algn="l">
              <a:spcBef>
                <a:spcPts val="0"/>
              </a:spcBef>
              <a:spcAft>
                <a:spcPts val="0"/>
              </a:spcAft>
              <a:buNone/>
            </a:pPr>
            <a:r>
              <a:t>Text, 43–90 days: 25/124 = 20.2%</a:t>
            </a:r>
          </a:p>
          <a:p>
            <a:pPr marL="0" lvl="0" indent="0" algn="l">
              <a:spcBef>
                <a:spcPts val="0"/>
              </a:spcBef>
              <a:spcAft>
                <a:spcPts val="0"/>
              </a:spcAft>
              <a:buNone/>
            </a:pPr>
            <a:r>
              <a:t>AI outreach, 43–90 days: 134/799 = 16.8%</a:t>
            </a:r>
          </a:p>
          <a:p>
            <a:pPr marL="0" lvl="0" indent="0" algn="l">
              <a:spcBef>
                <a:spcPts val="0"/>
              </a:spcBef>
              <a:spcAft>
                <a:spcPts val="0"/>
              </a:spcAft>
              <a:buNone/>
            </a:pPr>
            <a:r>
              <a:t>Email, 43–90 days: 26/122 = 21.3%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synthetic_appointments.csv. Entirely simulated training data. One row is one original scheduled appointment. No-show rate uses all scheduled appointments, including cancellations. These observational comparisons do not establish causal effects.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buNone/>
              <a:defRPr sz="6000" b="1" i="0">
                <a:latin typeface="Lora SemiBold"/>
                <a:ea typeface="Lora SemiBold"/>
                <a:cs typeface="Lora SemiBold"/>
              </a:defRPr>
            </a:lvl1pPr>
          </a:lstStyle>
          <a:p>
            <a:r>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idx="3"/>
          </p:nvPr>
        </p:nvSpPr>
        <p:spPr>
          <a:xfrm>
            <a:off x="393699" y="6279294"/>
            <a:ext cx="8129411"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idx="3"/>
          </p:nvPr>
        </p:nvSpPr>
        <p:spPr>
          <a:xfrm>
            <a:off x="393700" y="6279294"/>
            <a:ext cx="8705144"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idx="3"/>
          </p:nvPr>
        </p:nvSpPr>
        <p:spPr>
          <a:xfrm>
            <a:off x="393700" y="6279294"/>
            <a:ext cx="7493000"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a:normAutofit/>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idx="3"/>
          </p:nvPr>
        </p:nvSpPr>
        <p:spPr>
          <a:xfrm>
            <a:off x="393699" y="6279294"/>
            <a:ext cx="8466647"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buNone/>
            </a:pPr>
            <a:r>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a:normAutofit/>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buNone/>
            </a:pPr>
            <a:r>
              <a:t>Click to edit Master</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idx="3"/>
          </p:nvPr>
        </p:nvSpPr>
        <p:spPr>
          <a:xfrm>
            <a:off x="393699" y="6279294"/>
            <a:ext cx="7361767"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idx="3"/>
          </p:nvPr>
        </p:nvSpPr>
        <p:spPr>
          <a:xfrm>
            <a:off x="393700" y="6279294"/>
            <a:ext cx="7587544"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a:normAutofit/>
          </a:bodyPr>
          <a:lstStyle/>
          <a:p>
            <a:pPr lvl="0">
              <a:buNone/>
            </a:pPr>
            <a:r>
              <a:t>Click to edit Master styles</a:t>
            </a:r>
          </a:p>
          <a:p>
            <a:pPr lvl="1">
              <a:buNone/>
            </a:pPr>
            <a:r>
              <a:t>Second level</a:t>
            </a:r>
          </a:p>
          <a:p>
            <a:pPr lvl="2">
              <a:buNone/>
            </a:pPr>
            <a:r>
              <a:t>Third level</a:t>
            </a:r>
          </a:p>
          <a:p>
            <a:pPr lvl="3">
              <a:buNone/>
            </a:pPr>
            <a:r>
              <a:t>Fourth level</a:t>
            </a:r>
          </a:p>
          <a:p>
            <a:pPr lvl="4">
              <a:buNone/>
            </a:pPr>
            <a:r>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idx="3"/>
          </p:nvPr>
        </p:nvSpPr>
        <p:spPr>
          <a:xfrm>
            <a:off x="393700" y="6279294"/>
            <a:ext cx="7531100"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dt="0"/>
  <p:txStyles>
    <p:titleStyle>
      <a:lvl1pPr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520"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6809B0-D483-45C1-B580-B57BB5CC520A}"/>
              </a:ext>
            </a:extLst>
          </p:cNvPr>
          <p:cNvSpPr>
            <a:spLocks noGrp="1"/>
          </p:cNvSpPr>
          <p:nvPr>
            <p:ph type="ctrTitle"/>
          </p:nvPr>
        </p:nvSpPr>
        <p:spPr>
          <a:xfrm>
            <a:off x="569969" y="1444887"/>
            <a:ext cx="9448800" cy="1726468"/>
          </a:xfrm>
        </p:spPr>
        <p:txBody>
          <a:bodyPr wrap="square" lIns="0" tIns="0" rIns="0" bIns="0" anchor="t">
            <a:noAutofit/>
          </a:bodyPr>
          <a:lstStyle/>
          <a:p>
            <a:pPr>
              <a:defRPr sz="5500" b="0">
                <a:solidFill>
                  <a:srgbClr val="3357B8"/>
                </a:solidFill>
                <a:latin typeface="Lora Medium"/>
                <a:ea typeface="Lora Medium"/>
                <a:cs typeface="Lora Medium"/>
              </a:defRPr>
            </a:pPr>
            <a:r>
              <a:rPr sz="5500" b="0">
                <a:solidFill>
                  <a:srgbClr val="3357B8"/>
                </a:solidFill>
                <a:latin typeface="Lora Medium"/>
                <a:ea typeface="Lora Medium"/>
                <a:cs typeface="Lora Medium"/>
              </a:rPr>
              <a:t>Reminder methods have different results</a:t>
            </a:r>
          </a:p>
        </p:txBody>
      </p:sp>
      <p:sp>
        <p:nvSpPr>
          <p:cNvPr id="5" name="Subtitle 4">
            <a:extLst>
              <a:ext uri="{FF2B5EF4-FFF2-40B4-BE49-F238E27FC236}">
                <a16:creationId xmlns:a16="http://schemas.microsoft.com/office/drawing/2014/main" id="{7DD11E6E-01C0-D6E4-28D7-D7F6B94AF61C}"/>
              </a:ext>
            </a:extLst>
          </p:cNvPr>
          <p:cNvSpPr>
            <a:spLocks noGrp="1"/>
          </p:cNvSpPr>
          <p:nvPr>
            <p:ph type="subTitle" idx="1"/>
          </p:nvPr>
        </p:nvSpPr>
        <p:spPr>
          <a:xfrm>
            <a:off x="603019" y="5077241"/>
            <a:ext cx="6304556" cy="1076208"/>
          </a:xfrm>
          <a:prstGeom prst="rect">
            <a:avLst/>
          </a:prstGeom>
          <a:noFill/>
        </p:spPr>
        <p:txBody>
          <a:bodyPr wrap="square" lIns="0" tIns="0" rIns="0" bIns="0">
            <a:noAutofit/>
          </a:bodyPr>
          <a:lstStyle/>
          <a:p>
            <a:pPr>
              <a:lnSpc>
                <a:spcPct val="120000"/>
              </a:lnSpc>
              <a:buNone/>
              <a:defRPr sz="1400" b="0">
                <a:solidFill>
                  <a:srgbClr val="566070"/>
                </a:solidFill>
                <a:latin typeface="Roboto"/>
                <a:ea typeface="Roboto"/>
                <a:cs typeface="Roboto"/>
              </a:defRPr>
            </a:pPr>
            <a:r>
              <a:rPr sz="1400" b="0">
                <a:solidFill>
                  <a:srgbClr val="566070"/>
                </a:solidFill>
                <a:latin typeface="Roboto"/>
                <a:ea typeface="Roboto"/>
                <a:cs typeface="Roboto"/>
              </a:rPr>
              <a:t>Review attendance data and identify opportunities. 6,000 simulated appointments.</a:t>
            </a:r>
          </a:p>
        </p:txBody>
      </p:sp>
      <p:sp>
        <p:nvSpPr>
          <p:cNvPr id="6" name="Subtitle 4">
            <a:extLst>
              <a:ext uri="{FF2B5EF4-FFF2-40B4-BE49-F238E27FC236}">
                <a16:creationId xmlns:a16="http://schemas.microsoft.com/office/drawing/2014/main" id="{C66AB198-0518-67DE-AB81-D65264FDA20F}"/>
              </a:ext>
            </a:extLst>
          </p:cNvPr>
          <p:cNvSpPr>
            <a:spLocks noGrp="1"/>
          </p:cNvSpPr>
          <p:nvPr/>
        </p:nvSpPr>
        <p:spPr>
          <a:xfrm>
            <a:off x="603018" y="4606175"/>
            <a:ext cx="6304556" cy="320279"/>
          </a:xfrm>
          <a:prstGeom prst="rect">
            <a:avLst/>
          </a:prstGeom>
          <a:noFill/>
        </p:spPr>
        <p:txBody>
          <a:bodyPr vert="horz" wrap="square" lIns="0" tIns="0" rIns="0" bIns="0">
            <a:noAutofit/>
          </a:bodyPr>
          <a:lstStyle>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a:defRPr sz="1600" b="0">
                <a:solidFill>
                  <a:srgbClr val="3357B8"/>
                </a:solidFill>
                <a:latin typeface="Roboto SemiBold"/>
                <a:ea typeface="Roboto SemiBold"/>
                <a:cs typeface="Roboto SemiBold"/>
              </a:defRPr>
            </a:pPr>
            <a:r>
              <a:rPr sz="1600" b="0">
                <a:solidFill>
                  <a:srgbClr val="3357B8"/>
                </a:solidFill>
                <a:latin typeface="Roboto SemiBold"/>
                <a:ea typeface="Roboto SemiBold"/>
                <a:cs typeface="Roboto SemiBold"/>
              </a:rPr>
              <a:t>Story 2  Attendance summary</a:t>
            </a:r>
          </a:p>
        </p:txBody>
      </p:sp>
      <p:sp>
        <p:nvSpPr>
          <p:cNvPr id="10" name="Subtitle 4">
            <a:extLst>
              <a:ext uri="{FF2B5EF4-FFF2-40B4-BE49-F238E27FC236}">
                <a16:creationId xmlns:a16="http://schemas.microsoft.com/office/drawing/2014/main" id="{CC2E0538-5645-7BC8-CF3A-FDF31FD97820}"/>
              </a:ext>
            </a:extLst>
          </p:cNvPr>
          <p:cNvSpPr>
            <a:spLocks noGrp="1"/>
          </p:cNvSpPr>
          <p:nvPr/>
        </p:nvSpPr>
        <p:spPr>
          <a:xfrm>
            <a:off x="603018" y="555606"/>
            <a:ext cx="3578411" cy="345178"/>
          </a:xfrm>
          <a:prstGeom prst="rect">
            <a:avLst/>
          </a:prstGeom>
        </p:spPr>
        <p:txBody>
          <a:bodyPr vert="horz" wrap="square" lIns="0" tIns="0" rIns="0" bIns="0">
            <a:noAutofit/>
          </a:bodyPr>
          <a:lstStyle>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a:defRPr sz="1800" b="0">
                <a:solidFill>
                  <a:srgbClr val="A6ADB9"/>
                </a:solidFill>
                <a:latin typeface="Roboto Medium"/>
                <a:ea typeface="Roboto Medium"/>
                <a:cs typeface="Roboto Medium"/>
              </a:defRPr>
            </a:pPr>
            <a:r>
              <a:rPr sz="1800" b="0">
                <a:solidFill>
                  <a:srgbClr val="A6ADB9"/>
                </a:solidFill>
                <a:latin typeface="Roboto Medium"/>
                <a:ea typeface="Roboto Medium"/>
                <a:cs typeface="Roboto Medium"/>
              </a:rPr>
              <a:t>AHEC data storytelling challenge</a:t>
            </a:r>
          </a:p>
        </p:txBody>
      </p:sp>
      <p:sp>
        <p:nvSpPr>
          <p:cNvPr id="7" name="Straight Connector 6">
            <a:extLst>
              <a:ext uri="{FF2B5EF4-FFF2-40B4-BE49-F238E27FC236}">
                <a16:creationId xmlns:a16="http://schemas.microsoft.com/office/drawing/2014/main" id="{2006B0A5-C8B7-4C98-BE8F-C97A7454B6E6}"/>
              </a:ext>
            </a:extLst>
          </p:cNvPr>
          <p:cNvSpPr>
            <a:spLocks noGrp="1"/>
          </p:cNvSpPr>
          <p:nvPr/>
        </p:nv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en-US"/>
          </a:p>
        </p:txBody>
      </p:sp>
    </p:spTree>
    <p:extLst>
      <p:ext uri="{BB962C8B-B14F-4D97-AF65-F5344CB8AC3E}">
        <p14:creationId xmlns:p14="http://schemas.microsoft.com/office/powerpoint/2010/main" val="1685088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E2598689-54C9-18A7-3A19-ED76AA08988F}" type="slidenum">
              <a:rPr sz="1100" b="0">
                <a:solidFill>
                  <a:srgbClr val="566070"/>
                </a:solidFill>
                <a:latin typeface="Roboto"/>
                <a:ea typeface="Roboto"/>
                <a:cs typeface="Roboto"/>
              </a:rPr>
              <a:t>2</a:t>
            </a:fld>
            <a:endParaRP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55026"/>
            <a:ext cx="7835900" cy="1029274"/>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Process details</a:t>
            </a:r>
          </a:p>
        </p:txBody>
      </p:sp>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7758F033-1453-441E-A634-92068EC71E6D}"/>
              </a:ext>
            </a:extLst>
          </p:cNvPr>
          <p:cNvSpPr>
            <a:spLocks noGrp="1"/>
          </p:cNvSpPr>
          <p:nvPr/>
        </p:nvSpPr>
        <p:spPr>
          <a:xfrm>
            <a:off x="393668" y="1310926"/>
            <a:ext cx="5537168" cy="719328"/>
          </a:xfrm>
          <a:prstGeom prst="rect">
            <a:avLst/>
          </a:prstGeom>
          <a:noFill/>
          <a:ln w="0">
            <a:noFill/>
          </a:ln>
        </p:spPr>
        <p:txBody>
          <a:bodyPr wrap="square" lIns="0" tIns="0" rIns="0" bIns="0">
            <a:noAutofit/>
          </a:bodyPr>
          <a:lstStyle/>
          <a:p>
            <a:pPr>
              <a:defRPr sz="2000" b="0">
                <a:solidFill>
                  <a:srgbClr val="222936"/>
                </a:solidFill>
                <a:latin typeface="Lora"/>
                <a:ea typeface="Lora"/>
                <a:cs typeface="Lora"/>
              </a:defRPr>
            </a:pPr>
            <a:r>
              <a:rPr sz="2000" b="0">
                <a:solidFill>
                  <a:srgbClr val="222936"/>
                </a:solidFill>
                <a:latin typeface="Lora"/>
                <a:ea typeface="Lora"/>
                <a:cs typeface="Lora"/>
              </a:rPr>
              <a:t>6,000 appointments. Some considerations for the review.</a:t>
            </a:r>
          </a:p>
        </p:txBody>
      </p:sp>
      <p:sp>
        <p:nvSpPr>
          <p:cNvPr id="535" name="Rectangle 534">
            <a:extLst>
              <a:ext uri="{FF2B5EF4-FFF2-40B4-BE49-F238E27FC236}">
                <a16:creationId xmlns:a16="http://schemas.microsoft.com/office/drawing/2014/main" id="{98EAAB9D-1E22-4026-8DC0-DD77A193C270}"/>
              </a:ext>
            </a:extLst>
          </p:cNvPr>
          <p:cNvSpPr>
            <a:spLocks noGrp="1"/>
          </p:cNvSpPr>
          <p:nvPr/>
        </p:nvSpPr>
        <p:spPr>
          <a:xfrm>
            <a:off x="393668" y="2192655"/>
            <a:ext cx="5537168" cy="3801713"/>
          </a:xfrm>
          <a:prstGeom prst="rect">
            <a:avLst/>
          </a:prstGeom>
          <a:noFill/>
          <a:ln w="0">
            <a:noFill/>
          </a:ln>
        </p:spPr>
        <p:txBody>
          <a:bodyPr wrap="square" lIns="0" tIns="0" rIns="0" bIns="0">
            <a:noAutofit/>
          </a:bodyPr>
          <a:lstStyle/>
          <a:p>
            <a:pPr>
              <a:defRPr sz="1600" b="0">
                <a:solidFill>
                  <a:srgbClr val="566070"/>
                </a:solidFill>
                <a:latin typeface="Roboto"/>
                <a:ea typeface="Roboto"/>
                <a:cs typeface="Roboto"/>
              </a:defRPr>
            </a:pPr>
            <a:r>
              <a:rPr sz="1600" b="0">
                <a:solidFill>
                  <a:srgbClr val="566070"/>
                </a:solidFill>
                <a:latin typeface="Roboto"/>
                <a:ea typeface="Roboto"/>
                <a:cs typeface="Roboto"/>
              </a:rPr>
              <a:t>The scheduling team records one reminder method for each appointment: phone call, text, AI outreach, or email. AI outreach represents a fictional automated conversational reminder process. Method assignment differs across appointments. In this simulation, scheduling rules assign AI outreach more often to appointments booked far in advance. The method groups therefore do not begin with the same distribution of booking lead times. Booking lead time is the number of days from scheduling to the appointment. The analysis uses the same four lead-time bands throughout.</a:t>
            </a:r>
          </a:p>
        </p:txBody>
      </p:sp>
      <p:sp>
        <p:nvSpPr>
          <p:cNvPr id="536" name="Rectangle 535">
            <a:extLst>
              <a:ext uri="{FF2B5EF4-FFF2-40B4-BE49-F238E27FC236}">
                <a16:creationId xmlns:a16="http://schemas.microsoft.com/office/drawing/2014/main" id="{860561B8-2ACF-4E29-9448-8E12DD75F090}"/>
              </a:ext>
            </a:extLst>
          </p:cNvPr>
          <p:cNvSpPr>
            <a:spLocks noGrp="1"/>
          </p:cNvSpPr>
          <p:nvPr/>
        </p:nvSpPr>
        <p:spPr>
          <a:xfrm>
            <a:off x="6265069" y="2192655"/>
            <a:ext cx="5537168" cy="3801713"/>
          </a:xfrm>
          <a:prstGeom prst="rect">
            <a:avLst/>
          </a:prstGeom>
          <a:noFill/>
          <a:ln w="0">
            <a:noFill/>
          </a:ln>
        </p:spPr>
        <p:txBody>
          <a:bodyPr wrap="square" lIns="0" tIns="0" rIns="0" bIns="0">
            <a:noAutofit/>
          </a:bodyPr>
          <a:lstStyle/>
          <a:p>
            <a:pPr>
              <a:defRPr sz="1600" b="0">
                <a:solidFill>
                  <a:srgbClr val="566070"/>
                </a:solidFill>
                <a:latin typeface="Roboto"/>
                <a:ea typeface="Roboto"/>
                <a:cs typeface="Roboto"/>
              </a:defRPr>
            </a:pPr>
            <a:r>
              <a:rPr sz="1600" b="0">
                <a:solidFill>
                  <a:srgbClr val="566070"/>
                </a:solidFill>
                <a:latin typeface="Roboto"/>
                <a:ea typeface="Roboto"/>
                <a:cs typeface="Roboto"/>
              </a:rPr>
              <a:t>The no-show rate uses all originally scheduled appointments, including cancellations, as the denominator. Pooled method rates combine short and long lead times. Comparing methods within the same lead-time band makes that factor more comparable but still leaves specialty, age, delivery, contact preferences, and other differences to consider. The file does not record whether patients received or read a message. Any method comparison describes an association in synthetic records and cannot establish the effect of replacing one reminder method with another.</a:t>
            </a:r>
          </a:p>
        </p:txBody>
      </p:sp>
    </p:spTree>
    <p:extLst>
      <p:ext uri="{BB962C8B-B14F-4D97-AF65-F5344CB8AC3E}">
        <p14:creationId xmlns:p14="http://schemas.microsoft.com/office/powerpoint/2010/main" val="546221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8C630A04-5A25-9E0C-9436-126091DB86B3}" type="slidenum">
              <a:rPr sz="1100" b="0">
                <a:solidFill>
                  <a:srgbClr val="566070"/>
                </a:solidFill>
                <a:latin typeface="Roboto"/>
                <a:ea typeface="Roboto"/>
                <a:cs typeface="Roboto"/>
              </a:rPr>
              <a:t>3</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393700" y="344008"/>
            <a:ext cx="7835900" cy="1040291"/>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Outreach report</a:t>
            </a:r>
            <a:endParaRPr>
              <a:solidFill>
                <a:schemeClr val="accent1"/>
              </a:solidFill>
            </a:endParaRPr>
          </a:p>
        </p:txBody>
      </p:sp>
      <p:sp>
        <p:nvSpPr>
          <p:cNvPr id="3" name="Footer Placeholder 2">
            <a:extLst>
              <a:ext uri="{FF2B5EF4-FFF2-40B4-BE49-F238E27FC236}">
                <a16:creationId xmlns:a16="http://schemas.microsoft.com/office/drawing/2014/main" id="{175B304C-27F3-8A33-E6D7-E2EFCA2F82B2}"/>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06BB9E43-54AC-42D6-B6EE-25B01171B187}"/>
              </a:ext>
            </a:extLst>
          </p:cNvPr>
          <p:cNvSpPr>
            <a:spLocks noGrp="1"/>
          </p:cNvSpPr>
          <p:nvPr/>
        </p:nvSpPr>
        <p:spPr>
          <a:xfrm>
            <a:off x="393668" y="1564862"/>
            <a:ext cx="3606832" cy="1095375"/>
          </a:xfrm>
          <a:prstGeom prst="rect">
            <a:avLst/>
          </a:prstGeom>
          <a:noFill/>
          <a:ln w="0">
            <a:noFill/>
          </a:ln>
        </p:spPr>
        <p:txBody>
          <a:bodyPr wrap="square" lIns="0" tIns="0" rIns="0" bIns="0">
            <a:noAutofit/>
          </a:bodyPr>
          <a:lstStyle/>
          <a:p>
            <a:pPr>
              <a:defRPr sz="1800" b="0">
                <a:solidFill>
                  <a:srgbClr val="222936"/>
                </a:solidFill>
                <a:latin typeface="Roboto"/>
                <a:ea typeface="Roboto"/>
                <a:cs typeface="Roboto"/>
              </a:defRPr>
            </a:pPr>
            <a:r>
              <a:rPr sz="1800" b="0">
                <a:solidFill>
                  <a:srgbClr val="222936"/>
                </a:solidFill>
                <a:latin typeface="Roboto"/>
                <a:ea typeface="Roboto"/>
                <a:cs typeface="Roboto"/>
              </a:rPr>
              <a:t>Report export</a:t>
            </a:r>
          </a:p>
        </p:txBody>
      </p:sp>
      <p:sp>
        <p:nvSpPr>
          <p:cNvPr id="535" name="Rectangle 534">
            <a:extLst>
              <a:ext uri="{FF2B5EF4-FFF2-40B4-BE49-F238E27FC236}">
                <a16:creationId xmlns:a16="http://schemas.microsoft.com/office/drawing/2014/main" id="{84DB0196-59FF-46A9-9617-0C50C5203644}"/>
              </a:ext>
            </a:extLst>
          </p:cNvPr>
          <p:cNvSpPr>
            <a:spLocks noGrp="1"/>
          </p:cNvSpPr>
          <p:nvPr/>
        </p:nvSpPr>
        <p:spPr>
          <a:xfrm>
            <a:off x="393668" y="2774156"/>
            <a:ext cx="3606832" cy="3143250"/>
          </a:xfrm>
          <a:prstGeom prst="rect">
            <a:avLst/>
          </a:prstGeom>
          <a:noFill/>
          <a:ln w="0">
            <a:noFill/>
          </a:ln>
        </p:spPr>
        <p:txBody>
          <a:bodyPr wrap="square" lIns="0" tIns="0" rIns="0" bIns="0">
            <a:noAutofit/>
          </a:bodyPr>
          <a:lstStyle/>
          <a:p>
            <a:pPr>
              <a:defRPr sz="1400" b="0">
                <a:solidFill>
                  <a:srgbClr val="566070"/>
                </a:solidFill>
                <a:latin typeface="Roboto"/>
                <a:ea typeface="Roboto"/>
                <a:cs typeface="Roboto"/>
              </a:defRPr>
            </a:pPr>
            <a:r>
              <a:rPr sz="1400" b="0">
                <a:solidFill>
                  <a:srgbClr val="566070"/>
                </a:solidFill>
                <a:latin typeface="Roboto"/>
                <a:ea typeface="Roboto"/>
                <a:cs typeface="Roboto"/>
              </a:rPr>
              <a:t>Screenshot from an internal scheduling summary. Full detail is available in the CSV.</a:t>
            </a:r>
          </a:p>
        </p:txBody>
      </p:sp>
      <p:pic>
        <p:nvPicPr>
          <p:cNvPr id="542" name="Picture 541"/>
          <p:cNvPicPr>
            <a:picLocks noChangeAspect="1"/>
          </p:cNvPicPr>
          <p:nvPr/>
        </p:nvPicPr>
        <p:blipFill>
          <a:blip r:embed="rId3"/>
          <a:srcRect/>
          <a:stretch/>
        </p:blipFill>
        <p:spPr>
          <a:xfrm>
            <a:off x="4762500" y="2286000"/>
            <a:ext cx="6762750" cy="2476500"/>
          </a:xfrm>
          <a:prstGeom prst="rect">
            <a:avLst/>
          </a:prstGeom>
        </p:spPr>
      </p:pic>
    </p:spTree>
    <p:extLst>
      <p:ext uri="{BB962C8B-B14F-4D97-AF65-F5344CB8AC3E}">
        <p14:creationId xmlns:p14="http://schemas.microsoft.com/office/powerpoint/2010/main" val="2553894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D3D7D1C8-AE23-AA48-DF65-C742588DBE47}" type="slidenum">
              <a:rPr sz="1100" b="0">
                <a:solidFill>
                  <a:srgbClr val="566070"/>
                </a:solidFill>
                <a:latin typeface="Roboto"/>
                <a:ea typeface="Roboto"/>
                <a:cs typeface="Roboto"/>
              </a:rPr>
              <a:t>4</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393700" y="344008"/>
            <a:ext cx="7835900" cy="1040291"/>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Other volume information</a:t>
            </a:r>
            <a:endParaRPr>
              <a:solidFill>
                <a:schemeClr val="accent1"/>
              </a:solidFill>
            </a:endParaRPr>
          </a:p>
        </p:txBody>
      </p:sp>
      <p:sp>
        <p:nvSpPr>
          <p:cNvPr id="3" name="Footer Placeholder 2">
            <a:extLst>
              <a:ext uri="{FF2B5EF4-FFF2-40B4-BE49-F238E27FC236}">
                <a16:creationId xmlns:a16="http://schemas.microsoft.com/office/drawing/2014/main" id="{175B304C-27F3-8A33-E6D7-E2EFCA2F82B2}"/>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E6BB4AB3-7480-4EE2-8310-CA2D0883546A}"/>
              </a:ext>
            </a:extLst>
          </p:cNvPr>
          <p:cNvSpPr>
            <a:spLocks noGrp="1"/>
          </p:cNvSpPr>
          <p:nvPr/>
        </p:nvSpPr>
        <p:spPr>
          <a:xfrm>
            <a:off x="393668" y="1564862"/>
            <a:ext cx="3606832" cy="1095375"/>
          </a:xfrm>
          <a:prstGeom prst="rect">
            <a:avLst/>
          </a:prstGeom>
          <a:noFill/>
          <a:ln w="0">
            <a:noFill/>
          </a:ln>
        </p:spPr>
        <p:txBody>
          <a:bodyPr wrap="square" lIns="0" tIns="0" rIns="0" bIns="0">
            <a:noAutofit/>
          </a:bodyPr>
          <a:lstStyle/>
          <a:p>
            <a:pPr>
              <a:defRPr sz="1800" b="0">
                <a:solidFill>
                  <a:srgbClr val="222936"/>
                </a:solidFill>
                <a:latin typeface="Roboto"/>
                <a:ea typeface="Roboto"/>
                <a:cs typeface="Roboto"/>
              </a:defRPr>
            </a:pPr>
            <a:r>
              <a:rPr sz="1800" b="0">
                <a:solidFill>
                  <a:srgbClr val="222936"/>
                </a:solidFill>
                <a:latin typeface="Roboto"/>
                <a:ea typeface="Roboto"/>
                <a:cs typeface="Roboto"/>
              </a:rPr>
              <a:t>Monthly workload</a:t>
            </a:r>
          </a:p>
        </p:txBody>
      </p:sp>
      <p:sp>
        <p:nvSpPr>
          <p:cNvPr id="535" name="Rectangle 534">
            <a:extLst>
              <a:ext uri="{FF2B5EF4-FFF2-40B4-BE49-F238E27FC236}">
                <a16:creationId xmlns:a16="http://schemas.microsoft.com/office/drawing/2014/main" id="{92D97F99-D566-47FF-897C-63FFC3C99E5D}"/>
              </a:ext>
            </a:extLst>
          </p:cNvPr>
          <p:cNvSpPr>
            <a:spLocks noGrp="1"/>
          </p:cNvSpPr>
          <p:nvPr/>
        </p:nvSpPr>
        <p:spPr>
          <a:xfrm>
            <a:off x="393668" y="2774156"/>
            <a:ext cx="3606832" cy="3143250"/>
          </a:xfrm>
          <a:prstGeom prst="rect">
            <a:avLst/>
          </a:prstGeom>
          <a:noFill/>
          <a:ln w="0">
            <a:noFill/>
          </a:ln>
        </p:spPr>
        <p:txBody>
          <a:bodyPr wrap="square" lIns="0" tIns="0" rIns="0" bIns="0">
            <a:noAutofit/>
          </a:bodyPr>
          <a:lstStyle/>
          <a:p>
            <a:pPr>
              <a:defRPr sz="1400" b="0">
                <a:solidFill>
                  <a:srgbClr val="566070"/>
                </a:solidFill>
                <a:latin typeface="Roboto"/>
                <a:ea typeface="Roboto"/>
                <a:cs typeface="Roboto"/>
              </a:defRPr>
            </a:pPr>
            <a:r>
              <a:rPr sz="1400" b="0">
                <a:solidFill>
                  <a:srgbClr val="566070"/>
                </a:solidFill>
                <a:latin typeface="Roboto"/>
                <a:ea typeface="Roboto"/>
                <a:cs typeface="Roboto"/>
              </a:rPr>
              <a:t>January through December appointment volume. These numbers may be useful for another discussion.</a:t>
            </a:r>
          </a:p>
        </p:txBody>
      </p:sp>
      <p:graphicFrame>
        <p:nvGraphicFramePr>
          <p:cNvPr id="542" name="Table 541"/>
          <p:cNvGraphicFramePr/>
          <p:nvPr/>
        </p:nvGraphicFramePr>
        <p:xfrm>
          <a:off x="4752785" y="1549337"/>
          <a:ext cx="6777990" cy="4627818"/>
        </p:xfrm>
        <a:graphic>
          <a:graphicData uri="http://schemas.openxmlformats.org/drawingml/2006/table">
            <a:tbl>
              <a:tblPr/>
              <a:tblGrid>
                <a:gridCol w="3388995">
                  <a:extLst>
                    <a:ext uri="{9D8B030D-6E8A-4147-A177-3AD203B41FA5}">
                      <a16:colId xmlns:a16="http://schemas.microsoft.com/office/drawing/2014/main" val="20000"/>
                    </a:ext>
                  </a:extLst>
                </a:gridCol>
                <a:gridCol w="3388995">
                  <a:extLst>
                    <a:ext uri="{9D8B030D-6E8A-4147-A177-3AD203B41FA5}">
                      <a16:colId xmlns:a16="http://schemas.microsoft.com/office/drawing/2014/main" val="20001"/>
                    </a:ext>
                  </a:extLst>
                </a:gridCol>
              </a:tblGrid>
              <a:tr h="355986">
                <a:tc>
                  <a:txBody>
                    <a:bodyPr/>
                    <a:lstStyle/>
                    <a:p>
                      <a:r>
                        <a:rPr sz="1400" b="1">
                          <a:solidFill>
                            <a:srgbClr val="222936"/>
                          </a:solidFill>
                          <a:latin typeface="Roboto"/>
                          <a:ea typeface="Roboto"/>
                          <a:cs typeface="Roboto"/>
                        </a:rPr>
                        <a:t>Month</a:t>
                      </a:r>
                    </a:p>
                  </a:txBody>
                  <a:tcPr>
                    <a:solidFill>
                      <a:srgbClr val="C0C0C0"/>
                    </a:solidFill>
                  </a:tcPr>
                </a:tc>
                <a:tc>
                  <a:txBody>
                    <a:bodyPr/>
                    <a:lstStyle/>
                    <a:p>
                      <a:r>
                        <a:rPr sz="1400" b="1">
                          <a:solidFill>
                            <a:srgbClr val="222936"/>
                          </a:solidFill>
                          <a:latin typeface="Roboto"/>
                          <a:ea typeface="Roboto"/>
                          <a:cs typeface="Roboto"/>
                        </a:rPr>
                        <a:t>Scheduled</a:t>
                      </a:r>
                    </a:p>
                  </a:txBody>
                  <a:tcPr>
                    <a:solidFill>
                      <a:srgbClr val="C0C0C0"/>
                    </a:solidFill>
                  </a:tcPr>
                </a:tc>
                <a:extLst>
                  <a:ext uri="{0D108BD9-81ED-4DB2-BD59-A6C34878D82A}">
                    <a16:rowId xmlns:a16="http://schemas.microsoft.com/office/drawing/2014/main" val="10000"/>
                  </a:ext>
                </a:extLst>
              </a:tr>
              <a:tr h="355986">
                <a:tc>
                  <a:txBody>
                    <a:bodyPr/>
                    <a:lstStyle/>
                    <a:p>
                      <a:r>
                        <a:rPr sz="1400" b="0">
                          <a:solidFill>
                            <a:srgbClr val="222936"/>
                          </a:solidFill>
                          <a:latin typeface="Roboto"/>
                          <a:ea typeface="Roboto"/>
                          <a:cs typeface="Roboto"/>
                        </a:rPr>
                        <a:t>January</a:t>
                      </a:r>
                    </a:p>
                  </a:txBody>
                  <a:tcPr>
                    <a:solidFill>
                      <a:srgbClr val="FFFFFF"/>
                    </a:solidFill>
                  </a:tcPr>
                </a:tc>
                <a:tc>
                  <a:txBody>
                    <a:bodyPr/>
                    <a:lstStyle/>
                    <a:p>
                      <a:r>
                        <a:rPr sz="1400" b="0">
                          <a:solidFill>
                            <a:srgbClr val="222936"/>
                          </a:solidFill>
                          <a:latin typeface="Roboto"/>
                          <a:ea typeface="Roboto"/>
                          <a:cs typeface="Roboto"/>
                        </a:rPr>
                        <a:t>422</a:t>
                      </a:r>
                    </a:p>
                  </a:txBody>
                  <a:tcPr>
                    <a:solidFill>
                      <a:srgbClr val="FFFFFF"/>
                    </a:solidFill>
                  </a:tcPr>
                </a:tc>
                <a:extLst>
                  <a:ext uri="{0D108BD9-81ED-4DB2-BD59-A6C34878D82A}">
                    <a16:rowId xmlns:a16="http://schemas.microsoft.com/office/drawing/2014/main" val="10001"/>
                  </a:ext>
                </a:extLst>
              </a:tr>
              <a:tr h="355986">
                <a:tc>
                  <a:txBody>
                    <a:bodyPr/>
                    <a:lstStyle/>
                    <a:p>
                      <a:r>
                        <a:rPr sz="1400" b="0">
                          <a:solidFill>
                            <a:srgbClr val="222936"/>
                          </a:solidFill>
                          <a:latin typeface="Roboto"/>
                          <a:ea typeface="Roboto"/>
                          <a:cs typeface="Roboto"/>
                        </a:rPr>
                        <a:t>February</a:t>
                      </a:r>
                    </a:p>
                  </a:txBody>
                  <a:tcPr>
                    <a:solidFill>
                      <a:srgbClr val="FFFFFF"/>
                    </a:solidFill>
                  </a:tcPr>
                </a:tc>
                <a:tc>
                  <a:txBody>
                    <a:bodyPr/>
                    <a:lstStyle/>
                    <a:p>
                      <a:r>
                        <a:rPr sz="1400" b="0">
                          <a:solidFill>
                            <a:srgbClr val="222936"/>
                          </a:solidFill>
                          <a:latin typeface="Roboto"/>
                          <a:ea typeface="Roboto"/>
                          <a:cs typeface="Roboto"/>
                        </a:rPr>
                        <a:t>422</a:t>
                      </a:r>
                    </a:p>
                  </a:txBody>
                  <a:tcPr>
                    <a:solidFill>
                      <a:srgbClr val="FFFFFF"/>
                    </a:solidFill>
                  </a:tcPr>
                </a:tc>
                <a:extLst>
                  <a:ext uri="{0D108BD9-81ED-4DB2-BD59-A6C34878D82A}">
                    <a16:rowId xmlns:a16="http://schemas.microsoft.com/office/drawing/2014/main" val="10002"/>
                  </a:ext>
                </a:extLst>
              </a:tr>
              <a:tr h="355986">
                <a:tc>
                  <a:txBody>
                    <a:bodyPr/>
                    <a:lstStyle/>
                    <a:p>
                      <a:r>
                        <a:rPr sz="1400" b="0">
                          <a:solidFill>
                            <a:srgbClr val="222936"/>
                          </a:solidFill>
                          <a:latin typeface="Roboto"/>
                          <a:ea typeface="Roboto"/>
                          <a:cs typeface="Roboto"/>
                        </a:rPr>
                        <a:t>March</a:t>
                      </a:r>
                    </a:p>
                  </a:txBody>
                  <a:tcPr>
                    <a:solidFill>
                      <a:srgbClr val="FFFFFF"/>
                    </a:solidFill>
                  </a:tcPr>
                </a:tc>
                <a:tc>
                  <a:txBody>
                    <a:bodyPr/>
                    <a:lstStyle/>
                    <a:p>
                      <a:r>
                        <a:rPr sz="1400" b="0">
                          <a:solidFill>
                            <a:srgbClr val="222936"/>
                          </a:solidFill>
                          <a:latin typeface="Roboto"/>
                          <a:ea typeface="Roboto"/>
                          <a:cs typeface="Roboto"/>
                        </a:rPr>
                        <a:t>483</a:t>
                      </a:r>
                    </a:p>
                  </a:txBody>
                  <a:tcPr>
                    <a:solidFill>
                      <a:srgbClr val="FFFFFF"/>
                    </a:solidFill>
                  </a:tcPr>
                </a:tc>
                <a:extLst>
                  <a:ext uri="{0D108BD9-81ED-4DB2-BD59-A6C34878D82A}">
                    <a16:rowId xmlns:a16="http://schemas.microsoft.com/office/drawing/2014/main" val="10003"/>
                  </a:ext>
                </a:extLst>
              </a:tr>
              <a:tr h="355986">
                <a:tc>
                  <a:txBody>
                    <a:bodyPr/>
                    <a:lstStyle/>
                    <a:p>
                      <a:r>
                        <a:rPr sz="1400" b="0">
                          <a:solidFill>
                            <a:srgbClr val="222936"/>
                          </a:solidFill>
                          <a:latin typeface="Roboto"/>
                          <a:ea typeface="Roboto"/>
                          <a:cs typeface="Roboto"/>
                        </a:rPr>
                        <a:t>April</a:t>
                      </a:r>
                    </a:p>
                  </a:txBody>
                  <a:tcPr>
                    <a:solidFill>
                      <a:srgbClr val="FFFFFF"/>
                    </a:solidFill>
                  </a:tcPr>
                </a:tc>
                <a:tc>
                  <a:txBody>
                    <a:bodyPr/>
                    <a:lstStyle/>
                    <a:p>
                      <a:r>
                        <a:rPr sz="1400" b="0">
                          <a:solidFill>
                            <a:srgbClr val="222936"/>
                          </a:solidFill>
                          <a:latin typeface="Roboto"/>
                          <a:ea typeface="Roboto"/>
                          <a:cs typeface="Roboto"/>
                        </a:rPr>
                        <a:t>483</a:t>
                      </a:r>
                    </a:p>
                  </a:txBody>
                  <a:tcPr>
                    <a:solidFill>
                      <a:srgbClr val="FFFFFF"/>
                    </a:solidFill>
                  </a:tcPr>
                </a:tc>
                <a:extLst>
                  <a:ext uri="{0D108BD9-81ED-4DB2-BD59-A6C34878D82A}">
                    <a16:rowId xmlns:a16="http://schemas.microsoft.com/office/drawing/2014/main" val="10004"/>
                  </a:ext>
                </a:extLst>
              </a:tr>
              <a:tr h="355986">
                <a:tc>
                  <a:txBody>
                    <a:bodyPr/>
                    <a:lstStyle/>
                    <a:p>
                      <a:r>
                        <a:rPr sz="1400" b="0">
                          <a:solidFill>
                            <a:srgbClr val="222936"/>
                          </a:solidFill>
                          <a:latin typeface="Roboto"/>
                          <a:ea typeface="Roboto"/>
                          <a:cs typeface="Roboto"/>
                        </a:rPr>
                        <a:t>May</a:t>
                      </a:r>
                    </a:p>
                  </a:txBody>
                  <a:tcPr>
                    <a:solidFill>
                      <a:srgbClr val="FFFFFF"/>
                    </a:solidFill>
                  </a:tcPr>
                </a:tc>
                <a:tc>
                  <a:txBody>
                    <a:bodyPr/>
                    <a:lstStyle/>
                    <a:p>
                      <a:r>
                        <a:rPr sz="1400" b="0">
                          <a:solidFill>
                            <a:srgbClr val="222936"/>
                          </a:solidFill>
                          <a:latin typeface="Roboto"/>
                          <a:ea typeface="Roboto"/>
                          <a:cs typeface="Roboto"/>
                        </a:rPr>
                        <a:t>483</a:t>
                      </a:r>
                    </a:p>
                  </a:txBody>
                  <a:tcPr>
                    <a:solidFill>
                      <a:srgbClr val="FFFFFF"/>
                    </a:solidFill>
                  </a:tcPr>
                </a:tc>
                <a:extLst>
                  <a:ext uri="{0D108BD9-81ED-4DB2-BD59-A6C34878D82A}">
                    <a16:rowId xmlns:a16="http://schemas.microsoft.com/office/drawing/2014/main" val="10005"/>
                  </a:ext>
                </a:extLst>
              </a:tr>
              <a:tr h="355986">
                <a:tc>
                  <a:txBody>
                    <a:bodyPr/>
                    <a:lstStyle/>
                    <a:p>
                      <a:r>
                        <a:rPr sz="1400" b="0">
                          <a:solidFill>
                            <a:srgbClr val="222936"/>
                          </a:solidFill>
                          <a:latin typeface="Roboto"/>
                          <a:ea typeface="Roboto"/>
                          <a:cs typeface="Roboto"/>
                        </a:rPr>
                        <a:t>June</a:t>
                      </a:r>
                    </a:p>
                  </a:txBody>
                  <a:tcPr>
                    <a:solidFill>
                      <a:srgbClr val="FFFFFF"/>
                    </a:solidFill>
                  </a:tcPr>
                </a:tc>
                <a:tc>
                  <a:txBody>
                    <a:bodyPr/>
                    <a:lstStyle/>
                    <a:p>
                      <a:r>
                        <a:rPr sz="1400" b="0">
                          <a:solidFill>
                            <a:srgbClr val="222936"/>
                          </a:solidFill>
                          <a:latin typeface="Roboto"/>
                          <a:ea typeface="Roboto"/>
                          <a:cs typeface="Roboto"/>
                        </a:rPr>
                        <a:t>481</a:t>
                      </a:r>
                    </a:p>
                  </a:txBody>
                  <a:tcPr>
                    <a:solidFill>
                      <a:srgbClr val="FFFFFF"/>
                    </a:solidFill>
                  </a:tcPr>
                </a:tc>
                <a:extLst>
                  <a:ext uri="{0D108BD9-81ED-4DB2-BD59-A6C34878D82A}">
                    <a16:rowId xmlns:a16="http://schemas.microsoft.com/office/drawing/2014/main" val="10006"/>
                  </a:ext>
                </a:extLst>
              </a:tr>
              <a:tr h="355986">
                <a:tc>
                  <a:txBody>
                    <a:bodyPr/>
                    <a:lstStyle/>
                    <a:p>
                      <a:r>
                        <a:rPr sz="1400" b="0">
                          <a:solidFill>
                            <a:srgbClr val="222936"/>
                          </a:solidFill>
                          <a:latin typeface="Roboto"/>
                          <a:ea typeface="Roboto"/>
                          <a:cs typeface="Roboto"/>
                        </a:rPr>
                        <a:t>July</a:t>
                      </a:r>
                    </a:p>
                  </a:txBody>
                  <a:tcPr>
                    <a:solidFill>
                      <a:srgbClr val="FFFFFF"/>
                    </a:solidFill>
                  </a:tcPr>
                </a:tc>
                <a:tc>
                  <a:txBody>
                    <a:bodyPr/>
                    <a:lstStyle/>
                    <a:p>
                      <a:r>
                        <a:rPr sz="1400" b="0">
                          <a:solidFill>
                            <a:srgbClr val="222936"/>
                          </a:solidFill>
                          <a:latin typeface="Roboto"/>
                          <a:ea typeface="Roboto"/>
                          <a:cs typeface="Roboto"/>
                        </a:rPr>
                        <a:t>418</a:t>
                      </a:r>
                    </a:p>
                  </a:txBody>
                  <a:tcPr>
                    <a:solidFill>
                      <a:srgbClr val="FFFFFF"/>
                    </a:solidFill>
                  </a:tcPr>
                </a:tc>
                <a:extLst>
                  <a:ext uri="{0D108BD9-81ED-4DB2-BD59-A6C34878D82A}">
                    <a16:rowId xmlns:a16="http://schemas.microsoft.com/office/drawing/2014/main" val="10007"/>
                  </a:ext>
                </a:extLst>
              </a:tr>
              <a:tr h="355986">
                <a:tc>
                  <a:txBody>
                    <a:bodyPr/>
                    <a:lstStyle/>
                    <a:p>
                      <a:r>
                        <a:rPr sz="1400" b="0">
                          <a:solidFill>
                            <a:srgbClr val="222936"/>
                          </a:solidFill>
                          <a:latin typeface="Roboto"/>
                          <a:ea typeface="Roboto"/>
                          <a:cs typeface="Roboto"/>
                        </a:rPr>
                        <a:t>August</a:t>
                      </a:r>
                    </a:p>
                  </a:txBody>
                  <a:tcPr>
                    <a:solidFill>
                      <a:srgbClr val="FFFFFF"/>
                    </a:solidFill>
                  </a:tcPr>
                </a:tc>
                <a:tc>
                  <a:txBody>
                    <a:bodyPr/>
                    <a:lstStyle/>
                    <a:p>
                      <a:r>
                        <a:rPr sz="1400" b="0">
                          <a:solidFill>
                            <a:srgbClr val="222936"/>
                          </a:solidFill>
                          <a:latin typeface="Roboto"/>
                          <a:ea typeface="Roboto"/>
                          <a:cs typeface="Roboto"/>
                        </a:rPr>
                        <a:t>478</a:t>
                      </a:r>
                    </a:p>
                  </a:txBody>
                  <a:tcPr>
                    <a:solidFill>
                      <a:srgbClr val="FFFFFF"/>
                    </a:solidFill>
                  </a:tcPr>
                </a:tc>
                <a:extLst>
                  <a:ext uri="{0D108BD9-81ED-4DB2-BD59-A6C34878D82A}">
                    <a16:rowId xmlns:a16="http://schemas.microsoft.com/office/drawing/2014/main" val="10008"/>
                  </a:ext>
                </a:extLst>
              </a:tr>
              <a:tr h="355986">
                <a:tc>
                  <a:txBody>
                    <a:bodyPr/>
                    <a:lstStyle/>
                    <a:p>
                      <a:r>
                        <a:rPr sz="1400" b="0">
                          <a:solidFill>
                            <a:srgbClr val="222936"/>
                          </a:solidFill>
                          <a:latin typeface="Roboto"/>
                          <a:ea typeface="Roboto"/>
                          <a:cs typeface="Roboto"/>
                        </a:rPr>
                        <a:t>September</a:t>
                      </a:r>
                    </a:p>
                  </a:txBody>
                  <a:tcPr>
                    <a:solidFill>
                      <a:srgbClr val="FFFFFF"/>
                    </a:solidFill>
                  </a:tcPr>
                </a:tc>
                <a:tc>
                  <a:txBody>
                    <a:bodyPr/>
                    <a:lstStyle/>
                    <a:p>
                      <a:r>
                        <a:rPr sz="1400" b="0">
                          <a:solidFill>
                            <a:srgbClr val="222936"/>
                          </a:solidFill>
                          <a:latin typeface="Roboto"/>
                          <a:ea typeface="Roboto"/>
                          <a:cs typeface="Roboto"/>
                        </a:rPr>
                        <a:t>658</a:t>
                      </a:r>
                    </a:p>
                  </a:txBody>
                  <a:tcPr>
                    <a:solidFill>
                      <a:srgbClr val="FFFFFF"/>
                    </a:solidFill>
                  </a:tcPr>
                </a:tc>
                <a:extLst>
                  <a:ext uri="{0D108BD9-81ED-4DB2-BD59-A6C34878D82A}">
                    <a16:rowId xmlns:a16="http://schemas.microsoft.com/office/drawing/2014/main" val="10009"/>
                  </a:ext>
                </a:extLst>
              </a:tr>
              <a:tr h="355986">
                <a:tc>
                  <a:txBody>
                    <a:bodyPr/>
                    <a:lstStyle/>
                    <a:p>
                      <a:r>
                        <a:rPr sz="1400" b="0">
                          <a:solidFill>
                            <a:srgbClr val="222936"/>
                          </a:solidFill>
                          <a:latin typeface="Roboto"/>
                          <a:ea typeface="Roboto"/>
                          <a:cs typeface="Roboto"/>
                        </a:rPr>
                        <a:t>October</a:t>
                      </a:r>
                    </a:p>
                  </a:txBody>
                  <a:tcPr>
                    <a:solidFill>
                      <a:srgbClr val="FFFFFF"/>
                    </a:solidFill>
                  </a:tcPr>
                </a:tc>
                <a:tc>
                  <a:txBody>
                    <a:bodyPr/>
                    <a:lstStyle/>
                    <a:p>
                      <a:r>
                        <a:rPr sz="1400" b="0">
                          <a:solidFill>
                            <a:srgbClr val="222936"/>
                          </a:solidFill>
                          <a:latin typeface="Roboto"/>
                          <a:ea typeface="Roboto"/>
                          <a:cs typeface="Roboto"/>
                        </a:rPr>
                        <a:t>657</a:t>
                      </a:r>
                    </a:p>
                  </a:txBody>
                  <a:tcPr>
                    <a:solidFill>
                      <a:srgbClr val="FFFFFF"/>
                    </a:solidFill>
                  </a:tcPr>
                </a:tc>
                <a:extLst>
                  <a:ext uri="{0D108BD9-81ED-4DB2-BD59-A6C34878D82A}">
                    <a16:rowId xmlns:a16="http://schemas.microsoft.com/office/drawing/2014/main" val="10010"/>
                  </a:ext>
                </a:extLst>
              </a:tr>
              <a:tr h="355986">
                <a:tc>
                  <a:txBody>
                    <a:bodyPr/>
                    <a:lstStyle/>
                    <a:p>
                      <a:r>
                        <a:rPr sz="1400" b="0">
                          <a:solidFill>
                            <a:srgbClr val="222936"/>
                          </a:solidFill>
                          <a:latin typeface="Roboto"/>
                          <a:ea typeface="Roboto"/>
                          <a:cs typeface="Roboto"/>
                        </a:rPr>
                        <a:t>November</a:t>
                      </a:r>
                    </a:p>
                  </a:txBody>
                  <a:tcPr>
                    <a:solidFill>
                      <a:srgbClr val="FFFFFF"/>
                    </a:solidFill>
                  </a:tcPr>
                </a:tc>
                <a:tc>
                  <a:txBody>
                    <a:bodyPr/>
                    <a:lstStyle/>
                    <a:p>
                      <a:r>
                        <a:rPr sz="1400" b="0">
                          <a:solidFill>
                            <a:srgbClr val="222936"/>
                          </a:solidFill>
                          <a:latin typeface="Roboto"/>
                          <a:ea typeface="Roboto"/>
                          <a:cs typeface="Roboto"/>
                        </a:rPr>
                        <a:t>538</a:t>
                      </a:r>
                    </a:p>
                  </a:txBody>
                  <a:tcPr>
                    <a:solidFill>
                      <a:srgbClr val="FFFFFF"/>
                    </a:solidFill>
                  </a:tcPr>
                </a:tc>
                <a:extLst>
                  <a:ext uri="{0D108BD9-81ED-4DB2-BD59-A6C34878D82A}">
                    <a16:rowId xmlns:a16="http://schemas.microsoft.com/office/drawing/2014/main" val="10011"/>
                  </a:ext>
                </a:extLst>
              </a:tr>
              <a:tr h="355986">
                <a:tc>
                  <a:txBody>
                    <a:bodyPr/>
                    <a:lstStyle/>
                    <a:p>
                      <a:r>
                        <a:rPr sz="1400" b="0">
                          <a:solidFill>
                            <a:srgbClr val="222936"/>
                          </a:solidFill>
                          <a:latin typeface="Roboto"/>
                          <a:ea typeface="Roboto"/>
                          <a:cs typeface="Roboto"/>
                        </a:rPr>
                        <a:t>December</a:t>
                      </a:r>
                    </a:p>
                  </a:txBody>
                  <a:tcPr>
                    <a:solidFill>
                      <a:srgbClr val="FFFFFF"/>
                    </a:solidFill>
                  </a:tcPr>
                </a:tc>
                <a:tc>
                  <a:txBody>
                    <a:bodyPr/>
                    <a:lstStyle/>
                    <a:p>
                      <a:r>
                        <a:rPr sz="1400" b="0">
                          <a:solidFill>
                            <a:srgbClr val="222936"/>
                          </a:solidFill>
                          <a:latin typeface="Roboto"/>
                          <a:ea typeface="Roboto"/>
                          <a:cs typeface="Roboto"/>
                        </a:rPr>
                        <a:t>477</a:t>
                      </a:r>
                    </a:p>
                  </a:txBody>
                  <a:tcPr>
                    <a:solidFill>
                      <a:srgbClr val="FFFFFF"/>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553894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202359C0-8A7A-196E-DD58-8E6569619F09}" type="slidenum">
              <a:rPr sz="1100" b="0">
                <a:solidFill>
                  <a:srgbClr val="566070"/>
                </a:solidFill>
                <a:latin typeface="Roboto"/>
                <a:ea typeface="Roboto"/>
                <a:cs typeface="Roboto"/>
              </a:rPr>
              <a:t>5</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393700" y="344008"/>
            <a:ext cx="7835900" cy="1040291"/>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Reminder performance</a:t>
            </a:r>
            <a:endParaRPr>
              <a:solidFill>
                <a:schemeClr val="accent1"/>
              </a:solidFill>
            </a:endParaRPr>
          </a:p>
        </p:txBody>
      </p:sp>
      <p:sp>
        <p:nvSpPr>
          <p:cNvPr id="3" name="Footer Placeholder 2">
            <a:extLst>
              <a:ext uri="{FF2B5EF4-FFF2-40B4-BE49-F238E27FC236}">
                <a16:creationId xmlns:a16="http://schemas.microsoft.com/office/drawing/2014/main" id="{175B304C-27F3-8A33-E6D7-E2EFCA2F82B2}"/>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F689C198-D9CC-41AB-B68E-619F52E1E4EC}"/>
              </a:ext>
            </a:extLst>
          </p:cNvPr>
          <p:cNvSpPr>
            <a:spLocks noGrp="1"/>
          </p:cNvSpPr>
          <p:nvPr/>
        </p:nvSpPr>
        <p:spPr>
          <a:xfrm>
            <a:off x="393668" y="1564862"/>
            <a:ext cx="3606832" cy="1095375"/>
          </a:xfrm>
          <a:prstGeom prst="rect">
            <a:avLst/>
          </a:prstGeom>
          <a:noFill/>
          <a:ln w="0">
            <a:noFill/>
          </a:ln>
        </p:spPr>
        <p:txBody>
          <a:bodyPr wrap="square" lIns="0" tIns="0" rIns="0" bIns="0">
            <a:noAutofit/>
          </a:bodyPr>
          <a:lstStyle/>
          <a:p>
            <a:pPr>
              <a:defRPr sz="1800" b="0">
                <a:solidFill>
                  <a:srgbClr val="222936"/>
                </a:solidFill>
                <a:latin typeface="Roboto"/>
                <a:ea typeface="Roboto"/>
                <a:cs typeface="Roboto"/>
              </a:defRPr>
            </a:pPr>
            <a:r>
              <a:rPr sz="1800" b="0">
                <a:solidFill>
                  <a:srgbClr val="222936"/>
                </a:solidFill>
                <a:latin typeface="Roboto"/>
                <a:ea typeface="Roboto"/>
                <a:cs typeface="Roboto"/>
              </a:rPr>
              <a:t>Method statistics</a:t>
            </a:r>
          </a:p>
        </p:txBody>
      </p:sp>
      <p:sp>
        <p:nvSpPr>
          <p:cNvPr id="535" name="Rectangle 534">
            <a:extLst>
              <a:ext uri="{FF2B5EF4-FFF2-40B4-BE49-F238E27FC236}">
                <a16:creationId xmlns:a16="http://schemas.microsoft.com/office/drawing/2014/main" id="{D10A01C5-7645-4D81-9AE7-C317AC35070C}"/>
              </a:ext>
            </a:extLst>
          </p:cNvPr>
          <p:cNvSpPr>
            <a:spLocks noGrp="1"/>
          </p:cNvSpPr>
          <p:nvPr/>
        </p:nvSpPr>
        <p:spPr>
          <a:xfrm>
            <a:off x="393668" y="2774156"/>
            <a:ext cx="3606832" cy="3143250"/>
          </a:xfrm>
          <a:prstGeom prst="rect">
            <a:avLst/>
          </a:prstGeom>
          <a:noFill/>
          <a:ln w="0">
            <a:noFill/>
          </a:ln>
        </p:spPr>
        <p:txBody>
          <a:bodyPr wrap="square" lIns="0" tIns="0" rIns="0" bIns="0">
            <a:noAutofit/>
          </a:bodyPr>
          <a:lstStyle/>
          <a:p>
            <a:pPr>
              <a:defRPr sz="1400" b="0">
                <a:solidFill>
                  <a:srgbClr val="566070"/>
                </a:solidFill>
                <a:latin typeface="Roboto"/>
                <a:ea typeface="Roboto"/>
                <a:cs typeface="Roboto"/>
              </a:defRPr>
            </a:pPr>
            <a:r>
              <a:rPr sz="1400" b="0">
                <a:solidFill>
                  <a:srgbClr val="566070"/>
                </a:solidFill>
                <a:latin typeface="Roboto"/>
                <a:ea typeface="Roboto"/>
                <a:cs typeface="Roboto"/>
              </a:rPr>
              <a:t>Methods have different percentages.</a:t>
            </a:r>
          </a:p>
        </p:txBody>
      </p:sp>
      <p:graphicFrame>
        <p:nvGraphicFramePr>
          <p:cNvPr id="542" name="Chart"/>
          <p:cNvGraphicFramePr/>
          <p:nvPr/>
        </p:nvGraphicFramePr>
        <p:xfrm>
          <a:off x="4752785" y="1549337"/>
          <a:ext cx="6777990" cy="462781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53894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EFD6AB9A-5F9E-5F59-51AB-3C8734130965}" type="slidenum">
              <a:rPr sz="1100" b="0">
                <a:solidFill>
                  <a:srgbClr val="566070"/>
                </a:solidFill>
                <a:latin typeface="Roboto"/>
                <a:ea typeface="Roboto"/>
                <a:cs typeface="Roboto"/>
              </a:rPr>
              <a:t>6</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393700" y="344008"/>
            <a:ext cx="7835900" cy="1040291"/>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Appointment distribution</a:t>
            </a:r>
            <a:endParaRPr>
              <a:solidFill>
                <a:schemeClr val="accent1"/>
              </a:solidFill>
            </a:endParaRPr>
          </a:p>
        </p:txBody>
      </p:sp>
      <p:sp>
        <p:nvSpPr>
          <p:cNvPr id="3" name="Footer Placeholder 2">
            <a:extLst>
              <a:ext uri="{FF2B5EF4-FFF2-40B4-BE49-F238E27FC236}">
                <a16:creationId xmlns:a16="http://schemas.microsoft.com/office/drawing/2014/main" id="{175B304C-27F3-8A33-E6D7-E2EFCA2F82B2}"/>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713F6E88-9141-49E9-B244-94969C370626}"/>
              </a:ext>
            </a:extLst>
          </p:cNvPr>
          <p:cNvSpPr>
            <a:spLocks noGrp="1"/>
          </p:cNvSpPr>
          <p:nvPr/>
        </p:nvSpPr>
        <p:spPr>
          <a:xfrm>
            <a:off x="393668" y="1564862"/>
            <a:ext cx="3606832" cy="1095375"/>
          </a:xfrm>
          <a:prstGeom prst="rect">
            <a:avLst/>
          </a:prstGeom>
          <a:noFill/>
          <a:ln w="0">
            <a:noFill/>
          </a:ln>
        </p:spPr>
        <p:txBody>
          <a:bodyPr wrap="square" lIns="0" tIns="0" rIns="0" bIns="0">
            <a:noAutofit/>
          </a:bodyPr>
          <a:lstStyle/>
          <a:p>
            <a:pPr>
              <a:defRPr sz="1800" b="0">
                <a:solidFill>
                  <a:srgbClr val="222936"/>
                </a:solidFill>
                <a:latin typeface="Roboto"/>
                <a:ea typeface="Roboto"/>
                <a:cs typeface="Roboto"/>
              </a:defRPr>
            </a:pPr>
            <a:r>
              <a:rPr sz="1800" b="0">
                <a:solidFill>
                  <a:srgbClr val="222936"/>
                </a:solidFill>
                <a:latin typeface="Roboto"/>
                <a:ea typeface="Roboto"/>
                <a:cs typeface="Roboto"/>
              </a:rPr>
              <a:t>Booking categories</a:t>
            </a:r>
          </a:p>
        </p:txBody>
      </p:sp>
      <p:sp>
        <p:nvSpPr>
          <p:cNvPr id="535" name="Rectangle 534">
            <a:extLst>
              <a:ext uri="{FF2B5EF4-FFF2-40B4-BE49-F238E27FC236}">
                <a16:creationId xmlns:a16="http://schemas.microsoft.com/office/drawing/2014/main" id="{9C62F066-5F40-4B73-94CD-014241DDEF53}"/>
              </a:ext>
            </a:extLst>
          </p:cNvPr>
          <p:cNvSpPr>
            <a:spLocks noGrp="1"/>
          </p:cNvSpPr>
          <p:nvPr/>
        </p:nvSpPr>
        <p:spPr>
          <a:xfrm>
            <a:off x="393668" y="2774156"/>
            <a:ext cx="3606832" cy="3143250"/>
          </a:xfrm>
          <a:prstGeom prst="rect">
            <a:avLst/>
          </a:prstGeom>
          <a:noFill/>
          <a:ln w="0">
            <a:noFill/>
          </a:ln>
        </p:spPr>
        <p:txBody>
          <a:bodyPr wrap="square" lIns="0" tIns="0" rIns="0" bIns="0">
            <a:noAutofit/>
          </a:bodyPr>
          <a:lstStyle/>
          <a:p>
            <a:pPr>
              <a:defRPr sz="1400" b="0">
                <a:solidFill>
                  <a:srgbClr val="566070"/>
                </a:solidFill>
                <a:latin typeface="Roboto"/>
                <a:ea typeface="Roboto"/>
                <a:cs typeface="Roboto"/>
              </a:defRPr>
            </a:pPr>
            <a:r>
              <a:rPr sz="1400" b="0">
                <a:solidFill>
                  <a:srgbClr val="566070"/>
                </a:solidFill>
                <a:latin typeface="Roboto"/>
                <a:ea typeface="Roboto"/>
                <a:cs typeface="Roboto"/>
              </a:rPr>
              <a:t>The distribution of days varies by method.</a:t>
            </a:r>
          </a:p>
        </p:txBody>
      </p:sp>
      <p:graphicFrame>
        <p:nvGraphicFramePr>
          <p:cNvPr id="542" name="Chart"/>
          <p:cNvGraphicFramePr/>
          <p:nvPr/>
        </p:nvGraphicFramePr>
        <p:xfrm>
          <a:off x="4752785" y="1549337"/>
          <a:ext cx="6777990" cy="462781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53894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EE5B3003-2C54-13C6-9832-7637201064DE}" type="slidenum">
              <a:rPr sz="1100" b="0">
                <a:solidFill>
                  <a:srgbClr val="566070"/>
                </a:solidFill>
                <a:latin typeface="Roboto"/>
                <a:ea typeface="Roboto"/>
                <a:cs typeface="Roboto"/>
              </a:rPr>
              <a:t>7</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393700" y="344008"/>
            <a:ext cx="7835900" cy="1040291"/>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Additional comparisons</a:t>
            </a:r>
            <a:endParaRPr>
              <a:solidFill>
                <a:schemeClr val="accent1"/>
              </a:solidFill>
            </a:endParaRPr>
          </a:p>
        </p:txBody>
      </p:sp>
      <p:sp>
        <p:nvSpPr>
          <p:cNvPr id="3" name="Footer Placeholder 2">
            <a:extLst>
              <a:ext uri="{FF2B5EF4-FFF2-40B4-BE49-F238E27FC236}">
                <a16:creationId xmlns:a16="http://schemas.microsoft.com/office/drawing/2014/main" id="{175B304C-27F3-8A33-E6D7-E2EFCA2F82B2}"/>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D6D1E336-6FD5-490F-A337-33B831C953B1}"/>
              </a:ext>
            </a:extLst>
          </p:cNvPr>
          <p:cNvSpPr>
            <a:spLocks noGrp="1"/>
          </p:cNvSpPr>
          <p:nvPr/>
        </p:nvSpPr>
        <p:spPr>
          <a:xfrm>
            <a:off x="393668" y="1564862"/>
            <a:ext cx="3606832" cy="1095375"/>
          </a:xfrm>
          <a:prstGeom prst="rect">
            <a:avLst/>
          </a:prstGeom>
          <a:noFill/>
          <a:ln w="0">
            <a:noFill/>
          </a:ln>
        </p:spPr>
        <p:txBody>
          <a:bodyPr wrap="square" lIns="0" tIns="0" rIns="0" bIns="0">
            <a:noAutofit/>
          </a:bodyPr>
          <a:lstStyle/>
          <a:p>
            <a:pPr>
              <a:defRPr sz="1800" b="0">
                <a:solidFill>
                  <a:srgbClr val="222936"/>
                </a:solidFill>
                <a:latin typeface="Roboto"/>
                <a:ea typeface="Roboto"/>
                <a:cs typeface="Roboto"/>
              </a:defRPr>
            </a:pPr>
            <a:r>
              <a:rPr sz="1800" b="0">
                <a:solidFill>
                  <a:srgbClr val="222936"/>
                </a:solidFill>
                <a:latin typeface="Roboto"/>
                <a:ea typeface="Roboto"/>
                <a:cs typeface="Roboto"/>
              </a:rPr>
              <a:t>Further data</a:t>
            </a:r>
          </a:p>
        </p:txBody>
      </p:sp>
      <p:sp>
        <p:nvSpPr>
          <p:cNvPr id="535" name="Rectangle 534">
            <a:extLst>
              <a:ext uri="{FF2B5EF4-FFF2-40B4-BE49-F238E27FC236}">
                <a16:creationId xmlns:a16="http://schemas.microsoft.com/office/drawing/2014/main" id="{325734C1-4223-493E-BA35-D84AD3CAB9D0}"/>
              </a:ext>
            </a:extLst>
          </p:cNvPr>
          <p:cNvSpPr>
            <a:spLocks noGrp="1"/>
          </p:cNvSpPr>
          <p:nvPr/>
        </p:nvSpPr>
        <p:spPr>
          <a:xfrm>
            <a:off x="393668" y="2774156"/>
            <a:ext cx="3606832" cy="3143250"/>
          </a:xfrm>
          <a:prstGeom prst="rect">
            <a:avLst/>
          </a:prstGeom>
          <a:noFill/>
          <a:ln w="0">
            <a:noFill/>
          </a:ln>
        </p:spPr>
        <p:txBody>
          <a:bodyPr wrap="square" lIns="0" tIns="0" rIns="0" bIns="0">
            <a:noAutofit/>
          </a:bodyPr>
          <a:lstStyle/>
          <a:p>
            <a:pPr>
              <a:defRPr sz="1400" b="0">
                <a:solidFill>
                  <a:srgbClr val="566070"/>
                </a:solidFill>
                <a:latin typeface="Roboto"/>
                <a:ea typeface="Roboto"/>
                <a:cs typeface="Roboto"/>
              </a:defRPr>
            </a:pPr>
            <a:r>
              <a:rPr sz="1400" b="0">
                <a:solidFill>
                  <a:srgbClr val="566070"/>
                </a:solidFill>
                <a:latin typeface="Roboto"/>
                <a:ea typeface="Roboto"/>
                <a:cs typeface="Roboto"/>
              </a:rPr>
              <a:t>Results in categories are shown in the chart.</a:t>
            </a:r>
          </a:p>
        </p:txBody>
      </p:sp>
      <p:graphicFrame>
        <p:nvGraphicFramePr>
          <p:cNvPr id="542" name="Chart"/>
          <p:cNvGraphicFramePr/>
          <p:nvPr/>
        </p:nvGraphicFramePr>
        <p:xfrm>
          <a:off x="4752785" y="1549337"/>
          <a:ext cx="6777990" cy="462781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53894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011EE4-C416-3EA2-180D-62404CE47D07}"/>
              </a:ext>
            </a:extLst>
          </p:cNvPr>
          <p:cNvSpPr>
            <a:spLocks noGrp="1"/>
          </p:cNvSpPr>
          <p:nvPr>
            <p:ph type="ctrTitle"/>
          </p:nvPr>
        </p:nvSpPr>
        <p:spPr>
          <a:xfrm>
            <a:off x="393700" y="937510"/>
            <a:ext cx="9448800" cy="2491490"/>
          </a:xfrm>
        </p:spPr>
        <p:txBody>
          <a:bodyPr wrap="square" lIns="0" tIns="0" rIns="0" bIns="0">
            <a:noAutofit/>
          </a:bodyPr>
          <a:lstStyle/>
          <a:p>
            <a:pPr>
              <a:defRPr sz="5500" b="0">
                <a:solidFill>
                  <a:srgbClr val="3357B8"/>
                </a:solidFill>
                <a:latin typeface="Lora SemiBold"/>
                <a:ea typeface="Lora SemiBold"/>
                <a:cs typeface="Lora SemiBold"/>
              </a:defRPr>
            </a:pPr>
            <a:r>
              <a:rPr sz="5500" b="0">
                <a:solidFill>
                  <a:srgbClr val="3357B8"/>
                </a:solidFill>
                <a:latin typeface="Lora SemiBold"/>
                <a:ea typeface="Lora SemiBold"/>
                <a:cs typeface="Lora SemiBold"/>
              </a:rPr>
              <a:t>Summary and next steps</a:t>
            </a:r>
          </a:p>
        </p:txBody>
      </p:sp>
      <p:sp>
        <p:nvSpPr>
          <p:cNvPr id="5" name="Subtitle 4">
            <a:extLst>
              <a:ext uri="{FF2B5EF4-FFF2-40B4-BE49-F238E27FC236}">
                <a16:creationId xmlns:a16="http://schemas.microsoft.com/office/drawing/2014/main" id="{119B400D-E218-8301-7E00-C5A55230DE5D}"/>
              </a:ext>
            </a:extLst>
          </p:cNvPr>
          <p:cNvSpPr>
            <a:spLocks noGrp="1"/>
          </p:cNvSpPr>
          <p:nvPr>
            <p:ph type="subTitle" idx="1"/>
          </p:nvPr>
        </p:nvSpPr>
        <p:spPr>
          <a:xfrm>
            <a:off x="441201" y="4532466"/>
            <a:ext cx="6458364" cy="1388024"/>
          </a:xfrm>
        </p:spPr>
        <p:txBody>
          <a:bodyPr wrap="square" lIns="0" tIns="0" rIns="0" bIns="0">
            <a:noAutofit/>
          </a:bodyPr>
          <a:lstStyle/>
          <a:p>
            <a:pPr>
              <a:lnSpc>
                <a:spcPct val="120000"/>
              </a:lnSpc>
              <a:buNone/>
              <a:defRPr sz="1800" b="0">
                <a:solidFill>
                  <a:srgbClr val="566070"/>
                </a:solidFill>
                <a:latin typeface="Roboto"/>
                <a:ea typeface="Roboto"/>
                <a:cs typeface="Roboto"/>
              </a:defRPr>
            </a:pPr>
            <a:r>
              <a:rPr sz="1800" b="0">
                <a:solidFill>
                  <a:srgbClr val="566070"/>
                </a:solidFill>
                <a:latin typeface="Roboto"/>
                <a:ea typeface="Roboto"/>
                <a:cs typeface="Roboto"/>
              </a:rPr>
              <a:t>Methods differ. Lead times differ. Consider additional review.</a:t>
            </a:r>
          </a:p>
        </p:txBody>
      </p:sp>
      <p:sp>
        <p:nvSpPr>
          <p:cNvPr id="3" name="Straight Connector 2">
            <a:extLst>
              <a:ext uri="{FF2B5EF4-FFF2-40B4-BE49-F238E27FC236}">
                <a16:creationId xmlns:a16="http://schemas.microsoft.com/office/drawing/2014/main" id="{6A43E0D0-69F2-4ADF-8835-2B8CD6A4C633}"/>
              </a:ext>
            </a:extLst>
          </p:cNvPr>
          <p:cNvSpPr>
            <a:spLocks noGrp="1"/>
          </p:cNvSpPr>
          <p:nvPr/>
        </p:nv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en-US"/>
          </a:p>
        </p:txBody>
      </p:sp>
    </p:spTree>
    <p:extLst>
      <p:ext uri="{BB962C8B-B14F-4D97-AF65-F5344CB8AC3E}">
        <p14:creationId xmlns:p14="http://schemas.microsoft.com/office/powerpoint/2010/main" val="858355452"/>
      </p:ext>
    </p:extLst>
  </p:cSld>
  <p:clrMapOvr>
    <a:masterClrMapping/>
  </p:clrMapOvr>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1065</Words>
  <Application>Microsoft Office PowerPoint</Application>
  <DocSecurity>0</DocSecurity>
  <PresentationFormat>Widescreen</PresentationFormat>
  <Paragraphs>111</Paragraphs>
  <Slides>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Roboto</vt:lpstr>
      <vt:lpstr>Roboto SemiBold</vt:lpstr>
      <vt:lpstr>Lora SemiBold</vt:lpstr>
      <vt:lpstr>Lora Medium</vt:lpstr>
      <vt:lpstr>Roboto Medium</vt:lpstr>
      <vt:lpstr>Lora</vt:lpstr>
      <vt:lpstr>Default Codex Theme</vt:lpstr>
      <vt:lpstr>Reminder methods have different results</vt:lpstr>
      <vt:lpstr>Process details</vt:lpstr>
      <vt:lpstr>Outreach report</vt:lpstr>
      <vt:lpstr>Other volume information</vt:lpstr>
      <vt:lpstr>Reminder performance</vt:lpstr>
      <vt:lpstr>Appointment distribution</vt:lpstr>
      <vt:lpstr>Additional comparisons</vt:lpstr>
      <vt:lpstr>Summary and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Robert Fox</cp:lastModifiedBy>
  <cp:revision>1</cp:revision>
  <dcterms:created xsi:type="dcterms:W3CDTF">2026-10-06T14:57:04Z</dcterms:created>
  <dcterms:modified xsi:type="dcterms:W3CDTF">2026-10-07T10:33:23Z</dcterms:modified>
</cp:coreProperties>
</file>