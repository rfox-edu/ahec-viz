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0"/>
  </p:notesMasterIdLst>
  <p:sldIdLst>
    <p:sldId id="256" r:id="rId2"/>
    <p:sldId id="257" r:id="rId3"/>
    <p:sldId id="261" r:id="rId4"/>
    <p:sldId id="262" r:id="rId5"/>
    <p:sldId id="258" r:id="rId6"/>
    <p:sldId id="259" r:id="rId7"/>
    <p:sldId id="260" r:id="rId8"/>
    <p:sldId id="263" r:id="rId9"/>
  </p:sldIdLst>
  <p:sldSz cx="12192000" cy="6858000"/>
  <p:notesSz cx="6858000" cy="9144000"/>
  <p:embeddedFontLst>
    <p:embeddedFont>
      <p:font typeface="Lora Medium" panose="020F0502020204030204" pitchFamily="2" charset="0"/>
      <p:regular r:id="rId11"/>
      <p:italic r:id="rId12"/>
    </p:embeddedFont>
    <p:embeddedFont>
      <p:font typeface="Lora SemiBold" panose="020B0604020202020204" charset="0"/>
      <p:regular r:id="rId13"/>
      <p:bold r:id="rId14"/>
      <p:italic r:id="rId15"/>
      <p:boldItalic r:id="rId16"/>
    </p:embeddedFont>
    <p:embeddedFont>
      <p:font typeface="Roboto" panose="02000000000000000000" pitchFamily="2" charset="0"/>
      <p:regular r:id="rId17"/>
      <p:bold r:id="rId18"/>
      <p:italic r:id="rId19"/>
      <p:boldItalic r:id="rId20"/>
    </p:embeddedFont>
    <p:embeddedFont>
      <p:font typeface="Roboto Medium" panose="02000000000000000000" pitchFamily="2" charset="0"/>
      <p:regular r:id="rId21"/>
      <p:italic r:id="rId22"/>
    </p:embeddedFont>
    <p:embeddedFont>
      <p:font typeface="Roboto SemiBold" panose="020B060402020202020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2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font" Target="fonts/font16.fntdata"/><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viewProps" Target="viewProp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1"/>
        <c:ser>
          <c:idx val="0"/>
          <c:order val="0"/>
          <c:tx>
            <c:v>Series 1</c:v>
          </c:tx>
          <c:spPr>
            <a:solidFill>
              <a:srgbClr val="FF0000"/>
            </a:solidFill>
            <a:ln w="19050">
              <a:solidFill>
                <a:srgbClr val="FF000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0–7</c:v>
                </c:pt>
                <c:pt idx="1">
                  <c:v>8–21</c:v>
                </c:pt>
                <c:pt idx="2">
                  <c:v>22–42</c:v>
                </c:pt>
                <c:pt idx="3">
                  <c:v>43–90</c:v>
                </c:pt>
              </c:strCache>
            </c:strRef>
          </c:cat>
          <c:val>
            <c:numRef>
              <c:f>'Chart Data'!$B$2:$B$5</c:f>
              <c:numCache>
                <c:formatCode>0.0%</c:formatCode>
                <c:ptCount val="4"/>
                <c:pt idx="0">
                  <c:v>0.10256410000000001</c:v>
                </c:pt>
                <c:pt idx="1">
                  <c:v>0.15493826999999999</c:v>
                </c:pt>
                <c:pt idx="2">
                  <c:v>0.21949685999999999</c:v>
                </c:pt>
                <c:pt idx="3">
                  <c:v>0.31056910999999998</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0000"/>
                    </a:solidFill>
                  </a:ln>
                </c14:spPr>
              </c14:invertSolidFillFmt>
            </c:ext>
            <c:ext xmlns:c16="http://schemas.microsoft.com/office/drawing/2014/chart" uri="{C3380CC4-5D6E-409C-BE32-E72D297353CC}">
              <c16:uniqueId val="{00000000-E7F6-4CF3-B9AB-F5656FFBB970}"/>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14288">
            <a:solidFill>
              <a:srgbClr val="000000"/>
            </a:solidFill>
          </a:ln>
        </c:spPr>
        <c:txPr>
          <a:bodyPr anchorCtr="1"/>
          <a:lstStyle/>
          <a:p>
            <a:pPr>
              <a:defRPr sz="1050">
                <a:solidFill>
                  <a:srgbClr val="222936"/>
                </a:solidFill>
                <a:latin typeface="Roboto"/>
                <a:ea typeface="Roboto"/>
                <a:cs typeface="Roboto"/>
              </a:defRPr>
            </a:pPr>
            <a:endParaRPr lang="en-US"/>
          </a:p>
        </c:txPr>
        <c:crossAx val="48672768"/>
        <c:crosses val="autoZero"/>
        <c:auto val="1"/>
        <c:lblAlgn val="ctr"/>
        <c:lblOffset val="100"/>
        <c:noMultiLvlLbl val="1"/>
      </c:catAx>
      <c:valAx>
        <c:axId val="48672768"/>
        <c:scaling>
          <c:orientation val="minMax"/>
          <c:max val="0.4"/>
          <c:min val="0"/>
        </c:scaling>
        <c:delete val="0"/>
        <c:axPos val="l"/>
        <c:majorGridlines>
          <c:spPr>
            <a:ln w="14288">
              <a:solidFill>
                <a:srgbClr val="999999"/>
              </a:solidFill>
            </a:ln>
          </c:spPr>
        </c:majorGridlines>
        <c:title>
          <c:tx>
            <c:rich>
              <a:bodyPr/>
              <a:lstStyle/>
              <a:p>
                <a:r>
                  <a:rPr lang="en-US">
                    <a:latin typeface="Roboto"/>
                    <a:ea typeface="Roboto"/>
                    <a:cs typeface="Roboto"/>
                  </a:rPr>
                  <a:t>Unrecovered-slot rate</a:t>
                </a:r>
              </a:p>
            </c:rich>
          </c:tx>
          <c:overlay val="0"/>
        </c:title>
        <c:numFmt formatCode="0.0%" sourceLinked="1"/>
        <c:majorTickMark val="none"/>
        <c:minorTickMark val="none"/>
        <c:tickLblPos val="nextTo"/>
        <c:spPr>
          <a:ln w="9525">
            <a:solidFill>
              <a:srgbClr val="000000"/>
            </a:solidFill>
          </a:ln>
        </c:spPr>
        <c:txPr>
          <a:bodyPr anchorCtr="1"/>
          <a:lstStyle/>
          <a:p>
            <a:pPr>
              <a:defRPr sz="1050">
                <a:solidFill>
                  <a:srgbClr val="222936"/>
                </a:solidFill>
                <a:latin typeface="Roboto"/>
                <a:ea typeface="Roboto"/>
                <a:cs typeface="Roboto"/>
              </a:defRPr>
            </a:pPr>
            <a:endParaRPr lang="en-US"/>
          </a:p>
        </c:txPr>
        <c:crossAx val="48650112"/>
        <c:crosses val="autoZero"/>
        <c:crossBetween val="between"/>
      </c:valAx>
      <c:spPr>
        <a:solidFill>
          <a:srgbClr val="D9E1F2"/>
        </a:solidFill>
        <a:ln w="9525">
          <a:solidFill>
            <a:srgbClr val="000000"/>
          </a:solidFill>
        </a:ln>
      </c:spPr>
    </c:plotArea>
    <c:plotVisOnly val="1"/>
    <c:dispBlanksAs val="zero"/>
    <c:showDLblsOverMax val="1"/>
  </c:chart>
  <c:spPr>
    <a:solidFill>
      <a:srgbClr val="F2F2F2"/>
    </a:solidFill>
    <a:ln w="9525">
      <a:solidFill>
        <a:srgbClr val="000000"/>
      </a:solid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1"/>
        <c:ser>
          <c:idx val="0"/>
          <c:order val="0"/>
          <c:tx>
            <c:v>Primary Care</c:v>
          </c:tx>
          <c:spPr>
            <a:solidFill>
              <a:srgbClr val="FF0000"/>
            </a:solidFill>
            <a:ln w="19050">
              <a:solidFill>
                <a:srgbClr val="FF000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0–7</c:v>
                </c:pt>
                <c:pt idx="1">
                  <c:v>8–21</c:v>
                </c:pt>
                <c:pt idx="2">
                  <c:v>22–42</c:v>
                </c:pt>
                <c:pt idx="3">
                  <c:v>43–90</c:v>
                </c:pt>
              </c:strCache>
            </c:strRef>
          </c:cat>
          <c:val>
            <c:numRef>
              <c:f>'Chart Data'!$B$2:$B$5</c:f>
              <c:numCache>
                <c:formatCode>0%</c:formatCode>
                <c:ptCount val="4"/>
                <c:pt idx="0">
                  <c:v>8.7999999999999995E-2</c:v>
                </c:pt>
                <c:pt idx="1">
                  <c:v>0.11515151999999999</c:v>
                </c:pt>
                <c:pt idx="2">
                  <c:v>0.14444444000000001</c:v>
                </c:pt>
                <c:pt idx="3">
                  <c:v>0.25333333000000002</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0000"/>
                    </a:solidFill>
                  </a:ln>
                </c14:spPr>
              </c14:invertSolidFillFmt>
            </c:ext>
            <c:ext xmlns:c16="http://schemas.microsoft.com/office/drawing/2014/chart" uri="{C3380CC4-5D6E-409C-BE32-E72D297353CC}">
              <c16:uniqueId val="{00000000-7DED-4A8C-B7D1-95B1BA1E5B8E}"/>
            </c:ext>
          </c:extLst>
        </c:ser>
        <c:ser>
          <c:idx val="1"/>
          <c:order val="1"/>
          <c:tx>
            <c:v>Cardiology</c:v>
          </c:tx>
          <c:spPr>
            <a:solidFill>
              <a:srgbClr val="00B050"/>
            </a:solidFill>
            <a:ln w="19050">
              <a:solidFill>
                <a:srgbClr val="00B05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0–7</c:v>
                </c:pt>
                <c:pt idx="1">
                  <c:v>8–21</c:v>
                </c:pt>
                <c:pt idx="2">
                  <c:v>22–42</c:v>
                </c:pt>
                <c:pt idx="3">
                  <c:v>43–90</c:v>
                </c:pt>
              </c:strCache>
            </c:strRef>
          </c:cat>
          <c:val>
            <c:numRef>
              <c:f>'Chart Data'!$D$2:$D$5</c:f>
              <c:numCache>
                <c:formatCode>0%</c:formatCode>
                <c:ptCount val="4"/>
                <c:pt idx="0">
                  <c:v>8.8888889999999998E-2</c:v>
                </c:pt>
                <c:pt idx="1">
                  <c:v>0.14567901</c:v>
                </c:pt>
                <c:pt idx="2">
                  <c:v>0.18095238</c:v>
                </c:pt>
                <c:pt idx="3">
                  <c:v>0.22666666999999999</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00B050"/>
                    </a:solidFill>
                  </a:ln>
                </c14:spPr>
              </c14:invertSolidFillFmt>
            </c:ext>
            <c:ext xmlns:c16="http://schemas.microsoft.com/office/drawing/2014/chart" uri="{C3380CC4-5D6E-409C-BE32-E72D297353CC}">
              <c16:uniqueId val="{00000001-7DED-4A8C-B7D1-95B1BA1E5B8E}"/>
            </c:ext>
          </c:extLst>
        </c:ser>
        <c:ser>
          <c:idx val="2"/>
          <c:order val="2"/>
          <c:tx>
            <c:v>Behavioral Health</c:v>
          </c:tx>
          <c:spPr>
            <a:solidFill>
              <a:srgbClr val="FFC000"/>
            </a:solidFill>
            <a:ln w="19050">
              <a:solidFill>
                <a:srgbClr val="FFC00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Data'!$E$2:$E$5</c:f>
              <c:strCache>
                <c:ptCount val="4"/>
                <c:pt idx="0">
                  <c:v>0–7</c:v>
                </c:pt>
                <c:pt idx="1">
                  <c:v>8–21</c:v>
                </c:pt>
                <c:pt idx="2">
                  <c:v>22–42</c:v>
                </c:pt>
                <c:pt idx="3">
                  <c:v>43–90</c:v>
                </c:pt>
              </c:strCache>
            </c:strRef>
          </c:cat>
          <c:val>
            <c:numRef>
              <c:f>'Chart Data'!$F$2:$F$5</c:f>
              <c:numCache>
                <c:formatCode>0%</c:formatCode>
                <c:ptCount val="4"/>
                <c:pt idx="0">
                  <c:v>0.25</c:v>
                </c:pt>
                <c:pt idx="1">
                  <c:v>0.27777777999999997</c:v>
                </c:pt>
                <c:pt idx="2">
                  <c:v>0.33333332999999998</c:v>
                </c:pt>
                <c:pt idx="3">
                  <c:v>0.38571429000000002</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C000"/>
                    </a:solidFill>
                  </a:ln>
                </c14:spPr>
              </c14:invertSolidFillFmt>
            </c:ext>
            <c:ext xmlns:c16="http://schemas.microsoft.com/office/drawing/2014/chart" uri="{C3380CC4-5D6E-409C-BE32-E72D297353CC}">
              <c16:uniqueId val="{00000002-7DED-4A8C-B7D1-95B1BA1E5B8E}"/>
            </c:ext>
          </c:extLst>
        </c:ser>
        <c:ser>
          <c:idx val="3"/>
          <c:order val="3"/>
          <c:tx>
            <c:v>Orthopedics</c:v>
          </c:tx>
          <c:spPr>
            <a:solidFill>
              <a:srgbClr val="7030A0"/>
            </a:solidFill>
            <a:ln w="19050">
              <a:solidFill>
                <a:srgbClr val="7030A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Data'!$G$2:$G$5</c:f>
              <c:strCache>
                <c:ptCount val="4"/>
                <c:pt idx="0">
                  <c:v>0–7</c:v>
                </c:pt>
                <c:pt idx="1">
                  <c:v>8–21</c:v>
                </c:pt>
                <c:pt idx="2">
                  <c:v>22–42</c:v>
                </c:pt>
                <c:pt idx="3">
                  <c:v>43–90</c:v>
                </c:pt>
              </c:strCache>
            </c:strRef>
          </c:cat>
          <c:val>
            <c:numRef>
              <c:f>'Chart Data'!$H$2:$H$5</c:f>
              <c:numCache>
                <c:formatCode>0%</c:formatCode>
                <c:ptCount val="4"/>
                <c:pt idx="0">
                  <c:v>9.5238100000000006E-2</c:v>
                </c:pt>
                <c:pt idx="1">
                  <c:v>0.13333333</c:v>
                </c:pt>
                <c:pt idx="2">
                  <c:v>0.16790123000000001</c:v>
                </c:pt>
                <c:pt idx="3">
                  <c:v>0.23111111000000001</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7030A0"/>
                    </a:solidFill>
                  </a:ln>
                </c14:spPr>
              </c14:invertSolidFillFmt>
            </c:ext>
            <c:ext xmlns:c16="http://schemas.microsoft.com/office/drawing/2014/chart" uri="{C3380CC4-5D6E-409C-BE32-E72D297353CC}">
              <c16:uniqueId val="{00000003-7DED-4A8C-B7D1-95B1BA1E5B8E}"/>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14288">
            <a:solidFill>
              <a:srgbClr val="000000"/>
            </a:solidFill>
          </a:ln>
        </c:spPr>
        <c:txPr>
          <a:bodyPr anchorCtr="1"/>
          <a:lstStyle/>
          <a:p>
            <a:pPr>
              <a:defRPr sz="1050">
                <a:solidFill>
                  <a:srgbClr val="222936"/>
                </a:solidFill>
                <a:latin typeface="Roboto"/>
                <a:ea typeface="Roboto"/>
                <a:cs typeface="Roboto"/>
              </a:defRPr>
            </a:pPr>
            <a:endParaRPr lang="en-US"/>
          </a:p>
        </c:txPr>
        <c:crossAx val="48672768"/>
        <c:crosses val="autoZero"/>
        <c:auto val="1"/>
        <c:lblAlgn val="ctr"/>
        <c:lblOffset val="100"/>
        <c:noMultiLvlLbl val="1"/>
      </c:catAx>
      <c:valAx>
        <c:axId val="48672768"/>
        <c:scaling>
          <c:orientation val="minMax"/>
          <c:max val="0.45"/>
          <c:min val="0"/>
        </c:scaling>
        <c:delete val="0"/>
        <c:axPos val="l"/>
        <c:majorGridlines>
          <c:spPr>
            <a:ln w="14288">
              <a:solidFill>
                <a:srgbClr val="999999"/>
              </a:solidFill>
            </a:ln>
          </c:spPr>
        </c:majorGridlines>
        <c:title>
          <c:tx>
            <c:rich>
              <a:bodyPr/>
              <a:lstStyle/>
              <a:p>
                <a:r>
                  <a:rPr lang="en-US">
                    <a:latin typeface="Roboto"/>
                    <a:ea typeface="Roboto"/>
                    <a:cs typeface="Roboto"/>
                  </a:rPr>
                  <a:t>Unrecovered-slot rate</a:t>
                </a:r>
              </a:p>
            </c:rich>
          </c:tx>
          <c:overlay val="0"/>
        </c:title>
        <c:numFmt formatCode="0%" sourceLinked="1"/>
        <c:majorTickMark val="none"/>
        <c:minorTickMark val="none"/>
        <c:tickLblPos val="nextTo"/>
        <c:spPr>
          <a:ln w="9525">
            <a:solidFill>
              <a:srgbClr val="000000"/>
            </a:solidFill>
          </a:ln>
        </c:spPr>
        <c:txPr>
          <a:bodyPr anchorCtr="1"/>
          <a:lstStyle/>
          <a:p>
            <a:pPr>
              <a:defRPr sz="1050">
                <a:solidFill>
                  <a:srgbClr val="222936"/>
                </a:solidFill>
                <a:latin typeface="Roboto"/>
                <a:ea typeface="Roboto"/>
                <a:cs typeface="Roboto"/>
              </a:defRPr>
            </a:pPr>
            <a:endParaRPr lang="en-US"/>
          </a:p>
        </c:txPr>
        <c:crossAx val="48650112"/>
        <c:crosses val="autoZero"/>
        <c:crossBetween val="between"/>
      </c:valAx>
      <c:spPr>
        <a:solidFill>
          <a:srgbClr val="D9E1F2"/>
        </a:solidFill>
        <a:ln w="9525">
          <a:solidFill>
            <a:srgbClr val="000000"/>
          </a:solidFill>
        </a:ln>
      </c:spPr>
    </c:plotArea>
    <c:legend>
      <c:legendPos val="r"/>
      <c:overlay val="0"/>
      <c:txPr>
        <a:bodyPr anchorCtr="1"/>
        <a:lstStyle/>
        <a:p>
          <a:pPr>
            <a:defRPr sz="1050">
              <a:solidFill>
                <a:srgbClr val="566070"/>
              </a:solidFill>
              <a:latin typeface="Roboto"/>
              <a:ea typeface="Roboto"/>
              <a:cs typeface="Roboto"/>
            </a:defRPr>
          </a:pPr>
          <a:endParaRPr lang="en-US"/>
        </a:p>
      </c:txPr>
    </c:legend>
    <c:plotVisOnly val="1"/>
    <c:dispBlanksAs val="zero"/>
    <c:showDLblsOverMax val="1"/>
  </c:chart>
  <c:spPr>
    <a:solidFill>
      <a:srgbClr val="F2F2F2"/>
    </a:solidFill>
    <a:ln w="9525">
      <a:solidFill>
        <a:srgbClr val="000000"/>
      </a:solid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v>No-show</c:v>
          </c:tx>
          <c:spPr>
            <a:solidFill>
              <a:srgbClr val="FF0000"/>
            </a:solidFill>
            <a:ln w="19050">
              <a:solidFill>
                <a:srgbClr val="FF000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Primary Care</c:v>
                </c:pt>
                <c:pt idx="1">
                  <c:v>Cardiology</c:v>
                </c:pt>
                <c:pt idx="2">
                  <c:v>Behavioral
Health</c:v>
                </c:pt>
                <c:pt idx="3">
                  <c:v>Orthopedics</c:v>
                </c:pt>
              </c:strCache>
            </c:strRef>
          </c:cat>
          <c:val>
            <c:numRef>
              <c:f>'Chart Data'!$B$2:$B$5</c:f>
              <c:numCache>
                <c:formatCode>0%</c:formatCode>
                <c:ptCount val="4"/>
                <c:pt idx="0">
                  <c:v>5.6666670000000002E-2</c:v>
                </c:pt>
                <c:pt idx="1">
                  <c:v>7.133333E-2</c:v>
                </c:pt>
                <c:pt idx="2">
                  <c:v>0.19066667000000001</c:v>
                </c:pt>
                <c:pt idx="3">
                  <c:v>7.3999999999999996E-2</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0000"/>
                    </a:solidFill>
                  </a:ln>
                </c14:spPr>
              </c14:invertSolidFillFmt>
            </c:ext>
            <c:ext xmlns:c16="http://schemas.microsoft.com/office/drawing/2014/chart" uri="{C3380CC4-5D6E-409C-BE32-E72D297353CC}">
              <c16:uniqueId val="{00000000-4138-4A11-8B2A-243130B68FF8}"/>
            </c:ext>
          </c:extLst>
        </c:ser>
        <c:ser>
          <c:idx val="1"/>
          <c:order val="1"/>
          <c:tx>
            <c:v>Early cancel, unfilled</c:v>
          </c:tx>
          <c:spPr>
            <a:solidFill>
              <a:srgbClr val="00B050"/>
            </a:solidFill>
            <a:ln w="19050">
              <a:solidFill>
                <a:srgbClr val="00B05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Primary Care</c:v>
                </c:pt>
                <c:pt idx="1">
                  <c:v>Cardiology</c:v>
                </c:pt>
                <c:pt idx="2">
                  <c:v>Behavioral
Health</c:v>
                </c:pt>
                <c:pt idx="3">
                  <c:v>Orthopedics</c:v>
                </c:pt>
              </c:strCache>
            </c:strRef>
          </c:cat>
          <c:val>
            <c:numRef>
              <c:f>'Chart Data'!$D$2:$D$5</c:f>
              <c:numCache>
                <c:formatCode>0%</c:formatCode>
                <c:ptCount val="4"/>
                <c:pt idx="0">
                  <c:v>0.02</c:v>
                </c:pt>
                <c:pt idx="1">
                  <c:v>0.04</c:v>
                </c:pt>
                <c:pt idx="2">
                  <c:v>5.6666670000000002E-2</c:v>
                </c:pt>
                <c:pt idx="3">
                  <c:v>2.8000000000000001E-2</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00B050"/>
                    </a:solidFill>
                  </a:ln>
                </c14:spPr>
              </c14:invertSolidFillFmt>
            </c:ext>
            <c:ext xmlns:c16="http://schemas.microsoft.com/office/drawing/2014/chart" uri="{C3380CC4-5D6E-409C-BE32-E72D297353CC}">
              <c16:uniqueId val="{00000001-4138-4A11-8B2A-243130B68FF8}"/>
            </c:ext>
          </c:extLst>
        </c:ser>
        <c:ser>
          <c:idx val="2"/>
          <c:order val="2"/>
          <c:tx>
            <c:v>Late cancel, unfilled</c:v>
          </c:tx>
          <c:spPr>
            <a:solidFill>
              <a:srgbClr val="FFC000"/>
            </a:solidFill>
            <a:ln w="19050">
              <a:solidFill>
                <a:srgbClr val="FFC00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Data'!$E$2:$E$5</c:f>
              <c:strCache>
                <c:ptCount val="4"/>
                <c:pt idx="0">
                  <c:v>Primary Care</c:v>
                </c:pt>
                <c:pt idx="1">
                  <c:v>Cardiology</c:v>
                </c:pt>
                <c:pt idx="2">
                  <c:v>Behavioral
Health</c:v>
                </c:pt>
                <c:pt idx="3">
                  <c:v>Orthopedics</c:v>
                </c:pt>
              </c:strCache>
            </c:strRef>
          </c:cat>
          <c:val>
            <c:numRef>
              <c:f>'Chart Data'!$F$2:$F$5</c:f>
              <c:numCache>
                <c:formatCode>0%</c:formatCode>
                <c:ptCount val="4"/>
                <c:pt idx="0">
                  <c:v>3.5333330000000003E-2</c:v>
                </c:pt>
                <c:pt idx="1">
                  <c:v>5.2666669999999999E-2</c:v>
                </c:pt>
                <c:pt idx="2">
                  <c:v>9.1333330000000004E-2</c:v>
                </c:pt>
                <c:pt idx="3">
                  <c:v>4.4666669999999999E-2</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C000"/>
                    </a:solidFill>
                  </a:ln>
                </c14:spPr>
              </c14:invertSolidFillFmt>
            </c:ext>
            <c:ext xmlns:c16="http://schemas.microsoft.com/office/drawing/2014/chart" uri="{C3380CC4-5D6E-409C-BE32-E72D297353CC}">
              <c16:uniqueId val="{00000002-4138-4A11-8B2A-243130B68FF8}"/>
            </c:ext>
          </c:extLst>
        </c:ser>
        <c:dLbls>
          <c:dLblPos val="ctr"/>
          <c:showLegendKey val="0"/>
          <c:showVal val="1"/>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14288">
            <a:solidFill>
              <a:srgbClr val="000000"/>
            </a:solidFill>
          </a:ln>
        </c:spPr>
        <c:txPr>
          <a:bodyPr anchorCtr="1"/>
          <a:lstStyle/>
          <a:p>
            <a:pPr>
              <a:defRPr sz="1050">
                <a:solidFill>
                  <a:srgbClr val="222936"/>
                </a:solidFill>
                <a:latin typeface="Roboto"/>
                <a:ea typeface="Roboto"/>
                <a:cs typeface="Roboto"/>
              </a:defRPr>
            </a:pPr>
            <a:endParaRPr lang="en-US"/>
          </a:p>
        </c:txPr>
        <c:crossAx val="48672768"/>
        <c:crosses val="autoZero"/>
        <c:auto val="1"/>
        <c:lblAlgn val="ctr"/>
        <c:lblOffset val="100"/>
        <c:noMultiLvlLbl val="1"/>
      </c:catAx>
      <c:valAx>
        <c:axId val="48672768"/>
        <c:scaling>
          <c:orientation val="minMax"/>
          <c:max val="0.4"/>
          <c:min val="0"/>
        </c:scaling>
        <c:delete val="0"/>
        <c:axPos val="l"/>
        <c:majorGridlines>
          <c:spPr>
            <a:ln w="14288">
              <a:solidFill>
                <a:srgbClr val="999999"/>
              </a:solidFill>
            </a:ln>
          </c:spPr>
        </c:majorGridlines>
        <c:title>
          <c:tx>
            <c:rich>
              <a:bodyPr/>
              <a:lstStyle/>
              <a:p>
                <a:r>
                  <a:rPr lang="en-US">
                    <a:latin typeface="Roboto"/>
                    <a:ea typeface="Roboto"/>
                    <a:cs typeface="Roboto"/>
                  </a:rPr>
                  <a:t>Share of scheduled appointments</a:t>
                </a:r>
              </a:p>
            </c:rich>
          </c:tx>
          <c:overlay val="0"/>
        </c:title>
        <c:numFmt formatCode="0%" sourceLinked="1"/>
        <c:majorTickMark val="none"/>
        <c:minorTickMark val="none"/>
        <c:tickLblPos val="nextTo"/>
        <c:spPr>
          <a:ln w="9525">
            <a:solidFill>
              <a:srgbClr val="000000"/>
            </a:solidFill>
          </a:ln>
        </c:spPr>
        <c:txPr>
          <a:bodyPr anchorCtr="1"/>
          <a:lstStyle/>
          <a:p>
            <a:pPr>
              <a:defRPr sz="1050">
                <a:solidFill>
                  <a:srgbClr val="222936"/>
                </a:solidFill>
                <a:latin typeface="Roboto"/>
                <a:ea typeface="Roboto"/>
                <a:cs typeface="Roboto"/>
              </a:defRPr>
            </a:pPr>
            <a:endParaRPr lang="en-US"/>
          </a:p>
        </c:txPr>
        <c:crossAx val="48650112"/>
        <c:crosses val="autoZero"/>
        <c:crossBetween val="between"/>
      </c:valAx>
      <c:spPr>
        <a:solidFill>
          <a:srgbClr val="D9E1F2"/>
        </a:solidFill>
        <a:ln w="9525">
          <a:solidFill>
            <a:srgbClr val="000000"/>
          </a:solidFill>
        </a:ln>
      </c:spPr>
    </c:plotArea>
    <c:legend>
      <c:legendPos val="r"/>
      <c:overlay val="0"/>
      <c:txPr>
        <a:bodyPr anchorCtr="1"/>
        <a:lstStyle/>
        <a:p>
          <a:pPr>
            <a:defRPr sz="1050">
              <a:solidFill>
                <a:srgbClr val="566070"/>
              </a:solidFill>
              <a:latin typeface="Roboto"/>
              <a:ea typeface="Roboto"/>
              <a:cs typeface="Roboto"/>
            </a:defRPr>
          </a:pPr>
          <a:endParaRPr lang="en-US"/>
        </a:p>
      </c:txPr>
    </c:legend>
    <c:plotVisOnly val="1"/>
    <c:dispBlanksAs val="zero"/>
    <c:showDLblsOverMax val="1"/>
  </c:chart>
  <c:spPr>
    <a:solidFill>
      <a:srgbClr val="F2F2F2"/>
    </a:solidFill>
    <a:ln w="9525">
      <a:solidFill>
        <a:srgbClr val="000000"/>
      </a:solid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synthetic_appointments.csv. Entirely simulated training data. One row is one original scheduled appointment. No-show rate uses all scheduled appointments, including cancellations. These observational comparisons do not establish causal effects.</a:t>
            </a:r>
          </a:p>
          <a:p>
            <a:r>
              <a:t>6,000 simulated appointments across four specialties and one fictional calendar year. Student draft.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r>
              <a:t>Unrecovered = no-show or cancellation not refilled. Denominator: all scheduled appointments. 0–7 days: 160/1560</a:t>
            </a:r>
          </a:p>
          <a:p>
            <a:pPr marL="0" lvl="0" indent="0" algn="l">
              <a:spcBef>
                <a:spcPts val="0"/>
              </a:spcBef>
              <a:spcAft>
                <a:spcPts val="0"/>
              </a:spcAft>
              <a:buNone/>
            </a:pPr>
            <a:r>
              <a:t>8–21 days: 251/1620</a:t>
            </a:r>
          </a:p>
          <a:p>
            <a:pPr marL="0" lvl="0" indent="0" algn="l">
              <a:spcBef>
                <a:spcPts val="0"/>
              </a:spcBef>
              <a:spcAft>
                <a:spcPts val="0"/>
              </a:spcAft>
              <a:buNone/>
            </a:pPr>
            <a:r>
              <a:t>22–42 days: 349/1590</a:t>
            </a:r>
          </a:p>
          <a:p>
            <a:pPr marL="0" lvl="0" indent="0" algn="l">
              <a:spcBef>
                <a:spcPts val="0"/>
              </a:spcBef>
              <a:spcAft>
                <a:spcPts val="0"/>
              </a:spcAft>
              <a:buNone/>
            </a:pPr>
            <a:r>
              <a:t>43–90 days: 382/1230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r>
              <a:t>Unrecovered = no-show or cancellation not refilled. Primary Care, 0–7 days: 66/750 = 8.8%</a:t>
            </a:r>
          </a:p>
          <a:p>
            <a:pPr marL="0" lvl="0" indent="0" algn="l">
              <a:spcBef>
                <a:spcPts val="0"/>
              </a:spcBef>
              <a:spcAft>
                <a:spcPts val="0"/>
              </a:spcAft>
              <a:buNone/>
            </a:pPr>
            <a:r>
              <a:t>Primary Care, 8–21 days: 57/495 = 11.5%</a:t>
            </a:r>
          </a:p>
          <a:p>
            <a:pPr marL="0" lvl="0" indent="0" algn="l">
              <a:spcBef>
                <a:spcPts val="0"/>
              </a:spcBef>
              <a:spcAft>
                <a:spcPts val="0"/>
              </a:spcAft>
              <a:buNone/>
            </a:pPr>
            <a:r>
              <a:t>Primary Care, 22–42 days: 26/180 = 14.4%</a:t>
            </a:r>
          </a:p>
          <a:p>
            <a:pPr marL="0" lvl="0" indent="0" algn="l">
              <a:spcBef>
                <a:spcPts val="0"/>
              </a:spcBef>
              <a:spcAft>
                <a:spcPts val="0"/>
              </a:spcAft>
              <a:buNone/>
            </a:pPr>
            <a:r>
              <a:t>Primary Care, 43–90 days: 19/75 = 25.3%</a:t>
            </a:r>
          </a:p>
          <a:p>
            <a:pPr marL="0" lvl="0" indent="0" algn="l">
              <a:spcBef>
                <a:spcPts val="0"/>
              </a:spcBef>
              <a:spcAft>
                <a:spcPts val="0"/>
              </a:spcAft>
              <a:buNone/>
            </a:pPr>
            <a:r>
              <a:t>Cardiology, 0–7 days: 24/270 = 8.9%</a:t>
            </a:r>
          </a:p>
          <a:p>
            <a:pPr marL="0" lvl="0" indent="0" algn="l">
              <a:spcBef>
                <a:spcPts val="0"/>
              </a:spcBef>
              <a:spcAft>
                <a:spcPts val="0"/>
              </a:spcAft>
              <a:buNone/>
            </a:pPr>
            <a:r>
              <a:t>Cardiology, 8–21 days: 59/405 = 14.6%</a:t>
            </a:r>
          </a:p>
          <a:p>
            <a:pPr marL="0" lvl="0" indent="0" algn="l">
              <a:spcBef>
                <a:spcPts val="0"/>
              </a:spcBef>
              <a:spcAft>
                <a:spcPts val="0"/>
              </a:spcAft>
              <a:buNone/>
            </a:pPr>
            <a:r>
              <a:t>Cardiology, 22–42 days: 95/525 = 18.1%</a:t>
            </a:r>
          </a:p>
          <a:p>
            <a:pPr marL="0" lvl="0" indent="0" algn="l">
              <a:spcBef>
                <a:spcPts val="0"/>
              </a:spcBef>
              <a:spcAft>
                <a:spcPts val="0"/>
              </a:spcAft>
              <a:buNone/>
            </a:pPr>
            <a:r>
              <a:t>Cardiology, 43–90 days: 68/300 = 22.7%</a:t>
            </a:r>
          </a:p>
          <a:p>
            <a:pPr marL="0" lvl="0" indent="0" algn="l">
              <a:spcBef>
                <a:spcPts val="0"/>
              </a:spcBef>
              <a:spcAft>
                <a:spcPts val="0"/>
              </a:spcAft>
              <a:buNone/>
            </a:pPr>
            <a:r>
              <a:t>Behavioral Health, 0–7 days: 30/120 = 25.0%</a:t>
            </a:r>
          </a:p>
          <a:p>
            <a:pPr marL="0" lvl="0" indent="0" algn="l">
              <a:spcBef>
                <a:spcPts val="0"/>
              </a:spcBef>
              <a:spcAft>
                <a:spcPts val="0"/>
              </a:spcAft>
              <a:buNone/>
            </a:pPr>
            <a:r>
              <a:t>Behavioral Health, 8–21 days: 75/270 = 27.8%</a:t>
            </a:r>
          </a:p>
          <a:p>
            <a:pPr marL="0" lvl="0" indent="0" algn="l">
              <a:spcBef>
                <a:spcPts val="0"/>
              </a:spcBef>
              <a:spcAft>
                <a:spcPts val="0"/>
              </a:spcAft>
              <a:buNone/>
            </a:pPr>
            <a:r>
              <a:t>Behavioral Health, 22–42 days: 160/480 = 33.3%</a:t>
            </a:r>
          </a:p>
          <a:p>
            <a:pPr marL="0" lvl="0" indent="0" algn="l">
              <a:spcBef>
                <a:spcPts val="0"/>
              </a:spcBef>
              <a:spcAft>
                <a:spcPts val="0"/>
              </a:spcAft>
              <a:buNone/>
            </a:pPr>
            <a:r>
              <a:t>Behavioral Health, 43–90 days: 243/630 = 38.6%</a:t>
            </a:r>
          </a:p>
          <a:p>
            <a:pPr marL="0" lvl="0" indent="0" algn="l">
              <a:spcBef>
                <a:spcPts val="0"/>
              </a:spcBef>
              <a:spcAft>
                <a:spcPts val="0"/>
              </a:spcAft>
              <a:buNone/>
            </a:pPr>
            <a:r>
              <a:t>Orthopedics, 0–7 days: 40/420 = 9.5%</a:t>
            </a:r>
          </a:p>
          <a:p>
            <a:pPr marL="0" lvl="0" indent="0" algn="l">
              <a:spcBef>
                <a:spcPts val="0"/>
              </a:spcBef>
              <a:spcAft>
                <a:spcPts val="0"/>
              </a:spcAft>
              <a:buNone/>
            </a:pPr>
            <a:r>
              <a:t>Orthopedics, 8–21 days: 60/450 = 13.3%</a:t>
            </a:r>
          </a:p>
          <a:p>
            <a:pPr marL="0" lvl="0" indent="0" algn="l">
              <a:spcBef>
                <a:spcPts val="0"/>
              </a:spcBef>
              <a:spcAft>
                <a:spcPts val="0"/>
              </a:spcAft>
              <a:buNone/>
            </a:pPr>
            <a:r>
              <a:t>Orthopedics, 22–42 days: 68/405 = 16.8%</a:t>
            </a:r>
          </a:p>
          <a:p>
            <a:pPr marL="0" lvl="0" indent="0" algn="l">
              <a:spcBef>
                <a:spcPts val="0"/>
              </a:spcBef>
              <a:spcAft>
                <a:spcPts val="0"/>
              </a:spcAft>
              <a:buNone/>
            </a:pPr>
            <a:r>
              <a:t>Orthopedics, 43–90 days: 52/225 = 23.1%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r>
              <a:t>Unrecovered = no-show or cancellation not refilled. Primary Care: no-shows 85, early-unfilled 30, late-unfilled 53, total 168/1500 = 11.2%</a:t>
            </a:r>
          </a:p>
          <a:p>
            <a:pPr marL="0" lvl="0" indent="0" algn="l">
              <a:spcBef>
                <a:spcPts val="0"/>
              </a:spcBef>
              <a:spcAft>
                <a:spcPts val="0"/>
              </a:spcAft>
              <a:buNone/>
            </a:pPr>
            <a:r>
              <a:t>Cardiology: no-shows 107, early-unfilled 60, late-unfilled 79, total 246/1500 = 16.4%</a:t>
            </a:r>
          </a:p>
          <a:p>
            <a:pPr marL="0" lvl="0" indent="0" algn="l">
              <a:spcBef>
                <a:spcPts val="0"/>
              </a:spcBef>
              <a:spcAft>
                <a:spcPts val="0"/>
              </a:spcAft>
              <a:buNone/>
            </a:pPr>
            <a:r>
              <a:t>Behavioral Health: no-shows 286, early-unfilled 85, late-unfilled 137, total 508/1500 = 33.9%</a:t>
            </a:r>
          </a:p>
          <a:p>
            <a:pPr marL="0" lvl="0" indent="0" algn="l">
              <a:spcBef>
                <a:spcPts val="0"/>
              </a:spcBef>
              <a:spcAft>
                <a:spcPts val="0"/>
              </a:spcAft>
              <a:buNone/>
            </a:pPr>
            <a:r>
              <a:t>Orthopedics: no-shows 111, early-unfilled 42, late-unfilled 67, total 220/1500 = 14.7%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synthetic_appointments.csv. Entirely simulated training data. One row is one original scheduled appointment. No-show rate uses all scheduled appointments, including cancellations. These observational comparisons do not establish causal effects.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buNone/>
              <a:defRPr sz="6000" b="1" i="0">
                <a:latin typeface="Lora SemiBold"/>
                <a:ea typeface="Lora SemiBold"/>
                <a:cs typeface="Lora SemiBold"/>
              </a:defRPr>
            </a:lvl1pPr>
          </a:lstStyle>
          <a:p>
            <a:r>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idx="3"/>
          </p:nvPr>
        </p:nvSpPr>
        <p:spPr>
          <a:xfrm>
            <a:off x="393699" y="6279294"/>
            <a:ext cx="8129411"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idx="3"/>
          </p:nvPr>
        </p:nvSpPr>
        <p:spPr>
          <a:xfrm>
            <a:off x="393700" y="6279294"/>
            <a:ext cx="8705144"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idx="3"/>
          </p:nvPr>
        </p:nvSpPr>
        <p:spPr>
          <a:xfrm>
            <a:off x="393700" y="6279294"/>
            <a:ext cx="7493000"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4826000"/>
            <a:ext cx="2595934" cy="1168400"/>
          </a:xfrm>
          <a:prstGeom prst="rect">
            <a:avLst/>
          </a:prstGeom>
        </p:spPr>
        <p:txBody>
          <a:bodyPr vert="horz" lIns="0" tIns="0" rIns="0" bIns="0">
            <a:normAutofit/>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idx="3"/>
          </p:nvPr>
        </p:nvSpPr>
        <p:spPr>
          <a:xfrm>
            <a:off x="393699" y="6279294"/>
            <a:ext cx="8466647"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idx="12"/>
          </p:nvPr>
        </p:nvSpPr>
        <p:spPr>
          <a:xfrm>
            <a:off x="3334966"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buNone/>
            </a:pPr>
            <a:r>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4826000"/>
            <a:ext cx="2595934" cy="1168400"/>
          </a:xfrm>
          <a:prstGeom prst="rect">
            <a:avLst/>
          </a:prstGeom>
        </p:spPr>
        <p:txBody>
          <a:bodyPr vert="horz" lIns="0" tIns="0" rIns="0" bIns="0">
            <a:normAutofit/>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idx="14"/>
          </p:nvPr>
        </p:nvSpPr>
        <p:spPr>
          <a:xfrm>
            <a:off x="9205679"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buNone/>
            </a:pPr>
            <a:r>
              <a:t>Click to edit Master</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idx="3"/>
          </p:nvPr>
        </p:nvSpPr>
        <p:spPr>
          <a:xfrm>
            <a:off x="393699" y="6279294"/>
            <a:ext cx="7361767"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idx="3"/>
          </p:nvPr>
        </p:nvSpPr>
        <p:spPr>
          <a:xfrm>
            <a:off x="393700" y="6279294"/>
            <a:ext cx="7587544"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a:normAutofit/>
          </a:bodyPr>
          <a:lstStyle/>
          <a:p>
            <a:pPr lvl="0">
              <a:buNone/>
            </a:pPr>
            <a:r>
              <a:t>Click to edit Master styles</a:t>
            </a:r>
          </a:p>
          <a:p>
            <a:pPr lvl="1">
              <a:buNone/>
            </a:pPr>
            <a:r>
              <a:t>Second level</a:t>
            </a:r>
          </a:p>
          <a:p>
            <a:pPr lvl="2">
              <a:buNone/>
            </a:pPr>
            <a:r>
              <a:t>Third level</a:t>
            </a:r>
          </a:p>
          <a:p>
            <a:pPr lvl="3">
              <a:buNone/>
            </a:pPr>
            <a:r>
              <a:t>Fourth level</a:t>
            </a:r>
          </a:p>
          <a:p>
            <a:pPr lvl="4">
              <a:buNone/>
            </a:pPr>
            <a:r>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idx="3"/>
          </p:nvPr>
        </p:nvSpPr>
        <p:spPr>
          <a:xfrm>
            <a:off x="393700" y="6279294"/>
            <a:ext cx="7531100"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dt="0"/>
  <p:txStyles>
    <p:titleStyle>
      <a:lvl1pPr algn="l" defTabSz="914400">
        <a:lnSpc>
          <a:spcPct val="90000"/>
        </a:lnSpc>
        <a:spcBef>
          <a:spcPct val="0"/>
        </a:spcBef>
        <a:buNone/>
        <a:defRPr sz="2900" b="1" i="0" kern="1200">
          <a:solidFill>
            <a:schemeClr val="tx1"/>
          </a:solidFill>
          <a:latin typeface="Lora SemiBold"/>
          <a:ea typeface="Lora SemiBold"/>
          <a:cs typeface="Lora SemiBold"/>
        </a:defRPr>
      </a:lvl1pPr>
    </p:titleStyle>
    <p:body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520"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6809B0-D483-45C1-B580-B57BB5CC520A}"/>
              </a:ext>
            </a:extLst>
          </p:cNvPr>
          <p:cNvSpPr>
            <a:spLocks noGrp="1"/>
          </p:cNvSpPr>
          <p:nvPr>
            <p:ph type="ctrTitle"/>
          </p:nvPr>
        </p:nvSpPr>
        <p:spPr>
          <a:xfrm>
            <a:off x="569969" y="1444887"/>
            <a:ext cx="9448800" cy="1726468"/>
          </a:xfrm>
        </p:spPr>
        <p:txBody>
          <a:bodyPr wrap="square" lIns="0" tIns="0" rIns="0" bIns="0" anchor="t">
            <a:noAutofit/>
          </a:bodyPr>
          <a:lstStyle/>
          <a:p>
            <a:pPr>
              <a:defRPr sz="5500" b="0">
                <a:solidFill>
                  <a:srgbClr val="3357B8"/>
                </a:solidFill>
                <a:latin typeface="Lora Medium"/>
                <a:ea typeface="Lora Medium"/>
                <a:cs typeface="Lora Medium"/>
              </a:defRPr>
            </a:pPr>
            <a:r>
              <a:rPr sz="5500" b="0">
                <a:solidFill>
                  <a:srgbClr val="3357B8"/>
                </a:solidFill>
                <a:latin typeface="Lora Medium"/>
                <a:ea typeface="Lora Medium"/>
                <a:cs typeface="Lora Medium"/>
              </a:rPr>
              <a:t>Booking patterns and appointment outcomes</a:t>
            </a:r>
          </a:p>
        </p:txBody>
      </p:sp>
      <p:sp>
        <p:nvSpPr>
          <p:cNvPr id="5" name="Subtitle 4">
            <a:extLst>
              <a:ext uri="{FF2B5EF4-FFF2-40B4-BE49-F238E27FC236}">
                <a16:creationId xmlns:a16="http://schemas.microsoft.com/office/drawing/2014/main" id="{7DD11E6E-01C0-D6E4-28D7-D7F6B94AF61C}"/>
              </a:ext>
            </a:extLst>
          </p:cNvPr>
          <p:cNvSpPr>
            <a:spLocks noGrp="1"/>
          </p:cNvSpPr>
          <p:nvPr>
            <p:ph type="subTitle" idx="1"/>
          </p:nvPr>
        </p:nvSpPr>
        <p:spPr>
          <a:xfrm>
            <a:off x="603019" y="5077241"/>
            <a:ext cx="6304556" cy="1076208"/>
          </a:xfrm>
          <a:prstGeom prst="rect">
            <a:avLst/>
          </a:prstGeom>
          <a:noFill/>
        </p:spPr>
        <p:txBody>
          <a:bodyPr wrap="square" lIns="0" tIns="0" rIns="0" bIns="0">
            <a:noAutofit/>
          </a:bodyPr>
          <a:lstStyle/>
          <a:p>
            <a:pPr>
              <a:lnSpc>
                <a:spcPct val="120000"/>
              </a:lnSpc>
              <a:buNone/>
              <a:defRPr sz="1400" b="0">
                <a:solidFill>
                  <a:srgbClr val="566070"/>
                </a:solidFill>
                <a:latin typeface="Roboto"/>
                <a:ea typeface="Roboto"/>
                <a:cs typeface="Roboto"/>
              </a:defRPr>
            </a:pPr>
            <a:r>
              <a:rPr sz="1400" b="0">
                <a:solidFill>
                  <a:srgbClr val="566070"/>
                </a:solidFill>
                <a:latin typeface="Roboto"/>
                <a:ea typeface="Roboto"/>
                <a:cs typeface="Roboto"/>
              </a:rPr>
              <a:t>Review attendance data and identify opportunities. 6,000 simulated appointments.</a:t>
            </a:r>
          </a:p>
        </p:txBody>
      </p:sp>
      <p:sp>
        <p:nvSpPr>
          <p:cNvPr id="6" name="Subtitle 4">
            <a:extLst>
              <a:ext uri="{FF2B5EF4-FFF2-40B4-BE49-F238E27FC236}">
                <a16:creationId xmlns:a16="http://schemas.microsoft.com/office/drawing/2014/main" id="{C66AB198-0518-67DE-AB81-D65264FDA20F}"/>
              </a:ext>
            </a:extLst>
          </p:cNvPr>
          <p:cNvSpPr>
            <a:spLocks noGrp="1"/>
          </p:cNvSpPr>
          <p:nvPr/>
        </p:nvSpPr>
        <p:spPr>
          <a:xfrm>
            <a:off x="603018" y="4606175"/>
            <a:ext cx="6304556" cy="320279"/>
          </a:xfrm>
          <a:prstGeom prst="rect">
            <a:avLst/>
          </a:prstGeom>
          <a:noFill/>
        </p:spPr>
        <p:txBody>
          <a:bodyPr vert="horz" wrap="square" lIns="0" tIns="0" rIns="0" bIns="0">
            <a:noAutofit/>
          </a:bodyPr>
          <a:lstStyle>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pPr>
              <a:defRPr sz="1600" b="0">
                <a:solidFill>
                  <a:srgbClr val="3357B8"/>
                </a:solidFill>
                <a:latin typeface="Roboto SemiBold"/>
                <a:ea typeface="Roboto SemiBold"/>
                <a:cs typeface="Roboto SemiBold"/>
              </a:defRPr>
            </a:pPr>
            <a:r>
              <a:rPr sz="1600" b="0">
                <a:solidFill>
                  <a:srgbClr val="3357B8"/>
                </a:solidFill>
                <a:latin typeface="Roboto SemiBold"/>
                <a:ea typeface="Roboto SemiBold"/>
                <a:cs typeface="Roboto SemiBold"/>
              </a:rPr>
              <a:t>Story 3  Attendance summary</a:t>
            </a:r>
          </a:p>
        </p:txBody>
      </p:sp>
      <p:sp>
        <p:nvSpPr>
          <p:cNvPr id="10" name="Subtitle 4">
            <a:extLst>
              <a:ext uri="{FF2B5EF4-FFF2-40B4-BE49-F238E27FC236}">
                <a16:creationId xmlns:a16="http://schemas.microsoft.com/office/drawing/2014/main" id="{CC2E0538-5645-7BC8-CF3A-FDF31FD97820}"/>
              </a:ext>
            </a:extLst>
          </p:cNvPr>
          <p:cNvSpPr>
            <a:spLocks noGrp="1"/>
          </p:cNvSpPr>
          <p:nvPr/>
        </p:nvSpPr>
        <p:spPr>
          <a:xfrm>
            <a:off x="603018" y="555606"/>
            <a:ext cx="3578411" cy="345178"/>
          </a:xfrm>
          <a:prstGeom prst="rect">
            <a:avLst/>
          </a:prstGeom>
        </p:spPr>
        <p:txBody>
          <a:bodyPr vert="horz" wrap="square" lIns="0" tIns="0" rIns="0" bIns="0">
            <a:noAutofit/>
          </a:bodyPr>
          <a:lstStyle>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pPr>
              <a:defRPr sz="1800" b="0">
                <a:solidFill>
                  <a:srgbClr val="A6ADB9"/>
                </a:solidFill>
                <a:latin typeface="Roboto Medium"/>
                <a:ea typeface="Roboto Medium"/>
                <a:cs typeface="Roboto Medium"/>
              </a:defRPr>
            </a:pPr>
            <a:r>
              <a:rPr sz="1800" b="0">
                <a:solidFill>
                  <a:srgbClr val="A6ADB9"/>
                </a:solidFill>
                <a:latin typeface="Roboto Medium"/>
                <a:ea typeface="Roboto Medium"/>
                <a:cs typeface="Roboto Medium"/>
              </a:rPr>
              <a:t>AHEC data storytelling challenge</a:t>
            </a:r>
          </a:p>
        </p:txBody>
      </p:sp>
      <p:sp>
        <p:nvSpPr>
          <p:cNvPr id="7" name="Straight Connector 6">
            <a:extLst>
              <a:ext uri="{FF2B5EF4-FFF2-40B4-BE49-F238E27FC236}">
                <a16:creationId xmlns:a16="http://schemas.microsoft.com/office/drawing/2014/main" id="{46E03047-ECA6-4E0B-854E-DA14714E6399}"/>
              </a:ext>
            </a:extLst>
          </p:cNvPr>
          <p:cNvSpPr>
            <a:spLocks noGrp="1"/>
          </p:cNvSpPr>
          <p:nvPr/>
        </p:nv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en-US"/>
          </a:p>
        </p:txBody>
      </p:sp>
    </p:spTree>
    <p:extLst>
      <p:ext uri="{BB962C8B-B14F-4D97-AF65-F5344CB8AC3E}">
        <p14:creationId xmlns:p14="http://schemas.microsoft.com/office/powerpoint/2010/main" val="1685088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E2598689-54C9-18A7-3A19-ED76AA08988F}" type="slidenum">
              <a:rPr sz="1100" b="0">
                <a:solidFill>
                  <a:srgbClr val="566070"/>
                </a:solidFill>
                <a:latin typeface="Roboto"/>
                <a:ea typeface="Roboto"/>
                <a:cs typeface="Roboto"/>
              </a:rPr>
              <a:t>2</a:t>
            </a:fld>
            <a:endParaRP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55026"/>
            <a:ext cx="7835900" cy="1029274"/>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Definitions and operational background</a:t>
            </a:r>
          </a:p>
        </p:txBody>
      </p:sp>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D051C064-2856-4137-8976-260B70F1B9B4}"/>
              </a:ext>
            </a:extLst>
          </p:cNvPr>
          <p:cNvSpPr>
            <a:spLocks noGrp="1"/>
          </p:cNvSpPr>
          <p:nvPr/>
        </p:nvSpPr>
        <p:spPr>
          <a:xfrm>
            <a:off x="393668" y="1310926"/>
            <a:ext cx="5537168" cy="719328"/>
          </a:xfrm>
          <a:prstGeom prst="rect">
            <a:avLst/>
          </a:prstGeom>
          <a:noFill/>
          <a:ln w="0">
            <a:noFill/>
          </a:ln>
        </p:spPr>
        <p:txBody>
          <a:bodyPr wrap="square" lIns="0" tIns="0" rIns="0" bIns="0">
            <a:noAutofit/>
          </a:bodyPr>
          <a:lstStyle/>
          <a:p>
            <a:pPr>
              <a:defRPr sz="2000" b="0">
                <a:solidFill>
                  <a:srgbClr val="222936"/>
                </a:solidFill>
                <a:latin typeface="Lora"/>
                <a:ea typeface="Lora"/>
                <a:cs typeface="Lora"/>
              </a:defRPr>
            </a:pPr>
            <a:r>
              <a:rPr sz="2000" b="0">
                <a:solidFill>
                  <a:srgbClr val="222936"/>
                </a:solidFill>
                <a:latin typeface="Lora"/>
                <a:ea typeface="Lora"/>
                <a:cs typeface="Lora"/>
              </a:rPr>
              <a:t>6,000 appointments. Some considerations for the review.</a:t>
            </a:r>
          </a:p>
        </p:txBody>
      </p:sp>
      <p:sp>
        <p:nvSpPr>
          <p:cNvPr id="535" name="Rectangle 534">
            <a:extLst>
              <a:ext uri="{FF2B5EF4-FFF2-40B4-BE49-F238E27FC236}">
                <a16:creationId xmlns:a16="http://schemas.microsoft.com/office/drawing/2014/main" id="{3FE69C36-53CA-449C-AE84-4E68AEFFDA4B}"/>
              </a:ext>
            </a:extLst>
          </p:cNvPr>
          <p:cNvSpPr>
            <a:spLocks noGrp="1"/>
          </p:cNvSpPr>
          <p:nvPr/>
        </p:nvSpPr>
        <p:spPr>
          <a:xfrm>
            <a:off x="393668" y="2192655"/>
            <a:ext cx="5537168" cy="3801713"/>
          </a:xfrm>
          <a:prstGeom prst="rect">
            <a:avLst/>
          </a:prstGeom>
          <a:noFill/>
          <a:ln w="0">
            <a:noFill/>
          </a:ln>
        </p:spPr>
        <p:txBody>
          <a:bodyPr wrap="square" lIns="0" tIns="0" rIns="0" bIns="0">
            <a:noAutofit/>
          </a:bodyPr>
          <a:lstStyle/>
          <a:p>
            <a:pPr>
              <a:defRPr sz="1600" b="0">
                <a:solidFill>
                  <a:srgbClr val="566070"/>
                </a:solidFill>
                <a:latin typeface="Roboto"/>
                <a:ea typeface="Roboto"/>
                <a:cs typeface="Roboto"/>
              </a:defRPr>
            </a:pPr>
            <a:r>
              <a:rPr sz="1600" b="0">
                <a:solidFill>
                  <a:srgbClr val="566070"/>
                </a:solidFill>
                <a:latin typeface="Roboto"/>
                <a:ea typeface="Roboto"/>
                <a:cs typeface="Roboto"/>
              </a:rPr>
              <a:t>Each row represents an originally scheduled appointment slot. The file records a completed visit, a no-show, an early cancellation, or a late cancellation. Early means at least 24 hours before the scheduled visit and late means less than 24 hours. Canceled slots may refill. The replacement appointment does not create a second row in this file. For this review, an unrecovered slot is a no-show or a canceled slot recorded as not refilled. The denominator for the unrecovered-slot rate is all originally scheduled slots.</a:t>
            </a:r>
          </a:p>
        </p:txBody>
      </p:sp>
      <p:sp>
        <p:nvSpPr>
          <p:cNvPr id="536" name="Rectangle 535">
            <a:extLst>
              <a:ext uri="{FF2B5EF4-FFF2-40B4-BE49-F238E27FC236}">
                <a16:creationId xmlns:a16="http://schemas.microsoft.com/office/drawing/2014/main" id="{30557F1D-D8B8-477A-9DD8-1EE202B1D69B}"/>
              </a:ext>
            </a:extLst>
          </p:cNvPr>
          <p:cNvSpPr>
            <a:spLocks noGrp="1"/>
          </p:cNvSpPr>
          <p:nvPr/>
        </p:nvSpPr>
        <p:spPr>
          <a:xfrm>
            <a:off x="6265069" y="2192655"/>
            <a:ext cx="5537168" cy="3801713"/>
          </a:xfrm>
          <a:prstGeom prst="rect">
            <a:avLst/>
          </a:prstGeom>
          <a:noFill/>
          <a:ln w="0">
            <a:noFill/>
          </a:ln>
        </p:spPr>
        <p:txBody>
          <a:bodyPr wrap="square" lIns="0" tIns="0" rIns="0" bIns="0">
            <a:noAutofit/>
          </a:bodyPr>
          <a:lstStyle/>
          <a:p>
            <a:pPr>
              <a:defRPr sz="1600" b="0">
                <a:solidFill>
                  <a:srgbClr val="566070"/>
                </a:solidFill>
                <a:latin typeface="Roboto"/>
                <a:ea typeface="Roboto"/>
                <a:cs typeface="Roboto"/>
              </a:defRPr>
            </a:pPr>
            <a:r>
              <a:rPr sz="1600" b="0">
                <a:solidFill>
                  <a:srgbClr val="566070"/>
                </a:solidFill>
                <a:latin typeface="Roboto"/>
                <a:ea typeface="Roboto"/>
                <a:cs typeface="Roboto"/>
              </a:rPr>
              <a:t>The denominator for refill rate is canceled slots only. These measures count appointments and cannot quantify clinician hours or financial losses. Specialties have different typical lead times, patient mixes, and refill patterns. Pooled lead-time comparisons may partly reflect those differences. An early cancellation that refills should not count as unrecovered capacity. These synthetic records can identify a service for closer review, but they cannot establish that shortening booking lead time would reduce losses or that a particular recovery process caused a higher refill rate.</a:t>
            </a:r>
          </a:p>
        </p:txBody>
      </p:sp>
    </p:spTree>
    <p:extLst>
      <p:ext uri="{BB962C8B-B14F-4D97-AF65-F5344CB8AC3E}">
        <p14:creationId xmlns:p14="http://schemas.microsoft.com/office/powerpoint/2010/main" val="546221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8C630A04-5A25-9E0C-9436-126091DB86B3}" type="slidenum">
              <a:rPr sz="1100" b="0">
                <a:solidFill>
                  <a:srgbClr val="566070"/>
                </a:solidFill>
                <a:latin typeface="Roboto"/>
                <a:ea typeface="Roboto"/>
                <a:cs typeface="Roboto"/>
              </a:rPr>
              <a:t>3</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393700" y="344008"/>
            <a:ext cx="7835900" cy="1040291"/>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Capacity report</a:t>
            </a:r>
            <a:endParaRPr>
              <a:solidFill>
                <a:schemeClr val="accent1"/>
              </a:solidFill>
            </a:endParaRPr>
          </a:p>
        </p:txBody>
      </p:sp>
      <p:sp>
        <p:nvSpPr>
          <p:cNvPr id="3" name="Footer Placeholder 2">
            <a:extLst>
              <a:ext uri="{FF2B5EF4-FFF2-40B4-BE49-F238E27FC236}">
                <a16:creationId xmlns:a16="http://schemas.microsoft.com/office/drawing/2014/main" id="{175B304C-27F3-8A33-E6D7-E2EFCA2F82B2}"/>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410C1323-AF07-4EB0-9572-7A926F1C92E3}"/>
              </a:ext>
            </a:extLst>
          </p:cNvPr>
          <p:cNvSpPr>
            <a:spLocks noGrp="1"/>
          </p:cNvSpPr>
          <p:nvPr/>
        </p:nvSpPr>
        <p:spPr>
          <a:xfrm>
            <a:off x="393668" y="1564862"/>
            <a:ext cx="3606832" cy="1095375"/>
          </a:xfrm>
          <a:prstGeom prst="rect">
            <a:avLst/>
          </a:prstGeom>
          <a:noFill/>
          <a:ln w="0">
            <a:noFill/>
          </a:ln>
        </p:spPr>
        <p:txBody>
          <a:bodyPr wrap="square" lIns="0" tIns="0" rIns="0" bIns="0">
            <a:noAutofit/>
          </a:bodyPr>
          <a:lstStyle/>
          <a:p>
            <a:pPr>
              <a:defRPr sz="1800" b="0">
                <a:solidFill>
                  <a:srgbClr val="222936"/>
                </a:solidFill>
                <a:latin typeface="Roboto"/>
                <a:ea typeface="Roboto"/>
                <a:cs typeface="Roboto"/>
              </a:defRPr>
            </a:pPr>
            <a:r>
              <a:rPr sz="1800" b="0">
                <a:solidFill>
                  <a:srgbClr val="222936"/>
                </a:solidFill>
                <a:latin typeface="Roboto"/>
                <a:ea typeface="Roboto"/>
                <a:cs typeface="Roboto"/>
              </a:rPr>
              <a:t>Report export</a:t>
            </a:r>
          </a:p>
        </p:txBody>
      </p:sp>
      <p:sp>
        <p:nvSpPr>
          <p:cNvPr id="535" name="Rectangle 534">
            <a:extLst>
              <a:ext uri="{FF2B5EF4-FFF2-40B4-BE49-F238E27FC236}">
                <a16:creationId xmlns:a16="http://schemas.microsoft.com/office/drawing/2014/main" id="{5554BD1F-2164-4270-8839-D00FB944853B}"/>
              </a:ext>
            </a:extLst>
          </p:cNvPr>
          <p:cNvSpPr>
            <a:spLocks noGrp="1"/>
          </p:cNvSpPr>
          <p:nvPr/>
        </p:nvSpPr>
        <p:spPr>
          <a:xfrm>
            <a:off x="393668" y="2774156"/>
            <a:ext cx="3606832" cy="3143250"/>
          </a:xfrm>
          <a:prstGeom prst="rect">
            <a:avLst/>
          </a:prstGeom>
          <a:noFill/>
          <a:ln w="0">
            <a:noFill/>
          </a:ln>
        </p:spPr>
        <p:txBody>
          <a:bodyPr wrap="square" lIns="0" tIns="0" rIns="0" bIns="0">
            <a:noAutofit/>
          </a:bodyPr>
          <a:lstStyle/>
          <a:p>
            <a:pPr>
              <a:defRPr sz="1400" b="0">
                <a:solidFill>
                  <a:srgbClr val="566070"/>
                </a:solidFill>
                <a:latin typeface="Roboto"/>
                <a:ea typeface="Roboto"/>
                <a:cs typeface="Roboto"/>
              </a:defRPr>
            </a:pPr>
            <a:r>
              <a:rPr sz="1400" b="0">
                <a:solidFill>
                  <a:srgbClr val="566070"/>
                </a:solidFill>
                <a:latin typeface="Roboto"/>
                <a:ea typeface="Roboto"/>
                <a:cs typeface="Roboto"/>
              </a:rPr>
              <a:t>Screenshot from an internal scheduling summary. Full detail is available in the CSV.</a:t>
            </a:r>
          </a:p>
        </p:txBody>
      </p:sp>
      <p:pic>
        <p:nvPicPr>
          <p:cNvPr id="542" name="Picture 541"/>
          <p:cNvPicPr>
            <a:picLocks noChangeAspect="1"/>
          </p:cNvPicPr>
          <p:nvPr/>
        </p:nvPicPr>
        <p:blipFill>
          <a:blip r:embed="rId3"/>
          <a:srcRect/>
          <a:stretch/>
        </p:blipFill>
        <p:spPr>
          <a:xfrm>
            <a:off x="4762500" y="2286000"/>
            <a:ext cx="6762750" cy="2476500"/>
          </a:xfrm>
          <a:prstGeom prst="rect">
            <a:avLst/>
          </a:prstGeom>
        </p:spPr>
      </p:pic>
    </p:spTree>
    <p:extLst>
      <p:ext uri="{BB962C8B-B14F-4D97-AF65-F5344CB8AC3E}">
        <p14:creationId xmlns:p14="http://schemas.microsoft.com/office/powerpoint/2010/main" val="2553894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D3D7D1C8-AE23-AA48-DF65-C742588DBE47}" type="slidenum">
              <a:rPr sz="1100" b="0">
                <a:solidFill>
                  <a:srgbClr val="566070"/>
                </a:solidFill>
                <a:latin typeface="Roboto"/>
                <a:ea typeface="Roboto"/>
                <a:cs typeface="Roboto"/>
              </a:rPr>
              <a:t>4</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393700" y="344008"/>
            <a:ext cx="7835900" cy="1040291"/>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Other volume information</a:t>
            </a:r>
            <a:endParaRPr>
              <a:solidFill>
                <a:schemeClr val="accent1"/>
              </a:solidFill>
            </a:endParaRPr>
          </a:p>
        </p:txBody>
      </p:sp>
      <p:sp>
        <p:nvSpPr>
          <p:cNvPr id="3" name="Footer Placeholder 2">
            <a:extLst>
              <a:ext uri="{FF2B5EF4-FFF2-40B4-BE49-F238E27FC236}">
                <a16:creationId xmlns:a16="http://schemas.microsoft.com/office/drawing/2014/main" id="{175B304C-27F3-8A33-E6D7-E2EFCA2F82B2}"/>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C9DBB4A4-2748-4243-BE5F-0FE0C8DA0075}"/>
              </a:ext>
            </a:extLst>
          </p:cNvPr>
          <p:cNvSpPr>
            <a:spLocks noGrp="1"/>
          </p:cNvSpPr>
          <p:nvPr/>
        </p:nvSpPr>
        <p:spPr>
          <a:xfrm>
            <a:off x="393668" y="1564862"/>
            <a:ext cx="3606832" cy="1095375"/>
          </a:xfrm>
          <a:prstGeom prst="rect">
            <a:avLst/>
          </a:prstGeom>
          <a:noFill/>
          <a:ln w="0">
            <a:noFill/>
          </a:ln>
        </p:spPr>
        <p:txBody>
          <a:bodyPr wrap="square" lIns="0" tIns="0" rIns="0" bIns="0">
            <a:noAutofit/>
          </a:bodyPr>
          <a:lstStyle/>
          <a:p>
            <a:pPr>
              <a:defRPr sz="1800" b="0">
                <a:solidFill>
                  <a:srgbClr val="222936"/>
                </a:solidFill>
                <a:latin typeface="Roboto"/>
                <a:ea typeface="Roboto"/>
                <a:cs typeface="Roboto"/>
              </a:defRPr>
            </a:pPr>
            <a:r>
              <a:rPr sz="1800" b="0">
                <a:solidFill>
                  <a:srgbClr val="222936"/>
                </a:solidFill>
                <a:latin typeface="Roboto"/>
                <a:ea typeface="Roboto"/>
                <a:cs typeface="Roboto"/>
              </a:rPr>
              <a:t>Monthly workload</a:t>
            </a:r>
          </a:p>
        </p:txBody>
      </p:sp>
      <p:sp>
        <p:nvSpPr>
          <p:cNvPr id="535" name="Rectangle 534">
            <a:extLst>
              <a:ext uri="{FF2B5EF4-FFF2-40B4-BE49-F238E27FC236}">
                <a16:creationId xmlns:a16="http://schemas.microsoft.com/office/drawing/2014/main" id="{D0B3538F-ACEF-48CD-902B-05558D957254}"/>
              </a:ext>
            </a:extLst>
          </p:cNvPr>
          <p:cNvSpPr>
            <a:spLocks noGrp="1"/>
          </p:cNvSpPr>
          <p:nvPr/>
        </p:nvSpPr>
        <p:spPr>
          <a:xfrm>
            <a:off x="393668" y="2774156"/>
            <a:ext cx="3606832" cy="3143250"/>
          </a:xfrm>
          <a:prstGeom prst="rect">
            <a:avLst/>
          </a:prstGeom>
          <a:noFill/>
          <a:ln w="0">
            <a:noFill/>
          </a:ln>
        </p:spPr>
        <p:txBody>
          <a:bodyPr wrap="square" lIns="0" tIns="0" rIns="0" bIns="0">
            <a:noAutofit/>
          </a:bodyPr>
          <a:lstStyle/>
          <a:p>
            <a:pPr>
              <a:defRPr sz="1400" b="0">
                <a:solidFill>
                  <a:srgbClr val="566070"/>
                </a:solidFill>
                <a:latin typeface="Roboto"/>
                <a:ea typeface="Roboto"/>
                <a:cs typeface="Roboto"/>
              </a:defRPr>
            </a:pPr>
            <a:r>
              <a:rPr sz="1400" b="0">
                <a:solidFill>
                  <a:srgbClr val="566070"/>
                </a:solidFill>
                <a:latin typeface="Roboto"/>
                <a:ea typeface="Roboto"/>
                <a:cs typeface="Roboto"/>
              </a:rPr>
              <a:t>January through December appointment volume. These numbers may be useful for another discussion.</a:t>
            </a:r>
          </a:p>
        </p:txBody>
      </p:sp>
      <p:graphicFrame>
        <p:nvGraphicFramePr>
          <p:cNvPr id="542" name="Table 541"/>
          <p:cNvGraphicFramePr/>
          <p:nvPr/>
        </p:nvGraphicFramePr>
        <p:xfrm>
          <a:off x="4752785" y="1549337"/>
          <a:ext cx="6777990" cy="4627818"/>
        </p:xfrm>
        <a:graphic>
          <a:graphicData uri="http://schemas.openxmlformats.org/drawingml/2006/table">
            <a:tbl>
              <a:tblPr/>
              <a:tblGrid>
                <a:gridCol w="3388995">
                  <a:extLst>
                    <a:ext uri="{9D8B030D-6E8A-4147-A177-3AD203B41FA5}">
                      <a16:colId xmlns:a16="http://schemas.microsoft.com/office/drawing/2014/main" val="20000"/>
                    </a:ext>
                  </a:extLst>
                </a:gridCol>
                <a:gridCol w="3388995">
                  <a:extLst>
                    <a:ext uri="{9D8B030D-6E8A-4147-A177-3AD203B41FA5}">
                      <a16:colId xmlns:a16="http://schemas.microsoft.com/office/drawing/2014/main" val="20001"/>
                    </a:ext>
                  </a:extLst>
                </a:gridCol>
              </a:tblGrid>
              <a:tr h="355986">
                <a:tc>
                  <a:txBody>
                    <a:bodyPr/>
                    <a:lstStyle/>
                    <a:p>
                      <a:r>
                        <a:rPr sz="1400" b="1">
                          <a:solidFill>
                            <a:srgbClr val="222936"/>
                          </a:solidFill>
                          <a:latin typeface="Roboto"/>
                          <a:ea typeface="Roboto"/>
                          <a:cs typeface="Roboto"/>
                        </a:rPr>
                        <a:t>Month</a:t>
                      </a:r>
                    </a:p>
                  </a:txBody>
                  <a:tcPr>
                    <a:solidFill>
                      <a:srgbClr val="C0C0C0"/>
                    </a:solidFill>
                  </a:tcPr>
                </a:tc>
                <a:tc>
                  <a:txBody>
                    <a:bodyPr/>
                    <a:lstStyle/>
                    <a:p>
                      <a:r>
                        <a:rPr sz="1400" b="1">
                          <a:solidFill>
                            <a:srgbClr val="222936"/>
                          </a:solidFill>
                          <a:latin typeface="Roboto"/>
                          <a:ea typeface="Roboto"/>
                          <a:cs typeface="Roboto"/>
                        </a:rPr>
                        <a:t>Scheduled</a:t>
                      </a:r>
                    </a:p>
                  </a:txBody>
                  <a:tcPr>
                    <a:solidFill>
                      <a:srgbClr val="C0C0C0"/>
                    </a:solidFill>
                  </a:tcPr>
                </a:tc>
                <a:extLst>
                  <a:ext uri="{0D108BD9-81ED-4DB2-BD59-A6C34878D82A}">
                    <a16:rowId xmlns:a16="http://schemas.microsoft.com/office/drawing/2014/main" val="10000"/>
                  </a:ext>
                </a:extLst>
              </a:tr>
              <a:tr h="355986">
                <a:tc>
                  <a:txBody>
                    <a:bodyPr/>
                    <a:lstStyle/>
                    <a:p>
                      <a:r>
                        <a:rPr sz="1400" b="0">
                          <a:solidFill>
                            <a:srgbClr val="222936"/>
                          </a:solidFill>
                          <a:latin typeface="Roboto"/>
                          <a:ea typeface="Roboto"/>
                          <a:cs typeface="Roboto"/>
                        </a:rPr>
                        <a:t>January</a:t>
                      </a:r>
                    </a:p>
                  </a:txBody>
                  <a:tcPr>
                    <a:solidFill>
                      <a:srgbClr val="FFFFFF"/>
                    </a:solidFill>
                  </a:tcPr>
                </a:tc>
                <a:tc>
                  <a:txBody>
                    <a:bodyPr/>
                    <a:lstStyle/>
                    <a:p>
                      <a:r>
                        <a:rPr sz="1400" b="0">
                          <a:solidFill>
                            <a:srgbClr val="222936"/>
                          </a:solidFill>
                          <a:latin typeface="Roboto"/>
                          <a:ea typeface="Roboto"/>
                          <a:cs typeface="Roboto"/>
                        </a:rPr>
                        <a:t>422</a:t>
                      </a:r>
                    </a:p>
                  </a:txBody>
                  <a:tcPr>
                    <a:solidFill>
                      <a:srgbClr val="FFFFFF"/>
                    </a:solidFill>
                  </a:tcPr>
                </a:tc>
                <a:extLst>
                  <a:ext uri="{0D108BD9-81ED-4DB2-BD59-A6C34878D82A}">
                    <a16:rowId xmlns:a16="http://schemas.microsoft.com/office/drawing/2014/main" val="10001"/>
                  </a:ext>
                </a:extLst>
              </a:tr>
              <a:tr h="355986">
                <a:tc>
                  <a:txBody>
                    <a:bodyPr/>
                    <a:lstStyle/>
                    <a:p>
                      <a:r>
                        <a:rPr sz="1400" b="0">
                          <a:solidFill>
                            <a:srgbClr val="222936"/>
                          </a:solidFill>
                          <a:latin typeface="Roboto"/>
                          <a:ea typeface="Roboto"/>
                          <a:cs typeface="Roboto"/>
                        </a:rPr>
                        <a:t>February</a:t>
                      </a:r>
                    </a:p>
                  </a:txBody>
                  <a:tcPr>
                    <a:solidFill>
                      <a:srgbClr val="FFFFFF"/>
                    </a:solidFill>
                  </a:tcPr>
                </a:tc>
                <a:tc>
                  <a:txBody>
                    <a:bodyPr/>
                    <a:lstStyle/>
                    <a:p>
                      <a:r>
                        <a:rPr sz="1400" b="0">
                          <a:solidFill>
                            <a:srgbClr val="222936"/>
                          </a:solidFill>
                          <a:latin typeface="Roboto"/>
                          <a:ea typeface="Roboto"/>
                          <a:cs typeface="Roboto"/>
                        </a:rPr>
                        <a:t>422</a:t>
                      </a:r>
                    </a:p>
                  </a:txBody>
                  <a:tcPr>
                    <a:solidFill>
                      <a:srgbClr val="FFFFFF"/>
                    </a:solidFill>
                  </a:tcPr>
                </a:tc>
                <a:extLst>
                  <a:ext uri="{0D108BD9-81ED-4DB2-BD59-A6C34878D82A}">
                    <a16:rowId xmlns:a16="http://schemas.microsoft.com/office/drawing/2014/main" val="10002"/>
                  </a:ext>
                </a:extLst>
              </a:tr>
              <a:tr h="355986">
                <a:tc>
                  <a:txBody>
                    <a:bodyPr/>
                    <a:lstStyle/>
                    <a:p>
                      <a:r>
                        <a:rPr sz="1400" b="0">
                          <a:solidFill>
                            <a:srgbClr val="222936"/>
                          </a:solidFill>
                          <a:latin typeface="Roboto"/>
                          <a:ea typeface="Roboto"/>
                          <a:cs typeface="Roboto"/>
                        </a:rPr>
                        <a:t>March</a:t>
                      </a:r>
                    </a:p>
                  </a:txBody>
                  <a:tcPr>
                    <a:solidFill>
                      <a:srgbClr val="FFFFFF"/>
                    </a:solidFill>
                  </a:tcPr>
                </a:tc>
                <a:tc>
                  <a:txBody>
                    <a:bodyPr/>
                    <a:lstStyle/>
                    <a:p>
                      <a:r>
                        <a:rPr sz="1400" b="0">
                          <a:solidFill>
                            <a:srgbClr val="222936"/>
                          </a:solidFill>
                          <a:latin typeface="Roboto"/>
                          <a:ea typeface="Roboto"/>
                          <a:cs typeface="Roboto"/>
                        </a:rPr>
                        <a:t>483</a:t>
                      </a:r>
                    </a:p>
                  </a:txBody>
                  <a:tcPr>
                    <a:solidFill>
                      <a:srgbClr val="FFFFFF"/>
                    </a:solidFill>
                  </a:tcPr>
                </a:tc>
                <a:extLst>
                  <a:ext uri="{0D108BD9-81ED-4DB2-BD59-A6C34878D82A}">
                    <a16:rowId xmlns:a16="http://schemas.microsoft.com/office/drawing/2014/main" val="10003"/>
                  </a:ext>
                </a:extLst>
              </a:tr>
              <a:tr h="355986">
                <a:tc>
                  <a:txBody>
                    <a:bodyPr/>
                    <a:lstStyle/>
                    <a:p>
                      <a:r>
                        <a:rPr sz="1400" b="0">
                          <a:solidFill>
                            <a:srgbClr val="222936"/>
                          </a:solidFill>
                          <a:latin typeface="Roboto"/>
                          <a:ea typeface="Roboto"/>
                          <a:cs typeface="Roboto"/>
                        </a:rPr>
                        <a:t>April</a:t>
                      </a:r>
                    </a:p>
                  </a:txBody>
                  <a:tcPr>
                    <a:solidFill>
                      <a:srgbClr val="FFFFFF"/>
                    </a:solidFill>
                  </a:tcPr>
                </a:tc>
                <a:tc>
                  <a:txBody>
                    <a:bodyPr/>
                    <a:lstStyle/>
                    <a:p>
                      <a:r>
                        <a:rPr sz="1400" b="0">
                          <a:solidFill>
                            <a:srgbClr val="222936"/>
                          </a:solidFill>
                          <a:latin typeface="Roboto"/>
                          <a:ea typeface="Roboto"/>
                          <a:cs typeface="Roboto"/>
                        </a:rPr>
                        <a:t>483</a:t>
                      </a:r>
                    </a:p>
                  </a:txBody>
                  <a:tcPr>
                    <a:solidFill>
                      <a:srgbClr val="FFFFFF"/>
                    </a:solidFill>
                  </a:tcPr>
                </a:tc>
                <a:extLst>
                  <a:ext uri="{0D108BD9-81ED-4DB2-BD59-A6C34878D82A}">
                    <a16:rowId xmlns:a16="http://schemas.microsoft.com/office/drawing/2014/main" val="10004"/>
                  </a:ext>
                </a:extLst>
              </a:tr>
              <a:tr h="355986">
                <a:tc>
                  <a:txBody>
                    <a:bodyPr/>
                    <a:lstStyle/>
                    <a:p>
                      <a:r>
                        <a:rPr sz="1400" b="0">
                          <a:solidFill>
                            <a:srgbClr val="222936"/>
                          </a:solidFill>
                          <a:latin typeface="Roboto"/>
                          <a:ea typeface="Roboto"/>
                          <a:cs typeface="Roboto"/>
                        </a:rPr>
                        <a:t>May</a:t>
                      </a:r>
                    </a:p>
                  </a:txBody>
                  <a:tcPr>
                    <a:solidFill>
                      <a:srgbClr val="FFFFFF"/>
                    </a:solidFill>
                  </a:tcPr>
                </a:tc>
                <a:tc>
                  <a:txBody>
                    <a:bodyPr/>
                    <a:lstStyle/>
                    <a:p>
                      <a:r>
                        <a:rPr sz="1400" b="0">
                          <a:solidFill>
                            <a:srgbClr val="222936"/>
                          </a:solidFill>
                          <a:latin typeface="Roboto"/>
                          <a:ea typeface="Roboto"/>
                          <a:cs typeface="Roboto"/>
                        </a:rPr>
                        <a:t>483</a:t>
                      </a:r>
                    </a:p>
                  </a:txBody>
                  <a:tcPr>
                    <a:solidFill>
                      <a:srgbClr val="FFFFFF"/>
                    </a:solidFill>
                  </a:tcPr>
                </a:tc>
                <a:extLst>
                  <a:ext uri="{0D108BD9-81ED-4DB2-BD59-A6C34878D82A}">
                    <a16:rowId xmlns:a16="http://schemas.microsoft.com/office/drawing/2014/main" val="10005"/>
                  </a:ext>
                </a:extLst>
              </a:tr>
              <a:tr h="355986">
                <a:tc>
                  <a:txBody>
                    <a:bodyPr/>
                    <a:lstStyle/>
                    <a:p>
                      <a:r>
                        <a:rPr sz="1400" b="0">
                          <a:solidFill>
                            <a:srgbClr val="222936"/>
                          </a:solidFill>
                          <a:latin typeface="Roboto"/>
                          <a:ea typeface="Roboto"/>
                          <a:cs typeface="Roboto"/>
                        </a:rPr>
                        <a:t>June</a:t>
                      </a:r>
                    </a:p>
                  </a:txBody>
                  <a:tcPr>
                    <a:solidFill>
                      <a:srgbClr val="FFFFFF"/>
                    </a:solidFill>
                  </a:tcPr>
                </a:tc>
                <a:tc>
                  <a:txBody>
                    <a:bodyPr/>
                    <a:lstStyle/>
                    <a:p>
                      <a:r>
                        <a:rPr sz="1400" b="0">
                          <a:solidFill>
                            <a:srgbClr val="222936"/>
                          </a:solidFill>
                          <a:latin typeface="Roboto"/>
                          <a:ea typeface="Roboto"/>
                          <a:cs typeface="Roboto"/>
                        </a:rPr>
                        <a:t>481</a:t>
                      </a:r>
                    </a:p>
                  </a:txBody>
                  <a:tcPr>
                    <a:solidFill>
                      <a:srgbClr val="FFFFFF"/>
                    </a:solidFill>
                  </a:tcPr>
                </a:tc>
                <a:extLst>
                  <a:ext uri="{0D108BD9-81ED-4DB2-BD59-A6C34878D82A}">
                    <a16:rowId xmlns:a16="http://schemas.microsoft.com/office/drawing/2014/main" val="10006"/>
                  </a:ext>
                </a:extLst>
              </a:tr>
              <a:tr h="355986">
                <a:tc>
                  <a:txBody>
                    <a:bodyPr/>
                    <a:lstStyle/>
                    <a:p>
                      <a:r>
                        <a:rPr sz="1400" b="0">
                          <a:solidFill>
                            <a:srgbClr val="222936"/>
                          </a:solidFill>
                          <a:latin typeface="Roboto"/>
                          <a:ea typeface="Roboto"/>
                          <a:cs typeface="Roboto"/>
                        </a:rPr>
                        <a:t>July</a:t>
                      </a:r>
                    </a:p>
                  </a:txBody>
                  <a:tcPr>
                    <a:solidFill>
                      <a:srgbClr val="FFFFFF"/>
                    </a:solidFill>
                  </a:tcPr>
                </a:tc>
                <a:tc>
                  <a:txBody>
                    <a:bodyPr/>
                    <a:lstStyle/>
                    <a:p>
                      <a:r>
                        <a:rPr sz="1400" b="0">
                          <a:solidFill>
                            <a:srgbClr val="222936"/>
                          </a:solidFill>
                          <a:latin typeface="Roboto"/>
                          <a:ea typeface="Roboto"/>
                          <a:cs typeface="Roboto"/>
                        </a:rPr>
                        <a:t>418</a:t>
                      </a:r>
                    </a:p>
                  </a:txBody>
                  <a:tcPr>
                    <a:solidFill>
                      <a:srgbClr val="FFFFFF"/>
                    </a:solidFill>
                  </a:tcPr>
                </a:tc>
                <a:extLst>
                  <a:ext uri="{0D108BD9-81ED-4DB2-BD59-A6C34878D82A}">
                    <a16:rowId xmlns:a16="http://schemas.microsoft.com/office/drawing/2014/main" val="10007"/>
                  </a:ext>
                </a:extLst>
              </a:tr>
              <a:tr h="355986">
                <a:tc>
                  <a:txBody>
                    <a:bodyPr/>
                    <a:lstStyle/>
                    <a:p>
                      <a:r>
                        <a:rPr sz="1400" b="0">
                          <a:solidFill>
                            <a:srgbClr val="222936"/>
                          </a:solidFill>
                          <a:latin typeface="Roboto"/>
                          <a:ea typeface="Roboto"/>
                          <a:cs typeface="Roboto"/>
                        </a:rPr>
                        <a:t>August</a:t>
                      </a:r>
                    </a:p>
                  </a:txBody>
                  <a:tcPr>
                    <a:solidFill>
                      <a:srgbClr val="FFFFFF"/>
                    </a:solidFill>
                  </a:tcPr>
                </a:tc>
                <a:tc>
                  <a:txBody>
                    <a:bodyPr/>
                    <a:lstStyle/>
                    <a:p>
                      <a:r>
                        <a:rPr sz="1400" b="0">
                          <a:solidFill>
                            <a:srgbClr val="222936"/>
                          </a:solidFill>
                          <a:latin typeface="Roboto"/>
                          <a:ea typeface="Roboto"/>
                          <a:cs typeface="Roboto"/>
                        </a:rPr>
                        <a:t>478</a:t>
                      </a:r>
                    </a:p>
                  </a:txBody>
                  <a:tcPr>
                    <a:solidFill>
                      <a:srgbClr val="FFFFFF"/>
                    </a:solidFill>
                  </a:tcPr>
                </a:tc>
                <a:extLst>
                  <a:ext uri="{0D108BD9-81ED-4DB2-BD59-A6C34878D82A}">
                    <a16:rowId xmlns:a16="http://schemas.microsoft.com/office/drawing/2014/main" val="10008"/>
                  </a:ext>
                </a:extLst>
              </a:tr>
              <a:tr h="355986">
                <a:tc>
                  <a:txBody>
                    <a:bodyPr/>
                    <a:lstStyle/>
                    <a:p>
                      <a:r>
                        <a:rPr sz="1400" b="0">
                          <a:solidFill>
                            <a:srgbClr val="222936"/>
                          </a:solidFill>
                          <a:latin typeface="Roboto"/>
                          <a:ea typeface="Roboto"/>
                          <a:cs typeface="Roboto"/>
                        </a:rPr>
                        <a:t>September</a:t>
                      </a:r>
                    </a:p>
                  </a:txBody>
                  <a:tcPr>
                    <a:solidFill>
                      <a:srgbClr val="FFFFFF"/>
                    </a:solidFill>
                  </a:tcPr>
                </a:tc>
                <a:tc>
                  <a:txBody>
                    <a:bodyPr/>
                    <a:lstStyle/>
                    <a:p>
                      <a:r>
                        <a:rPr sz="1400" b="0">
                          <a:solidFill>
                            <a:srgbClr val="222936"/>
                          </a:solidFill>
                          <a:latin typeface="Roboto"/>
                          <a:ea typeface="Roboto"/>
                          <a:cs typeface="Roboto"/>
                        </a:rPr>
                        <a:t>658</a:t>
                      </a:r>
                    </a:p>
                  </a:txBody>
                  <a:tcPr>
                    <a:solidFill>
                      <a:srgbClr val="FFFFFF"/>
                    </a:solidFill>
                  </a:tcPr>
                </a:tc>
                <a:extLst>
                  <a:ext uri="{0D108BD9-81ED-4DB2-BD59-A6C34878D82A}">
                    <a16:rowId xmlns:a16="http://schemas.microsoft.com/office/drawing/2014/main" val="10009"/>
                  </a:ext>
                </a:extLst>
              </a:tr>
              <a:tr h="355986">
                <a:tc>
                  <a:txBody>
                    <a:bodyPr/>
                    <a:lstStyle/>
                    <a:p>
                      <a:r>
                        <a:rPr sz="1400" b="0">
                          <a:solidFill>
                            <a:srgbClr val="222936"/>
                          </a:solidFill>
                          <a:latin typeface="Roboto"/>
                          <a:ea typeface="Roboto"/>
                          <a:cs typeface="Roboto"/>
                        </a:rPr>
                        <a:t>October</a:t>
                      </a:r>
                    </a:p>
                  </a:txBody>
                  <a:tcPr>
                    <a:solidFill>
                      <a:srgbClr val="FFFFFF"/>
                    </a:solidFill>
                  </a:tcPr>
                </a:tc>
                <a:tc>
                  <a:txBody>
                    <a:bodyPr/>
                    <a:lstStyle/>
                    <a:p>
                      <a:r>
                        <a:rPr sz="1400" b="0">
                          <a:solidFill>
                            <a:srgbClr val="222936"/>
                          </a:solidFill>
                          <a:latin typeface="Roboto"/>
                          <a:ea typeface="Roboto"/>
                          <a:cs typeface="Roboto"/>
                        </a:rPr>
                        <a:t>657</a:t>
                      </a:r>
                    </a:p>
                  </a:txBody>
                  <a:tcPr>
                    <a:solidFill>
                      <a:srgbClr val="FFFFFF"/>
                    </a:solidFill>
                  </a:tcPr>
                </a:tc>
                <a:extLst>
                  <a:ext uri="{0D108BD9-81ED-4DB2-BD59-A6C34878D82A}">
                    <a16:rowId xmlns:a16="http://schemas.microsoft.com/office/drawing/2014/main" val="10010"/>
                  </a:ext>
                </a:extLst>
              </a:tr>
              <a:tr h="355986">
                <a:tc>
                  <a:txBody>
                    <a:bodyPr/>
                    <a:lstStyle/>
                    <a:p>
                      <a:r>
                        <a:rPr sz="1400" b="0">
                          <a:solidFill>
                            <a:srgbClr val="222936"/>
                          </a:solidFill>
                          <a:latin typeface="Roboto"/>
                          <a:ea typeface="Roboto"/>
                          <a:cs typeface="Roboto"/>
                        </a:rPr>
                        <a:t>November</a:t>
                      </a:r>
                    </a:p>
                  </a:txBody>
                  <a:tcPr>
                    <a:solidFill>
                      <a:srgbClr val="FFFFFF"/>
                    </a:solidFill>
                  </a:tcPr>
                </a:tc>
                <a:tc>
                  <a:txBody>
                    <a:bodyPr/>
                    <a:lstStyle/>
                    <a:p>
                      <a:r>
                        <a:rPr sz="1400" b="0">
                          <a:solidFill>
                            <a:srgbClr val="222936"/>
                          </a:solidFill>
                          <a:latin typeface="Roboto"/>
                          <a:ea typeface="Roboto"/>
                          <a:cs typeface="Roboto"/>
                        </a:rPr>
                        <a:t>538</a:t>
                      </a:r>
                    </a:p>
                  </a:txBody>
                  <a:tcPr>
                    <a:solidFill>
                      <a:srgbClr val="FFFFFF"/>
                    </a:solidFill>
                  </a:tcPr>
                </a:tc>
                <a:extLst>
                  <a:ext uri="{0D108BD9-81ED-4DB2-BD59-A6C34878D82A}">
                    <a16:rowId xmlns:a16="http://schemas.microsoft.com/office/drawing/2014/main" val="10011"/>
                  </a:ext>
                </a:extLst>
              </a:tr>
              <a:tr h="355986">
                <a:tc>
                  <a:txBody>
                    <a:bodyPr/>
                    <a:lstStyle/>
                    <a:p>
                      <a:r>
                        <a:rPr sz="1400" b="0">
                          <a:solidFill>
                            <a:srgbClr val="222936"/>
                          </a:solidFill>
                          <a:latin typeface="Roboto"/>
                          <a:ea typeface="Roboto"/>
                          <a:cs typeface="Roboto"/>
                        </a:rPr>
                        <a:t>December</a:t>
                      </a:r>
                    </a:p>
                  </a:txBody>
                  <a:tcPr>
                    <a:solidFill>
                      <a:srgbClr val="FFFFFF"/>
                    </a:solidFill>
                  </a:tcPr>
                </a:tc>
                <a:tc>
                  <a:txBody>
                    <a:bodyPr/>
                    <a:lstStyle/>
                    <a:p>
                      <a:r>
                        <a:rPr sz="1400" b="0">
                          <a:solidFill>
                            <a:srgbClr val="222936"/>
                          </a:solidFill>
                          <a:latin typeface="Roboto"/>
                          <a:ea typeface="Roboto"/>
                          <a:cs typeface="Roboto"/>
                        </a:rPr>
                        <a:t>477</a:t>
                      </a:r>
                    </a:p>
                  </a:txBody>
                  <a:tcPr>
                    <a:solidFill>
                      <a:srgbClr val="FFFFFF"/>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553894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202359C0-8A7A-196E-DD58-8E6569619F09}" type="slidenum">
              <a:rPr sz="1100" b="0">
                <a:solidFill>
                  <a:srgbClr val="566070"/>
                </a:solidFill>
                <a:latin typeface="Roboto"/>
                <a:ea typeface="Roboto"/>
                <a:cs typeface="Roboto"/>
              </a:rPr>
              <a:t>5</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393700" y="344008"/>
            <a:ext cx="7835900" cy="1040291"/>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Lead-time results</a:t>
            </a:r>
            <a:endParaRPr>
              <a:solidFill>
                <a:schemeClr val="accent1"/>
              </a:solidFill>
            </a:endParaRPr>
          </a:p>
        </p:txBody>
      </p:sp>
      <p:sp>
        <p:nvSpPr>
          <p:cNvPr id="3" name="Footer Placeholder 2">
            <a:extLst>
              <a:ext uri="{FF2B5EF4-FFF2-40B4-BE49-F238E27FC236}">
                <a16:creationId xmlns:a16="http://schemas.microsoft.com/office/drawing/2014/main" id="{175B304C-27F3-8A33-E6D7-E2EFCA2F82B2}"/>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D7BE08BE-C2CB-4B96-B08A-57F436AB16EB}"/>
              </a:ext>
            </a:extLst>
          </p:cNvPr>
          <p:cNvSpPr>
            <a:spLocks noGrp="1"/>
          </p:cNvSpPr>
          <p:nvPr/>
        </p:nvSpPr>
        <p:spPr>
          <a:xfrm>
            <a:off x="393668" y="1564862"/>
            <a:ext cx="3606832" cy="1095375"/>
          </a:xfrm>
          <a:prstGeom prst="rect">
            <a:avLst/>
          </a:prstGeom>
          <a:noFill/>
          <a:ln w="0">
            <a:noFill/>
          </a:ln>
        </p:spPr>
        <p:txBody>
          <a:bodyPr wrap="square" lIns="0" tIns="0" rIns="0" bIns="0">
            <a:noAutofit/>
          </a:bodyPr>
          <a:lstStyle/>
          <a:p>
            <a:pPr>
              <a:defRPr sz="1800" b="0">
                <a:solidFill>
                  <a:srgbClr val="222936"/>
                </a:solidFill>
                <a:latin typeface="Roboto"/>
                <a:ea typeface="Roboto"/>
                <a:cs typeface="Roboto"/>
              </a:defRPr>
            </a:pPr>
            <a:r>
              <a:rPr sz="1800" b="0">
                <a:solidFill>
                  <a:srgbClr val="222936"/>
                </a:solidFill>
                <a:latin typeface="Roboto"/>
                <a:ea typeface="Roboto"/>
                <a:cs typeface="Roboto"/>
              </a:rPr>
              <a:t>Booking intervals</a:t>
            </a:r>
          </a:p>
        </p:txBody>
      </p:sp>
      <p:sp>
        <p:nvSpPr>
          <p:cNvPr id="535" name="Rectangle 534">
            <a:extLst>
              <a:ext uri="{FF2B5EF4-FFF2-40B4-BE49-F238E27FC236}">
                <a16:creationId xmlns:a16="http://schemas.microsoft.com/office/drawing/2014/main" id="{B4E50C7E-B487-44C2-88E9-1C451D65ADE1}"/>
              </a:ext>
            </a:extLst>
          </p:cNvPr>
          <p:cNvSpPr>
            <a:spLocks noGrp="1"/>
          </p:cNvSpPr>
          <p:nvPr/>
        </p:nvSpPr>
        <p:spPr>
          <a:xfrm>
            <a:off x="393668" y="2774156"/>
            <a:ext cx="3606832" cy="3143250"/>
          </a:xfrm>
          <a:prstGeom prst="rect">
            <a:avLst/>
          </a:prstGeom>
          <a:noFill/>
          <a:ln w="0">
            <a:noFill/>
          </a:ln>
        </p:spPr>
        <p:txBody>
          <a:bodyPr wrap="square" lIns="0" tIns="0" rIns="0" bIns="0">
            <a:noAutofit/>
          </a:bodyPr>
          <a:lstStyle/>
          <a:p>
            <a:pPr>
              <a:defRPr sz="1400" b="0">
                <a:solidFill>
                  <a:srgbClr val="566070"/>
                </a:solidFill>
                <a:latin typeface="Roboto"/>
                <a:ea typeface="Roboto"/>
                <a:cs typeface="Roboto"/>
              </a:defRPr>
            </a:pPr>
            <a:r>
              <a:rPr sz="1400" b="0">
                <a:solidFill>
                  <a:srgbClr val="566070"/>
                </a:solidFill>
                <a:latin typeface="Roboto"/>
                <a:ea typeface="Roboto"/>
                <a:cs typeface="Roboto"/>
              </a:rPr>
              <a:t>Rates are shown for several lead-time bands.</a:t>
            </a:r>
          </a:p>
        </p:txBody>
      </p:sp>
      <p:graphicFrame>
        <p:nvGraphicFramePr>
          <p:cNvPr id="542" name="Chart"/>
          <p:cNvGraphicFramePr/>
          <p:nvPr/>
        </p:nvGraphicFramePr>
        <p:xfrm>
          <a:off x="4752785" y="1549337"/>
          <a:ext cx="6777990" cy="462781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53894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EFD6AB9A-5F9E-5F59-51AB-3C8734130965}" type="slidenum">
              <a:rPr sz="1100" b="0">
                <a:solidFill>
                  <a:srgbClr val="566070"/>
                </a:solidFill>
                <a:latin typeface="Roboto"/>
                <a:ea typeface="Roboto"/>
                <a:cs typeface="Roboto"/>
              </a:rPr>
              <a:t>6</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393700" y="344008"/>
            <a:ext cx="7835900" cy="1040291"/>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Specialty comparisons</a:t>
            </a:r>
            <a:endParaRPr>
              <a:solidFill>
                <a:schemeClr val="accent1"/>
              </a:solidFill>
            </a:endParaRPr>
          </a:p>
        </p:txBody>
      </p:sp>
      <p:sp>
        <p:nvSpPr>
          <p:cNvPr id="3" name="Footer Placeholder 2">
            <a:extLst>
              <a:ext uri="{FF2B5EF4-FFF2-40B4-BE49-F238E27FC236}">
                <a16:creationId xmlns:a16="http://schemas.microsoft.com/office/drawing/2014/main" id="{175B304C-27F3-8A33-E6D7-E2EFCA2F82B2}"/>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4E117D90-C758-4753-824C-B25D8EB12DEF}"/>
              </a:ext>
            </a:extLst>
          </p:cNvPr>
          <p:cNvSpPr>
            <a:spLocks noGrp="1"/>
          </p:cNvSpPr>
          <p:nvPr/>
        </p:nvSpPr>
        <p:spPr>
          <a:xfrm>
            <a:off x="393668" y="1564862"/>
            <a:ext cx="3606832" cy="1095375"/>
          </a:xfrm>
          <a:prstGeom prst="rect">
            <a:avLst/>
          </a:prstGeom>
          <a:noFill/>
          <a:ln w="0">
            <a:noFill/>
          </a:ln>
        </p:spPr>
        <p:txBody>
          <a:bodyPr wrap="square" lIns="0" tIns="0" rIns="0" bIns="0">
            <a:noAutofit/>
          </a:bodyPr>
          <a:lstStyle/>
          <a:p>
            <a:pPr>
              <a:defRPr sz="1800" b="0">
                <a:solidFill>
                  <a:srgbClr val="222936"/>
                </a:solidFill>
                <a:latin typeface="Roboto"/>
                <a:ea typeface="Roboto"/>
                <a:cs typeface="Roboto"/>
              </a:defRPr>
            </a:pPr>
            <a:r>
              <a:rPr sz="1800" b="0">
                <a:solidFill>
                  <a:srgbClr val="222936"/>
                </a:solidFill>
                <a:latin typeface="Roboto"/>
                <a:ea typeface="Roboto"/>
                <a:cs typeface="Roboto"/>
              </a:rPr>
              <a:t>A more detailed comparison</a:t>
            </a:r>
          </a:p>
        </p:txBody>
      </p:sp>
      <p:sp>
        <p:nvSpPr>
          <p:cNvPr id="535" name="Rectangle 534">
            <a:extLst>
              <a:ext uri="{FF2B5EF4-FFF2-40B4-BE49-F238E27FC236}">
                <a16:creationId xmlns:a16="http://schemas.microsoft.com/office/drawing/2014/main" id="{BE575DA3-0B8E-4C8D-98E9-381860844355}"/>
              </a:ext>
            </a:extLst>
          </p:cNvPr>
          <p:cNvSpPr>
            <a:spLocks noGrp="1"/>
          </p:cNvSpPr>
          <p:nvPr/>
        </p:nvSpPr>
        <p:spPr>
          <a:xfrm>
            <a:off x="393668" y="2774156"/>
            <a:ext cx="3606832" cy="3143250"/>
          </a:xfrm>
          <a:prstGeom prst="rect">
            <a:avLst/>
          </a:prstGeom>
          <a:noFill/>
          <a:ln w="0">
            <a:noFill/>
          </a:ln>
        </p:spPr>
        <p:txBody>
          <a:bodyPr wrap="square" lIns="0" tIns="0" rIns="0" bIns="0">
            <a:noAutofit/>
          </a:bodyPr>
          <a:lstStyle/>
          <a:p>
            <a:pPr>
              <a:defRPr sz="1400" b="0">
                <a:solidFill>
                  <a:srgbClr val="566070"/>
                </a:solidFill>
                <a:latin typeface="Roboto"/>
                <a:ea typeface="Roboto"/>
                <a:cs typeface="Roboto"/>
              </a:defRPr>
            </a:pPr>
            <a:r>
              <a:rPr sz="1400" b="0">
                <a:solidFill>
                  <a:srgbClr val="566070"/>
                </a:solidFill>
                <a:latin typeface="Roboto"/>
                <a:ea typeface="Roboto"/>
                <a:cs typeface="Roboto"/>
              </a:rPr>
              <a:t>The chart gives additional outcomes by service and lead-time band.</a:t>
            </a:r>
          </a:p>
        </p:txBody>
      </p:sp>
      <p:graphicFrame>
        <p:nvGraphicFramePr>
          <p:cNvPr id="542" name="Chart"/>
          <p:cNvGraphicFramePr/>
          <p:nvPr/>
        </p:nvGraphicFramePr>
        <p:xfrm>
          <a:off x="4752785" y="1549337"/>
          <a:ext cx="6777990" cy="462781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53894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EE5B3003-2C54-13C6-9832-7637201064DE}" type="slidenum">
              <a:rPr sz="1100" b="0">
                <a:solidFill>
                  <a:srgbClr val="566070"/>
                </a:solidFill>
                <a:latin typeface="Roboto"/>
                <a:ea typeface="Roboto"/>
                <a:cs typeface="Roboto"/>
              </a:rPr>
              <a:t>7</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393700" y="344008"/>
            <a:ext cx="7835900" cy="1040291"/>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Outcome breakdown</a:t>
            </a:r>
            <a:endParaRPr>
              <a:solidFill>
                <a:schemeClr val="accent1"/>
              </a:solidFill>
            </a:endParaRPr>
          </a:p>
        </p:txBody>
      </p:sp>
      <p:sp>
        <p:nvSpPr>
          <p:cNvPr id="3" name="Footer Placeholder 2">
            <a:extLst>
              <a:ext uri="{FF2B5EF4-FFF2-40B4-BE49-F238E27FC236}">
                <a16:creationId xmlns:a16="http://schemas.microsoft.com/office/drawing/2014/main" id="{175B304C-27F3-8A33-E6D7-E2EFCA2F82B2}"/>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8E2BE059-EBFA-4C2B-8A34-E0AF401EFA9B}"/>
              </a:ext>
            </a:extLst>
          </p:cNvPr>
          <p:cNvSpPr>
            <a:spLocks noGrp="1"/>
          </p:cNvSpPr>
          <p:nvPr/>
        </p:nvSpPr>
        <p:spPr>
          <a:xfrm>
            <a:off x="393668" y="1564862"/>
            <a:ext cx="3606832" cy="1095375"/>
          </a:xfrm>
          <a:prstGeom prst="rect">
            <a:avLst/>
          </a:prstGeom>
          <a:noFill/>
          <a:ln w="0">
            <a:noFill/>
          </a:ln>
        </p:spPr>
        <p:txBody>
          <a:bodyPr wrap="square" lIns="0" tIns="0" rIns="0" bIns="0">
            <a:noAutofit/>
          </a:bodyPr>
          <a:lstStyle/>
          <a:p>
            <a:pPr>
              <a:defRPr sz="1800" b="0">
                <a:solidFill>
                  <a:srgbClr val="222936"/>
                </a:solidFill>
                <a:latin typeface="Roboto"/>
                <a:ea typeface="Roboto"/>
                <a:cs typeface="Roboto"/>
              </a:defRPr>
            </a:pPr>
            <a:r>
              <a:rPr sz="1800" b="0">
                <a:solidFill>
                  <a:srgbClr val="222936"/>
                </a:solidFill>
                <a:latin typeface="Roboto"/>
                <a:ea typeface="Roboto"/>
                <a:cs typeface="Roboto"/>
              </a:rPr>
              <a:t>Several outcomes</a:t>
            </a:r>
          </a:p>
        </p:txBody>
      </p:sp>
      <p:sp>
        <p:nvSpPr>
          <p:cNvPr id="535" name="Rectangle 534">
            <a:extLst>
              <a:ext uri="{FF2B5EF4-FFF2-40B4-BE49-F238E27FC236}">
                <a16:creationId xmlns:a16="http://schemas.microsoft.com/office/drawing/2014/main" id="{9A4F8432-85F0-46E5-8FFE-A1C9D75A8923}"/>
              </a:ext>
            </a:extLst>
          </p:cNvPr>
          <p:cNvSpPr>
            <a:spLocks noGrp="1"/>
          </p:cNvSpPr>
          <p:nvPr/>
        </p:nvSpPr>
        <p:spPr>
          <a:xfrm>
            <a:off x="393668" y="2774156"/>
            <a:ext cx="3606832" cy="3143250"/>
          </a:xfrm>
          <a:prstGeom prst="rect">
            <a:avLst/>
          </a:prstGeom>
          <a:noFill/>
          <a:ln w="0">
            <a:noFill/>
          </a:ln>
        </p:spPr>
        <p:txBody>
          <a:bodyPr wrap="square" lIns="0" tIns="0" rIns="0" bIns="0">
            <a:noAutofit/>
          </a:bodyPr>
          <a:lstStyle/>
          <a:p>
            <a:pPr>
              <a:defRPr sz="1400" b="0">
                <a:solidFill>
                  <a:srgbClr val="566070"/>
                </a:solidFill>
                <a:latin typeface="Roboto"/>
                <a:ea typeface="Roboto"/>
                <a:cs typeface="Roboto"/>
              </a:defRPr>
            </a:pPr>
            <a:r>
              <a:rPr sz="1400" b="0">
                <a:solidFill>
                  <a:srgbClr val="566070"/>
                </a:solidFill>
                <a:latin typeface="Roboto"/>
                <a:ea typeface="Roboto"/>
                <a:cs typeface="Roboto"/>
              </a:rPr>
              <a:t>Multiple appointment outcomes are included.</a:t>
            </a:r>
          </a:p>
        </p:txBody>
      </p:sp>
      <p:graphicFrame>
        <p:nvGraphicFramePr>
          <p:cNvPr id="542" name="Chart"/>
          <p:cNvGraphicFramePr/>
          <p:nvPr/>
        </p:nvGraphicFramePr>
        <p:xfrm>
          <a:off x="4752785" y="1549337"/>
          <a:ext cx="6777990" cy="462781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53894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011EE4-C416-3EA2-180D-62404CE47D07}"/>
              </a:ext>
            </a:extLst>
          </p:cNvPr>
          <p:cNvSpPr>
            <a:spLocks noGrp="1"/>
          </p:cNvSpPr>
          <p:nvPr>
            <p:ph type="ctrTitle"/>
          </p:nvPr>
        </p:nvSpPr>
        <p:spPr>
          <a:xfrm>
            <a:off x="393700" y="937510"/>
            <a:ext cx="9448800" cy="2491490"/>
          </a:xfrm>
        </p:spPr>
        <p:txBody>
          <a:bodyPr wrap="square" lIns="0" tIns="0" rIns="0" bIns="0">
            <a:noAutofit/>
          </a:bodyPr>
          <a:lstStyle/>
          <a:p>
            <a:pPr>
              <a:defRPr sz="5500" b="0">
                <a:solidFill>
                  <a:srgbClr val="3357B8"/>
                </a:solidFill>
                <a:latin typeface="Lora SemiBold"/>
                <a:ea typeface="Lora SemiBold"/>
                <a:cs typeface="Lora SemiBold"/>
              </a:defRPr>
            </a:pPr>
            <a:r>
              <a:rPr sz="5500" b="0">
                <a:solidFill>
                  <a:srgbClr val="3357B8"/>
                </a:solidFill>
                <a:latin typeface="Lora SemiBold"/>
                <a:ea typeface="Lora SemiBold"/>
                <a:cs typeface="Lora SemiBold"/>
              </a:rPr>
              <a:t>Summary and next steps</a:t>
            </a:r>
          </a:p>
        </p:txBody>
      </p:sp>
      <p:sp>
        <p:nvSpPr>
          <p:cNvPr id="5" name="Subtitle 4">
            <a:extLst>
              <a:ext uri="{FF2B5EF4-FFF2-40B4-BE49-F238E27FC236}">
                <a16:creationId xmlns:a16="http://schemas.microsoft.com/office/drawing/2014/main" id="{119B400D-E218-8301-7E00-C5A55230DE5D}"/>
              </a:ext>
            </a:extLst>
          </p:cNvPr>
          <p:cNvSpPr>
            <a:spLocks noGrp="1"/>
          </p:cNvSpPr>
          <p:nvPr>
            <p:ph type="subTitle" idx="1"/>
          </p:nvPr>
        </p:nvSpPr>
        <p:spPr>
          <a:xfrm>
            <a:off x="441201" y="4532466"/>
            <a:ext cx="6458364" cy="1388024"/>
          </a:xfrm>
        </p:spPr>
        <p:txBody>
          <a:bodyPr wrap="square" lIns="0" tIns="0" rIns="0" bIns="0">
            <a:noAutofit/>
          </a:bodyPr>
          <a:lstStyle/>
          <a:p>
            <a:pPr>
              <a:lnSpc>
                <a:spcPct val="120000"/>
              </a:lnSpc>
              <a:buNone/>
              <a:defRPr sz="1800" b="0">
                <a:solidFill>
                  <a:srgbClr val="566070"/>
                </a:solidFill>
                <a:latin typeface="Roboto"/>
                <a:ea typeface="Roboto"/>
                <a:cs typeface="Roboto"/>
              </a:defRPr>
            </a:pPr>
            <a:r>
              <a:rPr sz="1800" b="0">
                <a:solidFill>
                  <a:srgbClr val="566070"/>
                </a:solidFill>
                <a:latin typeface="Roboto"/>
                <a:ea typeface="Roboto"/>
                <a:cs typeface="Roboto"/>
              </a:rPr>
              <a:t>Lead time varies. Outcomes vary. Canceled slots sometimes refill.</a:t>
            </a:r>
          </a:p>
        </p:txBody>
      </p:sp>
      <p:sp>
        <p:nvSpPr>
          <p:cNvPr id="3" name="Straight Connector 2">
            <a:extLst>
              <a:ext uri="{FF2B5EF4-FFF2-40B4-BE49-F238E27FC236}">
                <a16:creationId xmlns:a16="http://schemas.microsoft.com/office/drawing/2014/main" id="{D97D5A69-1DF9-4129-AD07-F79FE081A332}"/>
              </a:ext>
            </a:extLst>
          </p:cNvPr>
          <p:cNvSpPr>
            <a:spLocks noGrp="1"/>
          </p:cNvSpPr>
          <p:nvPr/>
        </p:nv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en-US"/>
          </a:p>
        </p:txBody>
      </p:sp>
    </p:spTree>
    <p:extLst>
      <p:ext uri="{BB962C8B-B14F-4D97-AF65-F5344CB8AC3E}">
        <p14:creationId xmlns:p14="http://schemas.microsoft.com/office/powerpoint/2010/main" val="858355452"/>
      </p:ext>
    </p:extLst>
  </p:cSld>
  <p:clrMapOvr>
    <a:masterClrMapping/>
  </p:clrMapOvr>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976</Words>
  <Application>Microsoft Office PowerPoint</Application>
  <DocSecurity>0</DocSecurity>
  <PresentationFormat>Widescreen</PresentationFormat>
  <Paragraphs>99</Paragraphs>
  <Slides>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Roboto</vt:lpstr>
      <vt:lpstr>Roboto SemiBold</vt:lpstr>
      <vt:lpstr>Lora SemiBold</vt:lpstr>
      <vt:lpstr>Lora Medium</vt:lpstr>
      <vt:lpstr>Roboto Medium</vt:lpstr>
      <vt:lpstr>Lora</vt:lpstr>
      <vt:lpstr>Default Codex Theme</vt:lpstr>
      <vt:lpstr>Booking patterns and appointment outcomes</vt:lpstr>
      <vt:lpstr>Definitions and operational background</vt:lpstr>
      <vt:lpstr>Capacity report</vt:lpstr>
      <vt:lpstr>Other volume information</vt:lpstr>
      <vt:lpstr>Lead-time results</vt:lpstr>
      <vt:lpstr>Specialty comparisons</vt:lpstr>
      <vt:lpstr>Outcome breakdown</vt:lpstr>
      <vt:lpstr>Summary and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Robert Fox</cp:lastModifiedBy>
  <cp:revision>1</cp:revision>
  <dcterms:created xsi:type="dcterms:W3CDTF">2026-10-06T14:57:50Z</dcterms:created>
  <dcterms:modified xsi:type="dcterms:W3CDTF">2026-10-07T10:33:15Z</dcterms:modified>
</cp:coreProperties>
</file>