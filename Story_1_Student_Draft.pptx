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0"/>
  </p:notesMasterIdLst>
  <p:sldIdLst>
    <p:sldId id="256" r:id="rId2"/>
    <p:sldId id="257" r:id="rId3"/>
    <p:sldId id="261" r:id="rId4"/>
    <p:sldId id="262" r:id="rId5"/>
    <p:sldId id="258" r:id="rId6"/>
    <p:sldId id="259" r:id="rId7"/>
    <p:sldId id="260" r:id="rId8"/>
    <p:sldId id="263" r:id="rId9"/>
  </p:sldIdLst>
  <p:sldSz cx="12192000" cy="6858000"/>
  <p:notesSz cx="6858000" cy="9144000"/>
  <p:embeddedFontLst>
    <p:embeddedFont>
      <p:font typeface="Lora Medium" panose="020F0502020204030204" pitchFamily="2" charset="0"/>
      <p:regular r:id="rId11"/>
      <p:italic r:id="rId12"/>
    </p:embeddedFont>
    <p:embeddedFont>
      <p:font typeface="Lora SemiBold" panose="020B0604020202020204" charset="0"/>
      <p:regular r:id="rId13"/>
      <p:bold r:id="rId14"/>
      <p:italic r:id="rId15"/>
      <p:boldItalic r:id="rId16"/>
    </p:embeddedFont>
    <p:embeddedFont>
      <p:font typeface="Roboto" panose="02000000000000000000" pitchFamily="2" charset="0"/>
      <p:regular r:id="rId17"/>
      <p:bold r:id="rId18"/>
      <p:italic r:id="rId19"/>
      <p:boldItalic r:id="rId20"/>
    </p:embeddedFont>
    <p:embeddedFont>
      <p:font typeface="Roboto Medium" panose="02000000000000000000" pitchFamily="2" charset="0"/>
      <p:regular r:id="rId21"/>
      <p:italic r:id="rId22"/>
    </p:embeddedFont>
    <p:embeddedFont>
      <p:font typeface="Roboto SemiBold" panose="020B060402020202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viewProps" Target="view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1"/>
        <c:ser>
          <c:idx val="0"/>
          <c:order val="0"/>
          <c:tx>
            <c:v>Series 1</c:v>
          </c:tx>
          <c:spPr>
            <a:solidFill>
              <a:srgbClr val="FF0000"/>
            </a:solidFill>
            <a:ln w="19050">
              <a:solidFill>
                <a:srgbClr val="FF0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18–34</c:v>
                </c:pt>
                <c:pt idx="1">
                  <c:v>35–49</c:v>
                </c:pt>
                <c:pt idx="2">
                  <c:v>50–64</c:v>
                </c:pt>
                <c:pt idx="3">
                  <c:v>65+</c:v>
                </c:pt>
              </c:strCache>
            </c:strRef>
          </c:cat>
          <c:val>
            <c:numRef>
              <c:f>'Chart Data'!$B$2:$B$5</c:f>
              <c:numCache>
                <c:formatCode>0</c:formatCode>
                <c:ptCount val="4"/>
                <c:pt idx="0">
                  <c:v>202</c:v>
                </c:pt>
                <c:pt idx="1">
                  <c:v>158</c:v>
                </c:pt>
                <c:pt idx="2">
                  <c:v>123</c:v>
                </c:pt>
                <c:pt idx="3">
                  <c:v>106</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0000"/>
                    </a:solidFill>
                  </a:ln>
                </c14:spPr>
              </c14:invertSolidFillFmt>
            </c:ext>
            <c:ext xmlns:c16="http://schemas.microsoft.com/office/drawing/2014/chart" uri="{C3380CC4-5D6E-409C-BE32-E72D297353CC}">
              <c16:uniqueId val="{00000000-0100-411D-92BE-8F503EDD1C4C}"/>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14288">
            <a:solidFill>
              <a:srgbClr val="000000"/>
            </a:solidFill>
          </a:ln>
        </c:spPr>
        <c:txPr>
          <a:bodyPr anchorCtr="1"/>
          <a:lstStyle/>
          <a:p>
            <a:pPr>
              <a:defRPr sz="1050">
                <a:solidFill>
                  <a:srgbClr val="22293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240"/>
          <c:min val="0"/>
        </c:scaling>
        <c:delete val="0"/>
        <c:axPos val="l"/>
        <c:majorGridlines>
          <c:spPr>
            <a:ln w="14288">
              <a:solidFill>
                <a:srgbClr val="999999"/>
              </a:solidFill>
            </a:ln>
          </c:spPr>
        </c:majorGridlines>
        <c:title>
          <c:tx>
            <c:rich>
              <a:bodyPr/>
              <a:lstStyle/>
              <a:p>
                <a:r>
                  <a:rPr lang="en-US">
                    <a:latin typeface="Roboto"/>
                    <a:ea typeface="Roboto"/>
                    <a:cs typeface="Roboto"/>
                  </a:rPr>
                  <a:t>Number</a:t>
                </a:r>
              </a:p>
            </c:rich>
          </c:tx>
          <c:overlay val="0"/>
        </c:title>
        <c:numFmt formatCode="0" sourceLinked="1"/>
        <c:majorTickMark val="none"/>
        <c:minorTickMark val="none"/>
        <c:tickLblPos val="nextTo"/>
        <c:spPr>
          <a:ln w="9525">
            <a:solidFill>
              <a:srgbClr val="000000"/>
            </a:solidFill>
          </a:ln>
        </c:spPr>
        <c:txPr>
          <a:bodyPr anchorCtr="1"/>
          <a:lstStyle/>
          <a:p>
            <a:pPr>
              <a:defRPr sz="1050">
                <a:solidFill>
                  <a:srgbClr val="222936"/>
                </a:solidFill>
                <a:latin typeface="Roboto"/>
                <a:ea typeface="Roboto"/>
                <a:cs typeface="Roboto"/>
              </a:defRPr>
            </a:pPr>
            <a:endParaRPr lang="en-US"/>
          </a:p>
        </c:txPr>
        <c:crossAx val="48650112"/>
        <c:crosses val="autoZero"/>
        <c:crossBetween val="between"/>
      </c:valAx>
      <c:spPr>
        <a:solidFill>
          <a:srgbClr val="D9E1F2"/>
        </a:solidFill>
        <a:ln w="9525">
          <a:solidFill>
            <a:srgbClr val="000000"/>
          </a:solidFill>
        </a:ln>
      </c:spPr>
    </c:plotArea>
    <c:plotVisOnly val="1"/>
    <c:dispBlanksAs val="zero"/>
    <c:showDLblsOverMax val="1"/>
  </c:chart>
  <c:spPr>
    <a:solidFill>
      <a:srgbClr val="F2F2F2"/>
    </a:solidFill>
    <a:ln w="9525">
      <a:solidFill>
        <a:srgbClr val="000000"/>
      </a:solid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v>Primary Care</c:v>
          </c:tx>
          <c:spPr>
            <a:solidFill>
              <a:srgbClr val="FF0000"/>
            </a:solidFill>
            <a:ln w="19050">
              <a:solidFill>
                <a:srgbClr val="FF0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18–34</c:v>
                </c:pt>
                <c:pt idx="1">
                  <c:v>35–49</c:v>
                </c:pt>
                <c:pt idx="2">
                  <c:v>50–64</c:v>
                </c:pt>
                <c:pt idx="3">
                  <c:v>65+</c:v>
                </c:pt>
              </c:strCache>
            </c:strRef>
          </c:cat>
          <c:val>
            <c:numRef>
              <c:f>'Chart Data'!$B$2:$B$5</c:f>
              <c:numCache>
                <c:formatCode>0%</c:formatCode>
                <c:ptCount val="4"/>
                <c:pt idx="0">
                  <c:v>0.19986676</c:v>
                </c:pt>
                <c:pt idx="1">
                  <c:v>0.26453297999999997</c:v>
                </c:pt>
                <c:pt idx="2">
                  <c:v>0.29061489000000001</c:v>
                </c:pt>
                <c:pt idx="3">
                  <c:v>0.24314827999999999</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0000"/>
                    </a:solidFill>
                  </a:ln>
                </c14:spPr>
              </c14:invertSolidFillFmt>
            </c:ext>
            <c:ext xmlns:c16="http://schemas.microsoft.com/office/drawing/2014/chart" uri="{C3380CC4-5D6E-409C-BE32-E72D297353CC}">
              <c16:uniqueId val="{00000000-2D25-403E-BE71-83BD367E952E}"/>
            </c:ext>
          </c:extLst>
        </c:ser>
        <c:ser>
          <c:idx val="1"/>
          <c:order val="1"/>
          <c:tx>
            <c:v>Cardiology</c:v>
          </c:tx>
          <c:spPr>
            <a:solidFill>
              <a:srgbClr val="00B050"/>
            </a:solidFill>
            <a:ln w="19050">
              <a:solidFill>
                <a:srgbClr val="00B05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18–34</c:v>
                </c:pt>
                <c:pt idx="1">
                  <c:v>35–49</c:v>
                </c:pt>
                <c:pt idx="2">
                  <c:v>50–64</c:v>
                </c:pt>
                <c:pt idx="3">
                  <c:v>65+</c:v>
                </c:pt>
              </c:strCache>
            </c:strRef>
          </c:cat>
          <c:val>
            <c:numRef>
              <c:f>'Chart Data'!$D$2:$D$5</c:f>
              <c:numCache>
                <c:formatCode>0%</c:formatCode>
                <c:ptCount val="4"/>
                <c:pt idx="0">
                  <c:v>7.0619589999999996E-2</c:v>
                </c:pt>
                <c:pt idx="1">
                  <c:v>0.17635532000000001</c:v>
                </c:pt>
                <c:pt idx="2">
                  <c:v>0.29126214</c:v>
                </c:pt>
                <c:pt idx="3">
                  <c:v>0.47364721999999998</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00B050"/>
                    </a:solidFill>
                  </a:ln>
                </c14:spPr>
              </c14:invertSolidFillFmt>
            </c:ext>
            <c:ext xmlns:c16="http://schemas.microsoft.com/office/drawing/2014/chart" uri="{C3380CC4-5D6E-409C-BE32-E72D297353CC}">
              <c16:uniqueId val="{00000001-2D25-403E-BE71-83BD367E952E}"/>
            </c:ext>
          </c:extLst>
        </c:ser>
        <c:ser>
          <c:idx val="2"/>
          <c:order val="2"/>
          <c:tx>
            <c:v>Behavioral Health</c:v>
          </c:tx>
          <c:spPr>
            <a:solidFill>
              <a:srgbClr val="FFC000"/>
            </a:solidFill>
            <a:ln w="19050">
              <a:solidFill>
                <a:srgbClr val="FFC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Data'!$E$2:$E$5</c:f>
              <c:strCache>
                <c:ptCount val="4"/>
                <c:pt idx="0">
                  <c:v>18–34</c:v>
                </c:pt>
                <c:pt idx="1">
                  <c:v>35–49</c:v>
                </c:pt>
                <c:pt idx="2">
                  <c:v>50–64</c:v>
                </c:pt>
                <c:pt idx="3">
                  <c:v>65+</c:v>
                </c:pt>
              </c:strCache>
            </c:strRef>
          </c:cat>
          <c:val>
            <c:numRef>
              <c:f>'Chart Data'!$F$2:$F$5</c:f>
              <c:numCache>
                <c:formatCode>0%</c:formatCode>
                <c:ptCount val="4"/>
                <c:pt idx="0">
                  <c:v>0.54963357999999995</c:v>
                </c:pt>
                <c:pt idx="1">
                  <c:v>0.29457871000000002</c:v>
                </c:pt>
                <c:pt idx="2">
                  <c:v>9.7087380000000001E-2</c:v>
                </c:pt>
                <c:pt idx="3">
                  <c:v>5.2002809999999997E-2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C000"/>
                    </a:solidFill>
                  </a:ln>
                </c14:spPr>
              </c14:invertSolidFillFmt>
            </c:ext>
            <c:ext xmlns:c16="http://schemas.microsoft.com/office/drawing/2014/chart" uri="{C3380CC4-5D6E-409C-BE32-E72D297353CC}">
              <c16:uniqueId val="{00000002-2D25-403E-BE71-83BD367E952E}"/>
            </c:ext>
          </c:extLst>
        </c:ser>
        <c:ser>
          <c:idx val="3"/>
          <c:order val="3"/>
          <c:tx>
            <c:v>Orthopedics</c:v>
          </c:tx>
          <c:spPr>
            <a:solidFill>
              <a:srgbClr val="7030A0"/>
            </a:solidFill>
            <a:ln w="19050">
              <a:solidFill>
                <a:srgbClr val="7030A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Data'!$G$2:$G$5</c:f>
              <c:strCache>
                <c:ptCount val="4"/>
                <c:pt idx="0">
                  <c:v>18–34</c:v>
                </c:pt>
                <c:pt idx="1">
                  <c:v>35–49</c:v>
                </c:pt>
                <c:pt idx="2">
                  <c:v>50–64</c:v>
                </c:pt>
                <c:pt idx="3">
                  <c:v>65+</c:v>
                </c:pt>
              </c:strCache>
            </c:strRef>
          </c:cat>
          <c:val>
            <c:numRef>
              <c:f>'Chart Data'!$H$2:$H$5</c:f>
              <c:numCache>
                <c:formatCode>0%</c:formatCode>
                <c:ptCount val="4"/>
                <c:pt idx="0">
                  <c:v>0.17988008</c:v>
                </c:pt>
                <c:pt idx="1">
                  <c:v>0.26453297999999997</c:v>
                </c:pt>
                <c:pt idx="2">
                  <c:v>0.32103559999999998</c:v>
                </c:pt>
                <c:pt idx="3">
                  <c:v>0.23120168999999999</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7030A0"/>
                    </a:solidFill>
                  </a:ln>
                </c14:spPr>
              </c14:invertSolidFillFmt>
            </c:ext>
            <c:ext xmlns:c16="http://schemas.microsoft.com/office/drawing/2014/chart" uri="{C3380CC4-5D6E-409C-BE32-E72D297353CC}">
              <c16:uniqueId val="{00000003-2D25-403E-BE71-83BD367E952E}"/>
            </c:ext>
          </c:extLst>
        </c:ser>
        <c:dLbls>
          <c:dLblPos val="ctr"/>
          <c:showLegendKey val="0"/>
          <c:showVal val="1"/>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14288">
            <a:solidFill>
              <a:srgbClr val="000000"/>
            </a:solidFill>
          </a:ln>
        </c:spPr>
        <c:txPr>
          <a:bodyPr anchorCtr="1"/>
          <a:lstStyle/>
          <a:p>
            <a:pPr>
              <a:defRPr sz="1050">
                <a:solidFill>
                  <a:srgbClr val="22293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14288">
              <a:solidFill>
                <a:srgbClr val="999999"/>
              </a:solidFill>
            </a:ln>
          </c:spPr>
        </c:majorGridlines>
        <c:title>
          <c:tx>
            <c:rich>
              <a:bodyPr/>
              <a:lstStyle/>
              <a:p>
                <a:r>
                  <a:rPr lang="en-US">
                    <a:latin typeface="Roboto"/>
                    <a:ea typeface="Roboto"/>
                    <a:cs typeface="Roboto"/>
                  </a:rPr>
                  <a:t>Share of scheduled appointments</a:t>
                </a:r>
              </a:p>
            </c:rich>
          </c:tx>
          <c:overlay val="0"/>
        </c:title>
        <c:numFmt formatCode="0%" sourceLinked="1"/>
        <c:majorTickMark val="none"/>
        <c:minorTickMark val="none"/>
        <c:tickLblPos val="nextTo"/>
        <c:spPr>
          <a:ln w="9525">
            <a:solidFill>
              <a:srgbClr val="000000"/>
            </a:solidFill>
          </a:ln>
        </c:spPr>
        <c:txPr>
          <a:bodyPr anchorCtr="1"/>
          <a:lstStyle/>
          <a:p>
            <a:pPr>
              <a:defRPr sz="1050">
                <a:solidFill>
                  <a:srgbClr val="222936"/>
                </a:solidFill>
                <a:latin typeface="Roboto"/>
                <a:ea typeface="Roboto"/>
                <a:cs typeface="Roboto"/>
              </a:defRPr>
            </a:pPr>
            <a:endParaRPr lang="en-US"/>
          </a:p>
        </c:txPr>
        <c:crossAx val="48650112"/>
        <c:crosses val="autoZero"/>
        <c:crossBetween val="between"/>
      </c:valAx>
      <c:spPr>
        <a:solidFill>
          <a:srgbClr val="D9E1F2"/>
        </a:solidFill>
        <a:ln w="9525">
          <a:solidFill>
            <a:srgbClr val="000000"/>
          </a:solidFill>
        </a:ln>
      </c:spPr>
    </c:plotArea>
    <c:legend>
      <c:legendPos val="r"/>
      <c:overlay val="0"/>
      <c:txPr>
        <a:bodyPr anchorCtr="1"/>
        <a:lstStyle/>
        <a:p>
          <a:pPr>
            <a:defRPr sz="1050">
              <a:solidFill>
                <a:srgbClr val="566070"/>
              </a:solidFill>
              <a:latin typeface="Roboto"/>
              <a:ea typeface="Roboto"/>
              <a:cs typeface="Roboto"/>
            </a:defRPr>
          </a:pPr>
          <a:endParaRPr lang="en-US"/>
        </a:p>
      </c:txPr>
    </c:legend>
    <c:plotVisOnly val="1"/>
    <c:dispBlanksAs val="zero"/>
    <c:showDLblsOverMax val="1"/>
  </c:chart>
  <c:spPr>
    <a:solidFill>
      <a:srgbClr val="F2F2F2"/>
    </a:solidFill>
    <a:ln w="9525">
      <a:solidFill>
        <a:srgbClr val="000000"/>
      </a:solid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1"/>
        <c:ser>
          <c:idx val="0"/>
          <c:order val="0"/>
          <c:tx>
            <c:v>Primary Care</c:v>
          </c:tx>
          <c:spPr>
            <a:solidFill>
              <a:srgbClr val="FF0000"/>
            </a:solidFill>
            <a:ln w="19050">
              <a:solidFill>
                <a:srgbClr val="FF0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18–34</c:v>
                </c:pt>
                <c:pt idx="1">
                  <c:v>35–49</c:v>
                </c:pt>
                <c:pt idx="2">
                  <c:v>50–64</c:v>
                </c:pt>
                <c:pt idx="3">
                  <c:v>65+</c:v>
                </c:pt>
              </c:strCache>
            </c:strRef>
          </c:cat>
          <c:val>
            <c:numRef>
              <c:f>'Chart Data'!$B$2:$B$5</c:f>
              <c:numCache>
                <c:formatCode>0%</c:formatCode>
                <c:ptCount val="4"/>
                <c:pt idx="0">
                  <c:v>5.6666670000000002E-2</c:v>
                </c:pt>
                <c:pt idx="1">
                  <c:v>5.6790119999999999E-2</c:v>
                </c:pt>
                <c:pt idx="2">
                  <c:v>5.5679289999999999E-2</c:v>
                </c:pt>
                <c:pt idx="3">
                  <c:v>5.7803470000000003E-2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0000"/>
                    </a:solidFill>
                  </a:ln>
                </c14:spPr>
              </c14:invertSolidFillFmt>
            </c:ext>
            <c:ext xmlns:c16="http://schemas.microsoft.com/office/drawing/2014/chart" uri="{C3380CC4-5D6E-409C-BE32-E72D297353CC}">
              <c16:uniqueId val="{00000000-3830-4D20-AA4E-66721BB82BAC}"/>
            </c:ext>
          </c:extLst>
        </c:ser>
        <c:ser>
          <c:idx val="1"/>
          <c:order val="1"/>
          <c:tx>
            <c:v>Cardiology</c:v>
          </c:tx>
          <c:spPr>
            <a:solidFill>
              <a:srgbClr val="00B050"/>
            </a:solidFill>
            <a:ln w="19050">
              <a:solidFill>
                <a:srgbClr val="00B05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18–34</c:v>
                </c:pt>
                <c:pt idx="1">
                  <c:v>35–49</c:v>
                </c:pt>
                <c:pt idx="2">
                  <c:v>50–64</c:v>
                </c:pt>
                <c:pt idx="3">
                  <c:v>65+</c:v>
                </c:pt>
              </c:strCache>
            </c:strRef>
          </c:cat>
          <c:val>
            <c:numRef>
              <c:f>'Chart Data'!$D$2:$D$5</c:f>
              <c:numCache>
                <c:formatCode>0%</c:formatCode>
                <c:ptCount val="4"/>
                <c:pt idx="0">
                  <c:v>7.5471700000000003E-2</c:v>
                </c:pt>
                <c:pt idx="1">
                  <c:v>7.0370370000000002E-2</c:v>
                </c:pt>
                <c:pt idx="2">
                  <c:v>7.1111110000000005E-2</c:v>
                </c:pt>
                <c:pt idx="3">
                  <c:v>7.1216619999999994E-2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00B050"/>
                    </a:solidFill>
                  </a:ln>
                </c14:spPr>
              </c14:invertSolidFillFmt>
            </c:ext>
            <c:ext xmlns:c16="http://schemas.microsoft.com/office/drawing/2014/chart" uri="{C3380CC4-5D6E-409C-BE32-E72D297353CC}">
              <c16:uniqueId val="{00000001-3830-4D20-AA4E-66721BB82BAC}"/>
            </c:ext>
          </c:extLst>
        </c:ser>
        <c:ser>
          <c:idx val="2"/>
          <c:order val="2"/>
          <c:tx>
            <c:v>Behavioral Health</c:v>
          </c:tx>
          <c:spPr>
            <a:solidFill>
              <a:srgbClr val="FFC000"/>
            </a:solidFill>
            <a:ln w="19050">
              <a:solidFill>
                <a:srgbClr val="FFC00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Data'!$E$2:$E$5</c:f>
              <c:strCache>
                <c:ptCount val="4"/>
                <c:pt idx="0">
                  <c:v>18–34</c:v>
                </c:pt>
                <c:pt idx="1">
                  <c:v>35–49</c:v>
                </c:pt>
                <c:pt idx="2">
                  <c:v>50–64</c:v>
                </c:pt>
                <c:pt idx="3">
                  <c:v>65+</c:v>
                </c:pt>
              </c:strCache>
            </c:strRef>
          </c:cat>
          <c:val>
            <c:numRef>
              <c:f>'Chart Data'!$F$2:$F$5</c:f>
              <c:numCache>
                <c:formatCode>0%</c:formatCode>
                <c:ptCount val="4"/>
                <c:pt idx="0">
                  <c:v>0.19030303000000001</c:v>
                </c:pt>
                <c:pt idx="1">
                  <c:v>0.19068736</c:v>
                </c:pt>
                <c:pt idx="2">
                  <c:v>0.19333333</c:v>
                </c:pt>
                <c:pt idx="3">
                  <c:v>0.18918919000000001</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C000"/>
                    </a:solidFill>
                  </a:ln>
                </c14:spPr>
              </c14:invertSolidFillFmt>
            </c:ext>
            <c:ext xmlns:c16="http://schemas.microsoft.com/office/drawing/2014/chart" uri="{C3380CC4-5D6E-409C-BE32-E72D297353CC}">
              <c16:uniqueId val="{00000002-3830-4D20-AA4E-66721BB82BAC}"/>
            </c:ext>
          </c:extLst>
        </c:ser>
        <c:ser>
          <c:idx val="3"/>
          <c:order val="3"/>
          <c:tx>
            <c:v>Orthopedics</c:v>
          </c:tx>
          <c:spPr>
            <a:solidFill>
              <a:srgbClr val="7030A0"/>
            </a:solidFill>
            <a:ln w="19050">
              <a:solidFill>
                <a:srgbClr val="7030A0"/>
              </a:solidFill>
            </a:ln>
          </c:spPr>
          <c:invertIfNegative val="1"/>
          <c:dLbls>
            <c:spPr>
              <a:noFill/>
              <a:ln>
                <a:noFill/>
              </a:ln>
              <a:effectLst/>
            </c:spPr>
            <c:txPr>
              <a:bodyPr anchorCtr="1"/>
              <a:lstStyle/>
              <a:p>
                <a:pPr>
                  <a:defRPr sz="1050" b="0">
                    <a:solidFill>
                      <a:srgbClr val="222936"/>
                    </a:solidFill>
                    <a:latin typeface="Roboto"/>
                    <a:ea typeface="Roboto"/>
                    <a:cs typeface="Robo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Data'!$G$2:$G$5</c:f>
              <c:strCache>
                <c:ptCount val="4"/>
                <c:pt idx="0">
                  <c:v>18–34</c:v>
                </c:pt>
                <c:pt idx="1">
                  <c:v>35–49</c:v>
                </c:pt>
                <c:pt idx="2">
                  <c:v>50–64</c:v>
                </c:pt>
                <c:pt idx="3">
                  <c:v>65+</c:v>
                </c:pt>
              </c:strCache>
            </c:strRef>
          </c:cat>
          <c:val>
            <c:numRef>
              <c:f>'Chart Data'!$H$2:$H$5</c:f>
              <c:numCache>
                <c:formatCode>0%</c:formatCode>
                <c:ptCount val="4"/>
                <c:pt idx="0">
                  <c:v>7.4074070000000006E-2</c:v>
                </c:pt>
                <c:pt idx="1">
                  <c:v>7.4074070000000006E-2</c:v>
                </c:pt>
                <c:pt idx="2">
                  <c:v>7.4596770000000007E-2</c:v>
                </c:pt>
                <c:pt idx="3">
                  <c:v>7.2948330000000006E-2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7030A0"/>
                    </a:solidFill>
                  </a:ln>
                </c14:spPr>
              </c14:invertSolidFillFmt>
            </c:ext>
            <c:ext xmlns:c16="http://schemas.microsoft.com/office/drawing/2014/chart" uri="{C3380CC4-5D6E-409C-BE32-E72D297353CC}">
              <c16:uniqueId val="{00000003-3830-4D20-AA4E-66721BB82BAC}"/>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14288">
            <a:solidFill>
              <a:srgbClr val="000000"/>
            </a:solidFill>
          </a:ln>
        </c:spPr>
        <c:txPr>
          <a:bodyPr anchorCtr="1"/>
          <a:lstStyle/>
          <a:p>
            <a:pPr>
              <a:defRPr sz="1050">
                <a:solidFill>
                  <a:srgbClr val="222936"/>
                </a:solidFill>
                <a:latin typeface="Roboto"/>
                <a:ea typeface="Roboto"/>
                <a:cs typeface="Roboto"/>
              </a:defRPr>
            </a:pPr>
            <a:endParaRPr lang="en-US"/>
          </a:p>
        </c:txPr>
        <c:crossAx val="48672768"/>
        <c:crosses val="autoZero"/>
        <c:auto val="1"/>
        <c:lblAlgn val="ctr"/>
        <c:lblOffset val="100"/>
        <c:noMultiLvlLbl val="1"/>
      </c:catAx>
      <c:valAx>
        <c:axId val="48672768"/>
        <c:scaling>
          <c:orientation val="minMax"/>
          <c:max val="0.25"/>
          <c:min val="0"/>
        </c:scaling>
        <c:delete val="0"/>
        <c:axPos val="l"/>
        <c:majorGridlines>
          <c:spPr>
            <a:ln w="14288">
              <a:solidFill>
                <a:srgbClr val="999999"/>
              </a:solidFill>
            </a:ln>
          </c:spPr>
        </c:majorGridlines>
        <c:title>
          <c:tx>
            <c:rich>
              <a:bodyPr/>
              <a:lstStyle/>
              <a:p>
                <a:r>
                  <a:rPr lang="en-US">
                    <a:latin typeface="Roboto"/>
                    <a:ea typeface="Roboto"/>
                    <a:cs typeface="Roboto"/>
                  </a:rPr>
                  <a:t>No-show rate</a:t>
                </a:r>
              </a:p>
            </c:rich>
          </c:tx>
          <c:overlay val="0"/>
        </c:title>
        <c:numFmt formatCode="0%" sourceLinked="1"/>
        <c:majorTickMark val="none"/>
        <c:minorTickMark val="none"/>
        <c:tickLblPos val="nextTo"/>
        <c:spPr>
          <a:ln w="9525">
            <a:solidFill>
              <a:srgbClr val="000000"/>
            </a:solidFill>
          </a:ln>
        </c:spPr>
        <c:txPr>
          <a:bodyPr anchorCtr="1"/>
          <a:lstStyle/>
          <a:p>
            <a:pPr>
              <a:defRPr sz="1050">
                <a:solidFill>
                  <a:srgbClr val="222936"/>
                </a:solidFill>
                <a:latin typeface="Roboto"/>
                <a:ea typeface="Roboto"/>
                <a:cs typeface="Roboto"/>
              </a:defRPr>
            </a:pPr>
            <a:endParaRPr lang="en-US"/>
          </a:p>
        </c:txPr>
        <c:crossAx val="48650112"/>
        <c:crosses val="autoZero"/>
        <c:crossBetween val="between"/>
      </c:valAx>
      <c:spPr>
        <a:solidFill>
          <a:srgbClr val="D9E1F2"/>
        </a:solidFill>
        <a:ln w="9525">
          <a:solidFill>
            <a:srgbClr val="000000"/>
          </a:solidFill>
        </a:ln>
      </c:spPr>
    </c:plotArea>
    <c:legend>
      <c:legendPos val="r"/>
      <c:overlay val="0"/>
      <c:txPr>
        <a:bodyPr anchorCtr="1"/>
        <a:lstStyle/>
        <a:p>
          <a:pPr>
            <a:defRPr sz="1050">
              <a:solidFill>
                <a:srgbClr val="566070"/>
              </a:solidFill>
              <a:latin typeface="Roboto"/>
              <a:ea typeface="Roboto"/>
              <a:cs typeface="Roboto"/>
            </a:defRPr>
          </a:pPr>
          <a:endParaRPr lang="en-US"/>
        </a:p>
      </c:txPr>
    </c:legend>
    <c:plotVisOnly val="1"/>
    <c:dispBlanksAs val="zero"/>
    <c:showDLblsOverMax val="1"/>
  </c:chart>
  <c:spPr>
    <a:solidFill>
      <a:srgbClr val="F2F2F2"/>
    </a:solidFill>
    <a:ln w="9525">
      <a:solidFill>
        <a:srgbClr val="000000"/>
      </a:solid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synthetic_appointments.csv. Entirely simulated training data. One row is one original scheduled appointment. No-show rate uses all scheduled appointments, including cancellations. These observational comparisons do not establish causal effects.</a:t>
            </a:r>
          </a:p>
          <a:p>
            <a:r>
              <a:t>6,000 simulated appointments across four specialties and one fictional calendar year. Student draft.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r>
              <a:t>18–34: 202/1501 = 13.5%</a:t>
            </a:r>
          </a:p>
          <a:p>
            <a:pPr marL="0" lvl="0" indent="0" algn="l">
              <a:spcBef>
                <a:spcPts val="0"/>
              </a:spcBef>
              <a:spcAft>
                <a:spcPts val="0"/>
              </a:spcAft>
              <a:buNone/>
            </a:pPr>
            <a:r>
              <a:t>35–49: 158/1531 = 10.3%</a:t>
            </a:r>
          </a:p>
          <a:p>
            <a:pPr marL="0" lvl="0" indent="0" algn="l">
              <a:spcBef>
                <a:spcPts val="0"/>
              </a:spcBef>
              <a:spcAft>
                <a:spcPts val="0"/>
              </a:spcAft>
              <a:buNone/>
            </a:pPr>
            <a:r>
              <a:t>50–64: 123/1545 = 8.0%</a:t>
            </a:r>
          </a:p>
          <a:p>
            <a:pPr marL="0" lvl="0" indent="0" algn="l">
              <a:spcBef>
                <a:spcPts val="0"/>
              </a:spcBef>
              <a:spcAft>
                <a:spcPts val="0"/>
              </a:spcAft>
              <a:buNone/>
            </a:pPr>
            <a:r>
              <a:t>65+: 106/1423 = 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r>
              <a:t>18–34, Primary Care: 300, 20.0%</a:t>
            </a:r>
          </a:p>
          <a:p>
            <a:pPr marL="0" lvl="0" indent="0" algn="l">
              <a:spcBef>
                <a:spcPts val="0"/>
              </a:spcBef>
              <a:spcAft>
                <a:spcPts val="0"/>
              </a:spcAft>
              <a:buNone/>
            </a:pPr>
            <a:r>
              <a:t>35–49, Primary Care: 405, 26.5%</a:t>
            </a:r>
          </a:p>
          <a:p>
            <a:pPr marL="0" lvl="0" indent="0" algn="l">
              <a:spcBef>
                <a:spcPts val="0"/>
              </a:spcBef>
              <a:spcAft>
                <a:spcPts val="0"/>
              </a:spcAft>
              <a:buNone/>
            </a:pPr>
            <a:r>
              <a:t>50–64, Primary Care: 449, 29.1%</a:t>
            </a:r>
          </a:p>
          <a:p>
            <a:pPr marL="0" lvl="0" indent="0" algn="l">
              <a:spcBef>
                <a:spcPts val="0"/>
              </a:spcBef>
              <a:spcAft>
                <a:spcPts val="0"/>
              </a:spcAft>
              <a:buNone/>
            </a:pPr>
            <a:r>
              <a:t>65+, Primary Care: 346, 24.3%</a:t>
            </a:r>
          </a:p>
          <a:p>
            <a:pPr marL="0" lvl="0" indent="0" algn="l">
              <a:spcBef>
                <a:spcPts val="0"/>
              </a:spcBef>
              <a:spcAft>
                <a:spcPts val="0"/>
              </a:spcAft>
              <a:buNone/>
            </a:pPr>
            <a:r>
              <a:t>18–34, Cardiology: 106, 7.1%</a:t>
            </a:r>
          </a:p>
          <a:p>
            <a:pPr marL="0" lvl="0" indent="0" algn="l">
              <a:spcBef>
                <a:spcPts val="0"/>
              </a:spcBef>
              <a:spcAft>
                <a:spcPts val="0"/>
              </a:spcAft>
              <a:buNone/>
            </a:pPr>
            <a:r>
              <a:t>35–49, Cardiology: 270, 17.6%</a:t>
            </a:r>
          </a:p>
          <a:p>
            <a:pPr marL="0" lvl="0" indent="0" algn="l">
              <a:spcBef>
                <a:spcPts val="0"/>
              </a:spcBef>
              <a:spcAft>
                <a:spcPts val="0"/>
              </a:spcAft>
              <a:buNone/>
            </a:pPr>
            <a:r>
              <a:t>50–64, Cardiology: 450, 29.1%</a:t>
            </a:r>
          </a:p>
          <a:p>
            <a:pPr marL="0" lvl="0" indent="0" algn="l">
              <a:spcBef>
                <a:spcPts val="0"/>
              </a:spcBef>
              <a:spcAft>
                <a:spcPts val="0"/>
              </a:spcAft>
              <a:buNone/>
            </a:pPr>
            <a:r>
              <a:t>65+, Cardiology: 674, 47.4%</a:t>
            </a:r>
          </a:p>
          <a:p>
            <a:pPr marL="0" lvl="0" indent="0" algn="l">
              <a:spcBef>
                <a:spcPts val="0"/>
              </a:spcBef>
              <a:spcAft>
                <a:spcPts val="0"/>
              </a:spcAft>
              <a:buNone/>
            </a:pPr>
            <a:r>
              <a:t>18–34, Behavioral Health: 825, 55.0%</a:t>
            </a:r>
          </a:p>
          <a:p>
            <a:pPr marL="0" lvl="0" indent="0" algn="l">
              <a:spcBef>
                <a:spcPts val="0"/>
              </a:spcBef>
              <a:spcAft>
                <a:spcPts val="0"/>
              </a:spcAft>
              <a:buNone/>
            </a:pPr>
            <a:r>
              <a:t>35–49, Behavioral Health: 451, 29.5%</a:t>
            </a:r>
          </a:p>
          <a:p>
            <a:pPr marL="0" lvl="0" indent="0" algn="l">
              <a:spcBef>
                <a:spcPts val="0"/>
              </a:spcBef>
              <a:spcAft>
                <a:spcPts val="0"/>
              </a:spcAft>
              <a:buNone/>
            </a:pPr>
            <a:r>
              <a:t>50–64, Behavioral Health: 150, 9.7%</a:t>
            </a:r>
          </a:p>
          <a:p>
            <a:pPr marL="0" lvl="0" indent="0" algn="l">
              <a:spcBef>
                <a:spcPts val="0"/>
              </a:spcBef>
              <a:spcAft>
                <a:spcPts val="0"/>
              </a:spcAft>
              <a:buNone/>
            </a:pPr>
            <a:r>
              <a:t>65+, Behavioral Health: 74, 5.2%</a:t>
            </a:r>
          </a:p>
          <a:p>
            <a:pPr marL="0" lvl="0" indent="0" algn="l">
              <a:spcBef>
                <a:spcPts val="0"/>
              </a:spcBef>
              <a:spcAft>
                <a:spcPts val="0"/>
              </a:spcAft>
              <a:buNone/>
            </a:pPr>
            <a:r>
              <a:t>18–34, Orthopedics: 270, 18.0%</a:t>
            </a:r>
          </a:p>
          <a:p>
            <a:pPr marL="0" lvl="0" indent="0" algn="l">
              <a:spcBef>
                <a:spcPts val="0"/>
              </a:spcBef>
              <a:spcAft>
                <a:spcPts val="0"/>
              </a:spcAft>
              <a:buNone/>
            </a:pPr>
            <a:r>
              <a:t>35–49, Orthopedics: 405, 26.5%</a:t>
            </a:r>
          </a:p>
          <a:p>
            <a:pPr marL="0" lvl="0" indent="0" algn="l">
              <a:spcBef>
                <a:spcPts val="0"/>
              </a:spcBef>
              <a:spcAft>
                <a:spcPts val="0"/>
              </a:spcAft>
              <a:buNone/>
            </a:pPr>
            <a:r>
              <a:t>50–64, Orthopedics: 496, 32.1%</a:t>
            </a:r>
          </a:p>
          <a:p>
            <a:pPr marL="0" lvl="0" indent="0" algn="l">
              <a:spcBef>
                <a:spcPts val="0"/>
              </a:spcBef>
              <a:spcAft>
                <a:spcPts val="0"/>
              </a:spcAft>
              <a:buNone/>
            </a:pPr>
            <a:r>
              <a:t>65+, Orthopedics: 329, 23.1%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Source: synthetic_appointments.csv. Entirely simulated training data. One row is one original scheduled appointment. No-show rate uses all scheduled appointments, including cancellations. These observational comparisons do not establish causal effects.</a:t>
            </a:r>
          </a:p>
          <a:p>
            <a:pPr marL="0" lvl="0" indent="0" algn="l">
              <a:spcBef>
                <a:spcPts val="0"/>
              </a:spcBef>
              <a:spcAft>
                <a:spcPts val="0"/>
              </a:spcAft>
              <a:buNone/>
            </a:pPr>
            <a:r>
              <a:t>Primary Care, 18–34: 17/300 = 5.7%</a:t>
            </a:r>
          </a:p>
          <a:p>
            <a:pPr marL="0" lvl="0" indent="0" algn="l">
              <a:spcBef>
                <a:spcPts val="0"/>
              </a:spcBef>
              <a:spcAft>
                <a:spcPts val="0"/>
              </a:spcAft>
              <a:buNone/>
            </a:pPr>
            <a:r>
              <a:t>Primary Care, 35–49: 23/405 = 5.7%</a:t>
            </a:r>
          </a:p>
          <a:p>
            <a:pPr marL="0" lvl="0" indent="0" algn="l">
              <a:spcBef>
                <a:spcPts val="0"/>
              </a:spcBef>
              <a:spcAft>
                <a:spcPts val="0"/>
              </a:spcAft>
              <a:buNone/>
            </a:pPr>
            <a:r>
              <a:t>Primary Care, 50–64: 25/449 = 5.6%</a:t>
            </a:r>
          </a:p>
          <a:p>
            <a:pPr marL="0" lvl="0" indent="0" algn="l">
              <a:spcBef>
                <a:spcPts val="0"/>
              </a:spcBef>
              <a:spcAft>
                <a:spcPts val="0"/>
              </a:spcAft>
              <a:buNone/>
            </a:pPr>
            <a:r>
              <a:t>Primary Care, 65+: 20/346 = 5.8%</a:t>
            </a:r>
          </a:p>
          <a:p>
            <a:pPr marL="0" lvl="0" indent="0" algn="l">
              <a:spcBef>
                <a:spcPts val="0"/>
              </a:spcBef>
              <a:spcAft>
                <a:spcPts val="0"/>
              </a:spcAft>
              <a:buNone/>
            </a:pPr>
            <a:r>
              <a:t>Cardiology, 18–34: 8/106 = 7.5%</a:t>
            </a:r>
          </a:p>
          <a:p>
            <a:pPr marL="0" lvl="0" indent="0" algn="l">
              <a:spcBef>
                <a:spcPts val="0"/>
              </a:spcBef>
              <a:spcAft>
                <a:spcPts val="0"/>
              </a:spcAft>
              <a:buNone/>
            </a:pPr>
            <a:r>
              <a:t>Cardiology, 35–49: 19/270 = 7.0%</a:t>
            </a:r>
          </a:p>
          <a:p>
            <a:pPr marL="0" lvl="0" indent="0" algn="l">
              <a:spcBef>
                <a:spcPts val="0"/>
              </a:spcBef>
              <a:spcAft>
                <a:spcPts val="0"/>
              </a:spcAft>
              <a:buNone/>
            </a:pPr>
            <a:r>
              <a:t>Cardiology, 50–64: 32/450 = 7.1%</a:t>
            </a:r>
          </a:p>
          <a:p>
            <a:pPr marL="0" lvl="0" indent="0" algn="l">
              <a:spcBef>
                <a:spcPts val="0"/>
              </a:spcBef>
              <a:spcAft>
                <a:spcPts val="0"/>
              </a:spcAft>
              <a:buNone/>
            </a:pPr>
            <a:r>
              <a:t>Cardiology, 65+: 48/674 = 7.1%</a:t>
            </a:r>
          </a:p>
          <a:p>
            <a:pPr marL="0" lvl="0" indent="0" algn="l">
              <a:spcBef>
                <a:spcPts val="0"/>
              </a:spcBef>
              <a:spcAft>
                <a:spcPts val="0"/>
              </a:spcAft>
              <a:buNone/>
            </a:pPr>
            <a:r>
              <a:t>Behavioral Health, 18–34: 157/825 = 19.0%</a:t>
            </a:r>
          </a:p>
          <a:p>
            <a:pPr marL="0" lvl="0" indent="0" algn="l">
              <a:spcBef>
                <a:spcPts val="0"/>
              </a:spcBef>
              <a:spcAft>
                <a:spcPts val="0"/>
              </a:spcAft>
              <a:buNone/>
            </a:pPr>
            <a:r>
              <a:t>Behavioral Health, 35–49: 86/451 = 19.1%</a:t>
            </a:r>
          </a:p>
          <a:p>
            <a:pPr marL="0" lvl="0" indent="0" algn="l">
              <a:spcBef>
                <a:spcPts val="0"/>
              </a:spcBef>
              <a:spcAft>
                <a:spcPts val="0"/>
              </a:spcAft>
              <a:buNone/>
            </a:pPr>
            <a:r>
              <a:t>Behavioral Health, 50–64: 29/150 = 19.3%</a:t>
            </a:r>
          </a:p>
          <a:p>
            <a:pPr marL="0" lvl="0" indent="0" algn="l">
              <a:spcBef>
                <a:spcPts val="0"/>
              </a:spcBef>
              <a:spcAft>
                <a:spcPts val="0"/>
              </a:spcAft>
              <a:buNone/>
            </a:pPr>
            <a:r>
              <a:t>Behavioral Health, 65+: 14/74 = 18.9%</a:t>
            </a:r>
          </a:p>
          <a:p>
            <a:pPr marL="0" lvl="0" indent="0" algn="l">
              <a:spcBef>
                <a:spcPts val="0"/>
              </a:spcBef>
              <a:spcAft>
                <a:spcPts val="0"/>
              </a:spcAft>
              <a:buNone/>
            </a:pPr>
            <a:r>
              <a:t>Orthopedics, 18–34: 20/270 = 7.4%</a:t>
            </a:r>
          </a:p>
          <a:p>
            <a:pPr marL="0" lvl="0" indent="0" algn="l">
              <a:spcBef>
                <a:spcPts val="0"/>
              </a:spcBef>
              <a:spcAft>
                <a:spcPts val="0"/>
              </a:spcAft>
              <a:buNone/>
            </a:pPr>
            <a:r>
              <a:t>Orthopedics, 35–49: 30/405 = 7.4%</a:t>
            </a:r>
          </a:p>
          <a:p>
            <a:pPr marL="0" lvl="0" indent="0" algn="l">
              <a:spcBef>
                <a:spcPts val="0"/>
              </a:spcBef>
              <a:spcAft>
                <a:spcPts val="0"/>
              </a:spcAft>
              <a:buNone/>
            </a:pPr>
            <a:r>
              <a:t>Orthopedics, 50–64: 37/496 = 7.5%</a:t>
            </a:r>
          </a:p>
          <a:p>
            <a:pPr marL="0" lvl="0" indent="0" algn="l">
              <a:spcBef>
                <a:spcPts val="0"/>
              </a:spcBef>
              <a:spcAft>
                <a:spcPts val="0"/>
              </a:spcAft>
              <a:buNone/>
            </a:pPr>
            <a:r>
              <a:t>Orthopedics, 65+: 24/329 = 7.3%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synthetic_appointments.csv. Entirely simulated training data. One row is one original scheduled appointment. No-show rate uses all scheduled appointments, including cancellations. These observational comparisons do not establish causal effects.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buNone/>
              <a:defRPr sz="6000" b="1" i="0">
                <a:latin typeface="Lora SemiBold"/>
                <a:ea typeface="Lora SemiBold"/>
                <a:cs typeface="Lora SemiBold"/>
              </a:defRPr>
            </a:lvl1pPr>
          </a:lstStyle>
          <a:p>
            <a:r>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idx="3"/>
          </p:nvPr>
        </p:nvSpPr>
        <p:spPr>
          <a:xfrm>
            <a:off x="393699" y="6279294"/>
            <a:ext cx="8129411"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idx="3"/>
          </p:nvPr>
        </p:nvSpPr>
        <p:spPr>
          <a:xfrm>
            <a:off x="393700" y="6279294"/>
            <a:ext cx="8705144"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294"/>
            <a:ext cx="7493000"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699" y="6279294"/>
            <a:ext cx="8466647"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idx="3"/>
          </p:nvPr>
        </p:nvSpPr>
        <p:spPr>
          <a:xfrm>
            <a:off x="393699" y="6279294"/>
            <a:ext cx="7361767"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idx="3"/>
          </p:nvPr>
        </p:nvSpPr>
        <p:spPr>
          <a:xfrm>
            <a:off x="393700" y="6279294"/>
            <a:ext cx="7587544"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a:normAutofit/>
          </a:bodyPr>
          <a:lstStyle/>
          <a:p>
            <a:pPr lvl="0">
              <a:buNone/>
            </a:pPr>
            <a:r>
              <a:t>Click to edit Master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idx="3"/>
          </p:nvPr>
        </p:nvSpPr>
        <p:spPr>
          <a:xfrm>
            <a:off x="393700" y="6279294"/>
            <a:ext cx="7531100" cy="241898"/>
          </a:xfrm>
          <a:prstGeom prst="rect">
            <a:avLst/>
          </a:prstGeom>
        </p:spPr>
        <p:txBody>
          <a:bodyPr vert="horz" lIns="0" tIns="0" rIns="0" bIns="0" anchor="b"/>
          <a:lstStyle>
            <a:lvl1pPr algn="l">
              <a:buNone/>
              <a:defRPr sz="1100">
                <a:solidFill>
                  <a:schemeClr val="tx1"/>
                </a:solidFill>
              </a:defRPr>
            </a:lvl1pPr>
          </a:lstStyle>
          <a:p>
            <a:endParaRPr sz="110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100" kern="1200">
                <a:solidFill>
                  <a:schemeClr val="tx1"/>
                </a:solidFill>
                <a:latin typeface="+mn-lt"/>
                <a:ea typeface="+mn-lt"/>
                <a:cs typeface="+mn-lt"/>
              </a:defRPr>
            </a:lvl1pPr>
          </a:lstStyle>
          <a:p>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809B0-D483-45C1-B580-B57BB5CC520A}"/>
              </a:ext>
            </a:extLst>
          </p:cNvPr>
          <p:cNvSpPr>
            <a:spLocks noGrp="1"/>
          </p:cNvSpPr>
          <p:nvPr>
            <p:ph type="ctrTitle"/>
          </p:nvPr>
        </p:nvSpPr>
        <p:spPr>
          <a:xfrm>
            <a:off x="569969" y="1444887"/>
            <a:ext cx="9448800" cy="1726468"/>
          </a:xfrm>
        </p:spPr>
        <p:txBody>
          <a:bodyPr wrap="square" lIns="0" tIns="0" rIns="0" bIns="0" anchor="t">
            <a:noAutofit/>
          </a:bodyPr>
          <a:lstStyle/>
          <a:p>
            <a:pPr>
              <a:defRPr sz="5500" b="0">
                <a:solidFill>
                  <a:srgbClr val="3357B8"/>
                </a:solidFill>
                <a:latin typeface="Lora Medium"/>
                <a:ea typeface="Lora Medium"/>
                <a:cs typeface="Lora Medium"/>
              </a:defRPr>
            </a:pPr>
            <a:r>
              <a:rPr sz="5500" b="0">
                <a:solidFill>
                  <a:srgbClr val="3357B8"/>
                </a:solidFill>
                <a:latin typeface="Lora Medium"/>
                <a:ea typeface="Lora Medium"/>
                <a:cs typeface="Lora Medium"/>
              </a:rPr>
              <a:t>There is variability in no-shows</a:t>
            </a:r>
          </a:p>
        </p:txBody>
      </p:sp>
      <p:sp>
        <p:nvSpPr>
          <p:cNvPr id="5" name="Subtitle 4">
            <a:extLst>
              <a:ext uri="{FF2B5EF4-FFF2-40B4-BE49-F238E27FC236}">
                <a16:creationId xmlns:a16="http://schemas.microsoft.com/office/drawing/2014/main" id="{7DD11E6E-01C0-D6E4-28D7-D7F6B94AF61C}"/>
              </a:ext>
            </a:extLst>
          </p:cNvPr>
          <p:cNvSpPr>
            <a:spLocks noGrp="1"/>
          </p:cNvSpPr>
          <p:nvPr>
            <p:ph type="subTitle" idx="1"/>
          </p:nvPr>
        </p:nvSpPr>
        <p:spPr>
          <a:xfrm>
            <a:off x="603019" y="5077241"/>
            <a:ext cx="6304556" cy="1076208"/>
          </a:xfrm>
          <a:prstGeom prst="rect">
            <a:avLst/>
          </a:prstGeom>
          <a:noFill/>
        </p:spPr>
        <p:txBody>
          <a:bodyPr wrap="square" lIns="0" tIns="0" rIns="0" bIns="0">
            <a:noAutofit/>
          </a:bodyPr>
          <a:lstStyle/>
          <a:p>
            <a:pPr>
              <a:lnSpc>
                <a:spcPct val="120000"/>
              </a:lnSpc>
              <a:buNone/>
              <a:defRPr sz="1400" b="0">
                <a:solidFill>
                  <a:srgbClr val="566070"/>
                </a:solidFill>
                <a:latin typeface="Roboto"/>
                <a:ea typeface="Roboto"/>
                <a:cs typeface="Roboto"/>
              </a:defRPr>
            </a:pPr>
            <a:r>
              <a:rPr sz="1400" b="0">
                <a:solidFill>
                  <a:srgbClr val="566070"/>
                </a:solidFill>
                <a:latin typeface="Roboto"/>
                <a:ea typeface="Roboto"/>
                <a:cs typeface="Roboto"/>
              </a:rPr>
              <a:t>Review attendance data and identify opportunities. 6,000 simulated appointments.</a:t>
            </a:r>
          </a:p>
        </p:txBody>
      </p:sp>
      <p:sp>
        <p:nvSpPr>
          <p:cNvPr id="6" name="Subtitle 4">
            <a:extLst>
              <a:ext uri="{FF2B5EF4-FFF2-40B4-BE49-F238E27FC236}">
                <a16:creationId xmlns:a16="http://schemas.microsoft.com/office/drawing/2014/main" id="{C66AB198-0518-67DE-AB81-D65264FDA20F}"/>
              </a:ext>
            </a:extLst>
          </p:cNvPr>
          <p:cNvSpPr>
            <a:spLocks noGrp="1"/>
          </p:cNvSpPr>
          <p:nvPr/>
        </p:nvSpPr>
        <p:spPr>
          <a:xfrm>
            <a:off x="603018" y="4606175"/>
            <a:ext cx="6304556" cy="320279"/>
          </a:xfrm>
          <a:prstGeom prst="rect">
            <a:avLst/>
          </a:prstGeom>
          <a:noFill/>
        </p:spPr>
        <p:txBody>
          <a:bodyPr vert="horz" wrap="square"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defRPr sz="1600" b="0">
                <a:solidFill>
                  <a:srgbClr val="3357B8"/>
                </a:solidFill>
                <a:latin typeface="Roboto SemiBold"/>
                <a:ea typeface="Roboto SemiBold"/>
                <a:cs typeface="Roboto SemiBold"/>
              </a:defRPr>
            </a:pPr>
            <a:r>
              <a:rPr sz="1600" b="0">
                <a:solidFill>
                  <a:srgbClr val="3357B8"/>
                </a:solidFill>
                <a:latin typeface="Roboto SemiBold"/>
                <a:ea typeface="Roboto SemiBold"/>
                <a:cs typeface="Roboto SemiBold"/>
              </a:rPr>
              <a:t>Story 1  Attendance summary</a:t>
            </a:r>
          </a:p>
        </p:txBody>
      </p:sp>
      <p:sp>
        <p:nvSpPr>
          <p:cNvPr id="10" name="Subtitle 4">
            <a:extLst>
              <a:ext uri="{FF2B5EF4-FFF2-40B4-BE49-F238E27FC236}">
                <a16:creationId xmlns:a16="http://schemas.microsoft.com/office/drawing/2014/main" id="{CC2E0538-5645-7BC8-CF3A-FDF31FD97820}"/>
              </a:ext>
            </a:extLst>
          </p:cNvPr>
          <p:cNvSpPr>
            <a:spLocks noGrp="1"/>
          </p:cNvSpPr>
          <p:nvPr/>
        </p:nvSpPr>
        <p:spPr>
          <a:xfrm>
            <a:off x="603018" y="555606"/>
            <a:ext cx="3578411" cy="345178"/>
          </a:xfrm>
          <a:prstGeom prst="rect">
            <a:avLst/>
          </a:prstGeom>
        </p:spPr>
        <p:txBody>
          <a:bodyPr vert="horz" wrap="square"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defRPr sz="1800" b="0">
                <a:solidFill>
                  <a:srgbClr val="A6ADB9"/>
                </a:solidFill>
                <a:latin typeface="Roboto Medium"/>
                <a:ea typeface="Roboto Medium"/>
                <a:cs typeface="Roboto Medium"/>
              </a:defRPr>
            </a:pPr>
            <a:r>
              <a:rPr sz="1800" b="0">
                <a:solidFill>
                  <a:srgbClr val="A6ADB9"/>
                </a:solidFill>
                <a:latin typeface="Roboto Medium"/>
                <a:ea typeface="Roboto Medium"/>
                <a:cs typeface="Roboto Medium"/>
              </a:rPr>
              <a:t>AHEC data storytelling challenge</a:t>
            </a:r>
          </a:p>
        </p:txBody>
      </p:sp>
      <p:sp>
        <p:nvSpPr>
          <p:cNvPr id="7" name="Straight Connector 6">
            <a:extLst>
              <a:ext uri="{FF2B5EF4-FFF2-40B4-BE49-F238E27FC236}">
                <a16:creationId xmlns:a16="http://schemas.microsoft.com/office/drawing/2014/main" id="{F2545118-7481-421F-9922-365F31F3553F}"/>
              </a:ext>
            </a:extLst>
          </p:cNvPr>
          <p:cNvSpPr>
            <a:spLocks noGrp="1"/>
          </p:cNvSpPr>
          <p:nvPr/>
        </p:nv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en-US"/>
          </a:p>
        </p:txBody>
      </p:sp>
    </p:spTree>
    <p:extLst>
      <p:ext uri="{BB962C8B-B14F-4D97-AF65-F5344CB8AC3E}">
        <p14:creationId xmlns:p14="http://schemas.microsoft.com/office/powerpoint/2010/main" val="168508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5959EFF-52C4-5B31-3FCE-BFF3A75CF3CF}"/>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E2598689-54C9-18A7-3A19-ED76AA08988F}" type="slidenum">
              <a:rPr sz="1100" b="0">
                <a:solidFill>
                  <a:srgbClr val="566070"/>
                </a:solidFill>
                <a:latin typeface="Roboto"/>
                <a:ea typeface="Roboto"/>
                <a:cs typeface="Roboto"/>
              </a:rPr>
              <a:t>2</a:t>
            </a:fld>
            <a:endParaRPr/>
          </a:p>
        </p:txBody>
      </p:sp>
      <p:sp>
        <p:nvSpPr>
          <p:cNvPr id="533" name="Google Shape;533;p58">
            <a:extLst>
              <a:ext uri="{FF2B5EF4-FFF2-40B4-BE49-F238E27FC236}">
                <a16:creationId xmlns:a16="http://schemas.microsoft.com/office/drawing/2014/main" id="{469ED97F-6CDE-1EE8-6602-FE9CC4D732BE}"/>
              </a:ext>
            </a:extLst>
          </p:cNvPr>
          <p:cNvSpPr>
            <a:spLocks noGrp="1"/>
          </p:cNvSpPr>
          <p:nvPr>
            <p:ph type="title"/>
          </p:nvPr>
        </p:nvSpPr>
        <p:spPr>
          <a:xfrm>
            <a:off x="393700" y="355026"/>
            <a:ext cx="7835900" cy="1029274"/>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Data and considerations</a:t>
            </a:r>
          </a:p>
        </p:txBody>
      </p:sp>
      <p:sp>
        <p:nvSpPr>
          <p:cNvPr id="6" name="Footer Placeholder 5">
            <a:extLst>
              <a:ext uri="{FF2B5EF4-FFF2-40B4-BE49-F238E27FC236}">
                <a16:creationId xmlns:a16="http://schemas.microsoft.com/office/drawing/2014/main" id="{43787D66-ADFA-FEAC-9070-B9C216CEFEAB}"/>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30EF1A7C-3FD4-4755-8389-3D54E573EBA6}"/>
              </a:ext>
            </a:extLst>
          </p:cNvPr>
          <p:cNvSpPr>
            <a:spLocks noGrp="1"/>
          </p:cNvSpPr>
          <p:nvPr/>
        </p:nvSpPr>
        <p:spPr>
          <a:xfrm>
            <a:off x="393668" y="1310926"/>
            <a:ext cx="5537168" cy="719328"/>
          </a:xfrm>
          <a:prstGeom prst="rect">
            <a:avLst/>
          </a:prstGeom>
          <a:noFill/>
          <a:ln w="0">
            <a:noFill/>
          </a:ln>
        </p:spPr>
        <p:txBody>
          <a:bodyPr wrap="square" lIns="0" tIns="0" rIns="0" bIns="0">
            <a:noAutofit/>
          </a:bodyPr>
          <a:lstStyle/>
          <a:p>
            <a:pPr>
              <a:defRPr sz="2000" b="0">
                <a:solidFill>
                  <a:srgbClr val="222936"/>
                </a:solidFill>
                <a:latin typeface="Lora"/>
                <a:ea typeface="Lora"/>
                <a:cs typeface="Lora"/>
              </a:defRPr>
            </a:pPr>
            <a:r>
              <a:rPr sz="2000" b="0">
                <a:solidFill>
                  <a:srgbClr val="222936"/>
                </a:solidFill>
                <a:latin typeface="Lora"/>
                <a:ea typeface="Lora"/>
                <a:cs typeface="Lora"/>
              </a:rPr>
              <a:t>6,000 appointments. Some considerations for the review.</a:t>
            </a:r>
          </a:p>
        </p:txBody>
      </p:sp>
      <p:sp>
        <p:nvSpPr>
          <p:cNvPr id="535" name="Rectangle 534">
            <a:extLst>
              <a:ext uri="{FF2B5EF4-FFF2-40B4-BE49-F238E27FC236}">
                <a16:creationId xmlns:a16="http://schemas.microsoft.com/office/drawing/2014/main" id="{74903FFD-DF76-43E4-A273-A0652AB2A6CA}"/>
              </a:ext>
            </a:extLst>
          </p:cNvPr>
          <p:cNvSpPr>
            <a:spLocks noGrp="1"/>
          </p:cNvSpPr>
          <p:nvPr/>
        </p:nvSpPr>
        <p:spPr>
          <a:xfrm>
            <a:off x="393668" y="2192655"/>
            <a:ext cx="5537168" cy="3801713"/>
          </a:xfrm>
          <a:prstGeom prst="rect">
            <a:avLst/>
          </a:prstGeom>
          <a:noFill/>
          <a:ln w="0">
            <a:noFill/>
          </a:ln>
        </p:spPr>
        <p:txBody>
          <a:bodyPr wrap="square" lIns="0" tIns="0" rIns="0" bIns="0">
            <a:noAutofit/>
          </a:bodyPr>
          <a:lstStyle/>
          <a:p>
            <a:pPr>
              <a:defRPr sz="1600" b="0">
                <a:solidFill>
                  <a:srgbClr val="566070"/>
                </a:solidFill>
                <a:latin typeface="Roboto"/>
                <a:ea typeface="Roboto"/>
                <a:cs typeface="Roboto"/>
              </a:defRPr>
            </a:pPr>
            <a:r>
              <a:rPr sz="1600" b="0" dirty="0">
                <a:solidFill>
                  <a:srgbClr val="566070"/>
                </a:solidFill>
                <a:latin typeface="Roboto"/>
                <a:ea typeface="Roboto"/>
                <a:cs typeface="Roboto"/>
              </a:rPr>
              <a:t>The file includes one row for each originally scheduled appointment across four specialties and twelve months. Patients fall into four age bands. Appointments can end as completed visits, no-shows, early cancellations, or late cancellations. The no-show rate uses all originally scheduled appointments as the denominator, including canceled appointments. A no-show count describes volume and depends on how many appointments a group has. Age groups can have different mixes of specialties. Specialty services may have different attendance rates, booking lead times, and reminder assignments.</a:t>
            </a:r>
          </a:p>
        </p:txBody>
      </p:sp>
      <p:sp>
        <p:nvSpPr>
          <p:cNvPr id="536" name="Rectangle 535">
            <a:extLst>
              <a:ext uri="{FF2B5EF4-FFF2-40B4-BE49-F238E27FC236}">
                <a16:creationId xmlns:a16="http://schemas.microsoft.com/office/drawing/2014/main" id="{49B988A2-2E2D-4138-B072-58CA2E4003A5}"/>
              </a:ext>
            </a:extLst>
          </p:cNvPr>
          <p:cNvSpPr>
            <a:spLocks noGrp="1"/>
          </p:cNvSpPr>
          <p:nvPr/>
        </p:nvSpPr>
        <p:spPr>
          <a:xfrm>
            <a:off x="6265069" y="2192655"/>
            <a:ext cx="5537168" cy="3801713"/>
          </a:xfrm>
          <a:prstGeom prst="rect">
            <a:avLst/>
          </a:prstGeom>
          <a:noFill/>
          <a:ln w="0">
            <a:noFill/>
          </a:ln>
        </p:spPr>
        <p:txBody>
          <a:bodyPr wrap="square" lIns="0" tIns="0" rIns="0" bIns="0">
            <a:noAutofit/>
          </a:bodyPr>
          <a:lstStyle/>
          <a:p>
            <a:pPr>
              <a:defRPr sz="1600" b="0">
                <a:solidFill>
                  <a:srgbClr val="566070"/>
                </a:solidFill>
                <a:latin typeface="Roboto"/>
                <a:ea typeface="Roboto"/>
                <a:cs typeface="Roboto"/>
              </a:defRPr>
            </a:pPr>
            <a:r>
              <a:rPr sz="1600" b="0">
                <a:solidFill>
                  <a:srgbClr val="566070"/>
                </a:solidFill>
                <a:latin typeface="Roboto"/>
                <a:ea typeface="Roboto"/>
                <a:cs typeface="Roboto"/>
              </a:rPr>
              <a:t>Comparing age groups across all specialties can therefore produce a different pattern from comparing them within the same specialty. Comparing groups within one specialty still leaves other differences unmeasured. These records contain no information on transport, prior attendance, patient preferences, or the reason for a missed visit. All records are synthetic examples for this class. An observed age difference supports further investigation, but it cannot establish that age causes patients to miss appointments or justify a punitive age-based policy.</a:t>
            </a:r>
          </a:p>
        </p:txBody>
      </p:sp>
    </p:spTree>
    <p:extLst>
      <p:ext uri="{BB962C8B-B14F-4D97-AF65-F5344CB8AC3E}">
        <p14:creationId xmlns:p14="http://schemas.microsoft.com/office/powerpoint/2010/main" val="54622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8C630A04-5A25-9E0C-9436-126091DB86B3}" type="slidenum">
              <a:rPr sz="1100" b="0">
                <a:solidFill>
                  <a:srgbClr val="566070"/>
                </a:solidFill>
                <a:latin typeface="Roboto"/>
                <a:ea typeface="Roboto"/>
                <a:cs typeface="Roboto"/>
              </a:rPr>
              <a:t>3</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Dashboard image</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95CEAEF4-6F49-4E6C-9142-F8D817CC7F0C}"/>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Report export</a:t>
            </a:r>
          </a:p>
        </p:txBody>
      </p:sp>
      <p:sp>
        <p:nvSpPr>
          <p:cNvPr id="535" name="Rectangle 534">
            <a:extLst>
              <a:ext uri="{FF2B5EF4-FFF2-40B4-BE49-F238E27FC236}">
                <a16:creationId xmlns:a16="http://schemas.microsoft.com/office/drawing/2014/main" id="{F8DD8AFD-CDCD-4A48-98C3-59690E85CB18}"/>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Screenshot from an internal scheduling summary. Full detail is available in the CSV.</a:t>
            </a:r>
          </a:p>
        </p:txBody>
      </p:sp>
      <p:pic>
        <p:nvPicPr>
          <p:cNvPr id="542" name="Picture 541"/>
          <p:cNvPicPr>
            <a:picLocks noChangeAspect="1"/>
          </p:cNvPicPr>
          <p:nvPr/>
        </p:nvPicPr>
        <p:blipFill>
          <a:blip r:embed="rId3"/>
          <a:srcRect/>
          <a:stretch/>
        </p:blipFill>
        <p:spPr>
          <a:xfrm>
            <a:off x="4762500" y="2286000"/>
            <a:ext cx="6762750" cy="2476500"/>
          </a:xfrm>
          <a:prstGeom prst="rect">
            <a:avLst/>
          </a:prstGeom>
        </p:spPr>
      </p:pic>
    </p:spTree>
    <p:extLst>
      <p:ext uri="{BB962C8B-B14F-4D97-AF65-F5344CB8AC3E}">
        <p14:creationId xmlns:p14="http://schemas.microsoft.com/office/powerpoint/2010/main" val="255389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D3D7D1C8-AE23-AA48-DF65-C742588DBE47}" type="slidenum">
              <a:rPr sz="1100" b="0">
                <a:solidFill>
                  <a:srgbClr val="566070"/>
                </a:solidFill>
                <a:latin typeface="Roboto"/>
                <a:ea typeface="Roboto"/>
                <a:cs typeface="Roboto"/>
              </a:rPr>
              <a:t>4</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Other volume information</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9ACD0847-51CD-4191-B128-CDD1D1269E84}"/>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Monthly workload</a:t>
            </a:r>
          </a:p>
        </p:txBody>
      </p:sp>
      <p:sp>
        <p:nvSpPr>
          <p:cNvPr id="535" name="Rectangle 534">
            <a:extLst>
              <a:ext uri="{FF2B5EF4-FFF2-40B4-BE49-F238E27FC236}">
                <a16:creationId xmlns:a16="http://schemas.microsoft.com/office/drawing/2014/main" id="{B7FC20FC-D18D-4173-B537-59A8EFB7C9F6}"/>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dirty="0">
                <a:solidFill>
                  <a:srgbClr val="566070"/>
                </a:solidFill>
                <a:latin typeface="Roboto"/>
                <a:ea typeface="Roboto"/>
                <a:cs typeface="Roboto"/>
              </a:rPr>
              <a:t>January through December appointment volume. </a:t>
            </a:r>
          </a:p>
        </p:txBody>
      </p:sp>
      <p:graphicFrame>
        <p:nvGraphicFramePr>
          <p:cNvPr id="542" name="Table 541"/>
          <p:cNvGraphicFramePr/>
          <p:nvPr/>
        </p:nvGraphicFramePr>
        <p:xfrm>
          <a:off x="4752785" y="1549337"/>
          <a:ext cx="6777990" cy="4627818"/>
        </p:xfrm>
        <a:graphic>
          <a:graphicData uri="http://schemas.openxmlformats.org/drawingml/2006/table">
            <a:tbl>
              <a:tblPr/>
              <a:tblGrid>
                <a:gridCol w="3388995">
                  <a:extLst>
                    <a:ext uri="{9D8B030D-6E8A-4147-A177-3AD203B41FA5}">
                      <a16:colId xmlns:a16="http://schemas.microsoft.com/office/drawing/2014/main" val="20000"/>
                    </a:ext>
                  </a:extLst>
                </a:gridCol>
                <a:gridCol w="3388995">
                  <a:extLst>
                    <a:ext uri="{9D8B030D-6E8A-4147-A177-3AD203B41FA5}">
                      <a16:colId xmlns:a16="http://schemas.microsoft.com/office/drawing/2014/main" val="20001"/>
                    </a:ext>
                  </a:extLst>
                </a:gridCol>
              </a:tblGrid>
              <a:tr h="355986">
                <a:tc>
                  <a:txBody>
                    <a:bodyPr/>
                    <a:lstStyle/>
                    <a:p>
                      <a:r>
                        <a:rPr sz="1400" b="1">
                          <a:solidFill>
                            <a:srgbClr val="222936"/>
                          </a:solidFill>
                          <a:latin typeface="Roboto"/>
                          <a:ea typeface="Roboto"/>
                          <a:cs typeface="Roboto"/>
                        </a:rPr>
                        <a:t>Month</a:t>
                      </a:r>
                    </a:p>
                  </a:txBody>
                  <a:tcPr>
                    <a:solidFill>
                      <a:srgbClr val="C0C0C0"/>
                    </a:solidFill>
                  </a:tcPr>
                </a:tc>
                <a:tc>
                  <a:txBody>
                    <a:bodyPr/>
                    <a:lstStyle/>
                    <a:p>
                      <a:r>
                        <a:rPr sz="1400" b="1">
                          <a:solidFill>
                            <a:srgbClr val="222936"/>
                          </a:solidFill>
                          <a:latin typeface="Roboto"/>
                          <a:ea typeface="Roboto"/>
                          <a:cs typeface="Roboto"/>
                        </a:rPr>
                        <a:t>Scheduled</a:t>
                      </a:r>
                    </a:p>
                  </a:txBody>
                  <a:tcPr>
                    <a:solidFill>
                      <a:srgbClr val="C0C0C0"/>
                    </a:solidFill>
                  </a:tcPr>
                </a:tc>
                <a:extLst>
                  <a:ext uri="{0D108BD9-81ED-4DB2-BD59-A6C34878D82A}">
                    <a16:rowId xmlns:a16="http://schemas.microsoft.com/office/drawing/2014/main" val="10000"/>
                  </a:ext>
                </a:extLst>
              </a:tr>
              <a:tr h="355986">
                <a:tc>
                  <a:txBody>
                    <a:bodyPr/>
                    <a:lstStyle/>
                    <a:p>
                      <a:r>
                        <a:rPr sz="1400" b="0">
                          <a:solidFill>
                            <a:srgbClr val="222936"/>
                          </a:solidFill>
                          <a:latin typeface="Roboto"/>
                          <a:ea typeface="Roboto"/>
                          <a:cs typeface="Roboto"/>
                        </a:rPr>
                        <a:t>January</a:t>
                      </a:r>
                    </a:p>
                  </a:txBody>
                  <a:tcPr>
                    <a:solidFill>
                      <a:srgbClr val="FFFFFF"/>
                    </a:solidFill>
                  </a:tcPr>
                </a:tc>
                <a:tc>
                  <a:txBody>
                    <a:bodyPr/>
                    <a:lstStyle/>
                    <a:p>
                      <a:r>
                        <a:rPr sz="1400" b="0">
                          <a:solidFill>
                            <a:srgbClr val="222936"/>
                          </a:solidFill>
                          <a:latin typeface="Roboto"/>
                          <a:ea typeface="Roboto"/>
                          <a:cs typeface="Roboto"/>
                        </a:rPr>
                        <a:t>422</a:t>
                      </a:r>
                    </a:p>
                  </a:txBody>
                  <a:tcPr>
                    <a:solidFill>
                      <a:srgbClr val="FFFFFF"/>
                    </a:solidFill>
                  </a:tcPr>
                </a:tc>
                <a:extLst>
                  <a:ext uri="{0D108BD9-81ED-4DB2-BD59-A6C34878D82A}">
                    <a16:rowId xmlns:a16="http://schemas.microsoft.com/office/drawing/2014/main" val="10001"/>
                  </a:ext>
                </a:extLst>
              </a:tr>
              <a:tr h="355986">
                <a:tc>
                  <a:txBody>
                    <a:bodyPr/>
                    <a:lstStyle/>
                    <a:p>
                      <a:r>
                        <a:rPr sz="1400" b="0">
                          <a:solidFill>
                            <a:srgbClr val="222936"/>
                          </a:solidFill>
                          <a:latin typeface="Roboto"/>
                          <a:ea typeface="Roboto"/>
                          <a:cs typeface="Roboto"/>
                        </a:rPr>
                        <a:t>February</a:t>
                      </a:r>
                    </a:p>
                  </a:txBody>
                  <a:tcPr>
                    <a:solidFill>
                      <a:srgbClr val="FFFFFF"/>
                    </a:solidFill>
                  </a:tcPr>
                </a:tc>
                <a:tc>
                  <a:txBody>
                    <a:bodyPr/>
                    <a:lstStyle/>
                    <a:p>
                      <a:r>
                        <a:rPr sz="1400" b="0">
                          <a:solidFill>
                            <a:srgbClr val="222936"/>
                          </a:solidFill>
                          <a:latin typeface="Roboto"/>
                          <a:ea typeface="Roboto"/>
                          <a:cs typeface="Roboto"/>
                        </a:rPr>
                        <a:t>422</a:t>
                      </a:r>
                    </a:p>
                  </a:txBody>
                  <a:tcPr>
                    <a:solidFill>
                      <a:srgbClr val="FFFFFF"/>
                    </a:solidFill>
                  </a:tcPr>
                </a:tc>
                <a:extLst>
                  <a:ext uri="{0D108BD9-81ED-4DB2-BD59-A6C34878D82A}">
                    <a16:rowId xmlns:a16="http://schemas.microsoft.com/office/drawing/2014/main" val="10002"/>
                  </a:ext>
                </a:extLst>
              </a:tr>
              <a:tr h="355986">
                <a:tc>
                  <a:txBody>
                    <a:bodyPr/>
                    <a:lstStyle/>
                    <a:p>
                      <a:r>
                        <a:rPr sz="1400" b="0">
                          <a:solidFill>
                            <a:srgbClr val="222936"/>
                          </a:solidFill>
                          <a:latin typeface="Roboto"/>
                          <a:ea typeface="Roboto"/>
                          <a:cs typeface="Roboto"/>
                        </a:rPr>
                        <a:t>March</a:t>
                      </a:r>
                    </a:p>
                  </a:txBody>
                  <a:tcPr>
                    <a:solidFill>
                      <a:srgbClr val="FFFFFF"/>
                    </a:solidFill>
                  </a:tcPr>
                </a:tc>
                <a:tc>
                  <a:txBody>
                    <a:bodyPr/>
                    <a:lstStyle/>
                    <a:p>
                      <a:r>
                        <a:rPr sz="1400" b="0">
                          <a:solidFill>
                            <a:srgbClr val="222936"/>
                          </a:solidFill>
                          <a:latin typeface="Roboto"/>
                          <a:ea typeface="Roboto"/>
                          <a:cs typeface="Roboto"/>
                        </a:rPr>
                        <a:t>483</a:t>
                      </a:r>
                    </a:p>
                  </a:txBody>
                  <a:tcPr>
                    <a:solidFill>
                      <a:srgbClr val="FFFFFF"/>
                    </a:solidFill>
                  </a:tcPr>
                </a:tc>
                <a:extLst>
                  <a:ext uri="{0D108BD9-81ED-4DB2-BD59-A6C34878D82A}">
                    <a16:rowId xmlns:a16="http://schemas.microsoft.com/office/drawing/2014/main" val="10003"/>
                  </a:ext>
                </a:extLst>
              </a:tr>
              <a:tr h="355986">
                <a:tc>
                  <a:txBody>
                    <a:bodyPr/>
                    <a:lstStyle/>
                    <a:p>
                      <a:r>
                        <a:rPr sz="1400" b="0">
                          <a:solidFill>
                            <a:srgbClr val="222936"/>
                          </a:solidFill>
                          <a:latin typeface="Roboto"/>
                          <a:ea typeface="Roboto"/>
                          <a:cs typeface="Roboto"/>
                        </a:rPr>
                        <a:t>April</a:t>
                      </a:r>
                    </a:p>
                  </a:txBody>
                  <a:tcPr>
                    <a:solidFill>
                      <a:srgbClr val="FFFFFF"/>
                    </a:solidFill>
                  </a:tcPr>
                </a:tc>
                <a:tc>
                  <a:txBody>
                    <a:bodyPr/>
                    <a:lstStyle/>
                    <a:p>
                      <a:r>
                        <a:rPr sz="1400" b="0">
                          <a:solidFill>
                            <a:srgbClr val="222936"/>
                          </a:solidFill>
                          <a:latin typeface="Roboto"/>
                          <a:ea typeface="Roboto"/>
                          <a:cs typeface="Roboto"/>
                        </a:rPr>
                        <a:t>483</a:t>
                      </a:r>
                    </a:p>
                  </a:txBody>
                  <a:tcPr>
                    <a:solidFill>
                      <a:srgbClr val="FFFFFF"/>
                    </a:solidFill>
                  </a:tcPr>
                </a:tc>
                <a:extLst>
                  <a:ext uri="{0D108BD9-81ED-4DB2-BD59-A6C34878D82A}">
                    <a16:rowId xmlns:a16="http://schemas.microsoft.com/office/drawing/2014/main" val="10004"/>
                  </a:ext>
                </a:extLst>
              </a:tr>
              <a:tr h="355986">
                <a:tc>
                  <a:txBody>
                    <a:bodyPr/>
                    <a:lstStyle/>
                    <a:p>
                      <a:r>
                        <a:rPr sz="1400" b="0">
                          <a:solidFill>
                            <a:srgbClr val="222936"/>
                          </a:solidFill>
                          <a:latin typeface="Roboto"/>
                          <a:ea typeface="Roboto"/>
                          <a:cs typeface="Roboto"/>
                        </a:rPr>
                        <a:t>May</a:t>
                      </a:r>
                    </a:p>
                  </a:txBody>
                  <a:tcPr>
                    <a:solidFill>
                      <a:srgbClr val="FFFFFF"/>
                    </a:solidFill>
                  </a:tcPr>
                </a:tc>
                <a:tc>
                  <a:txBody>
                    <a:bodyPr/>
                    <a:lstStyle/>
                    <a:p>
                      <a:r>
                        <a:rPr sz="1400" b="0">
                          <a:solidFill>
                            <a:srgbClr val="222936"/>
                          </a:solidFill>
                          <a:latin typeface="Roboto"/>
                          <a:ea typeface="Roboto"/>
                          <a:cs typeface="Roboto"/>
                        </a:rPr>
                        <a:t>483</a:t>
                      </a:r>
                    </a:p>
                  </a:txBody>
                  <a:tcPr>
                    <a:solidFill>
                      <a:srgbClr val="FFFFFF"/>
                    </a:solidFill>
                  </a:tcPr>
                </a:tc>
                <a:extLst>
                  <a:ext uri="{0D108BD9-81ED-4DB2-BD59-A6C34878D82A}">
                    <a16:rowId xmlns:a16="http://schemas.microsoft.com/office/drawing/2014/main" val="10005"/>
                  </a:ext>
                </a:extLst>
              </a:tr>
              <a:tr h="355986">
                <a:tc>
                  <a:txBody>
                    <a:bodyPr/>
                    <a:lstStyle/>
                    <a:p>
                      <a:r>
                        <a:rPr sz="1400" b="0">
                          <a:solidFill>
                            <a:srgbClr val="222936"/>
                          </a:solidFill>
                          <a:latin typeface="Roboto"/>
                          <a:ea typeface="Roboto"/>
                          <a:cs typeface="Roboto"/>
                        </a:rPr>
                        <a:t>June</a:t>
                      </a:r>
                    </a:p>
                  </a:txBody>
                  <a:tcPr>
                    <a:solidFill>
                      <a:srgbClr val="FFFFFF"/>
                    </a:solidFill>
                  </a:tcPr>
                </a:tc>
                <a:tc>
                  <a:txBody>
                    <a:bodyPr/>
                    <a:lstStyle/>
                    <a:p>
                      <a:r>
                        <a:rPr sz="1400" b="0">
                          <a:solidFill>
                            <a:srgbClr val="222936"/>
                          </a:solidFill>
                          <a:latin typeface="Roboto"/>
                          <a:ea typeface="Roboto"/>
                          <a:cs typeface="Roboto"/>
                        </a:rPr>
                        <a:t>481</a:t>
                      </a:r>
                    </a:p>
                  </a:txBody>
                  <a:tcPr>
                    <a:solidFill>
                      <a:srgbClr val="FFFFFF"/>
                    </a:solidFill>
                  </a:tcPr>
                </a:tc>
                <a:extLst>
                  <a:ext uri="{0D108BD9-81ED-4DB2-BD59-A6C34878D82A}">
                    <a16:rowId xmlns:a16="http://schemas.microsoft.com/office/drawing/2014/main" val="10006"/>
                  </a:ext>
                </a:extLst>
              </a:tr>
              <a:tr h="355986">
                <a:tc>
                  <a:txBody>
                    <a:bodyPr/>
                    <a:lstStyle/>
                    <a:p>
                      <a:r>
                        <a:rPr sz="1400" b="0">
                          <a:solidFill>
                            <a:srgbClr val="222936"/>
                          </a:solidFill>
                          <a:latin typeface="Roboto"/>
                          <a:ea typeface="Roboto"/>
                          <a:cs typeface="Roboto"/>
                        </a:rPr>
                        <a:t>July</a:t>
                      </a:r>
                    </a:p>
                  </a:txBody>
                  <a:tcPr>
                    <a:solidFill>
                      <a:srgbClr val="FFFFFF"/>
                    </a:solidFill>
                  </a:tcPr>
                </a:tc>
                <a:tc>
                  <a:txBody>
                    <a:bodyPr/>
                    <a:lstStyle/>
                    <a:p>
                      <a:r>
                        <a:rPr sz="1400" b="0">
                          <a:solidFill>
                            <a:srgbClr val="222936"/>
                          </a:solidFill>
                          <a:latin typeface="Roboto"/>
                          <a:ea typeface="Roboto"/>
                          <a:cs typeface="Roboto"/>
                        </a:rPr>
                        <a:t>418</a:t>
                      </a:r>
                    </a:p>
                  </a:txBody>
                  <a:tcPr>
                    <a:solidFill>
                      <a:srgbClr val="FFFFFF"/>
                    </a:solidFill>
                  </a:tcPr>
                </a:tc>
                <a:extLst>
                  <a:ext uri="{0D108BD9-81ED-4DB2-BD59-A6C34878D82A}">
                    <a16:rowId xmlns:a16="http://schemas.microsoft.com/office/drawing/2014/main" val="10007"/>
                  </a:ext>
                </a:extLst>
              </a:tr>
              <a:tr h="355986">
                <a:tc>
                  <a:txBody>
                    <a:bodyPr/>
                    <a:lstStyle/>
                    <a:p>
                      <a:r>
                        <a:rPr sz="1400" b="0">
                          <a:solidFill>
                            <a:srgbClr val="222936"/>
                          </a:solidFill>
                          <a:latin typeface="Roboto"/>
                          <a:ea typeface="Roboto"/>
                          <a:cs typeface="Roboto"/>
                        </a:rPr>
                        <a:t>August</a:t>
                      </a:r>
                    </a:p>
                  </a:txBody>
                  <a:tcPr>
                    <a:solidFill>
                      <a:srgbClr val="FFFFFF"/>
                    </a:solidFill>
                  </a:tcPr>
                </a:tc>
                <a:tc>
                  <a:txBody>
                    <a:bodyPr/>
                    <a:lstStyle/>
                    <a:p>
                      <a:r>
                        <a:rPr sz="1400" b="0">
                          <a:solidFill>
                            <a:srgbClr val="222936"/>
                          </a:solidFill>
                          <a:latin typeface="Roboto"/>
                          <a:ea typeface="Roboto"/>
                          <a:cs typeface="Roboto"/>
                        </a:rPr>
                        <a:t>478</a:t>
                      </a:r>
                    </a:p>
                  </a:txBody>
                  <a:tcPr>
                    <a:solidFill>
                      <a:srgbClr val="FFFFFF"/>
                    </a:solidFill>
                  </a:tcPr>
                </a:tc>
                <a:extLst>
                  <a:ext uri="{0D108BD9-81ED-4DB2-BD59-A6C34878D82A}">
                    <a16:rowId xmlns:a16="http://schemas.microsoft.com/office/drawing/2014/main" val="10008"/>
                  </a:ext>
                </a:extLst>
              </a:tr>
              <a:tr h="355986">
                <a:tc>
                  <a:txBody>
                    <a:bodyPr/>
                    <a:lstStyle/>
                    <a:p>
                      <a:r>
                        <a:rPr sz="1400" b="0">
                          <a:solidFill>
                            <a:srgbClr val="222936"/>
                          </a:solidFill>
                          <a:latin typeface="Roboto"/>
                          <a:ea typeface="Roboto"/>
                          <a:cs typeface="Roboto"/>
                        </a:rPr>
                        <a:t>September</a:t>
                      </a:r>
                    </a:p>
                  </a:txBody>
                  <a:tcPr>
                    <a:solidFill>
                      <a:srgbClr val="FFFFFF"/>
                    </a:solidFill>
                  </a:tcPr>
                </a:tc>
                <a:tc>
                  <a:txBody>
                    <a:bodyPr/>
                    <a:lstStyle/>
                    <a:p>
                      <a:r>
                        <a:rPr sz="1400" b="0">
                          <a:solidFill>
                            <a:srgbClr val="222936"/>
                          </a:solidFill>
                          <a:latin typeface="Roboto"/>
                          <a:ea typeface="Roboto"/>
                          <a:cs typeface="Roboto"/>
                        </a:rPr>
                        <a:t>658</a:t>
                      </a:r>
                    </a:p>
                  </a:txBody>
                  <a:tcPr>
                    <a:solidFill>
                      <a:srgbClr val="FFFFFF"/>
                    </a:solidFill>
                  </a:tcPr>
                </a:tc>
                <a:extLst>
                  <a:ext uri="{0D108BD9-81ED-4DB2-BD59-A6C34878D82A}">
                    <a16:rowId xmlns:a16="http://schemas.microsoft.com/office/drawing/2014/main" val="10009"/>
                  </a:ext>
                </a:extLst>
              </a:tr>
              <a:tr h="355986">
                <a:tc>
                  <a:txBody>
                    <a:bodyPr/>
                    <a:lstStyle/>
                    <a:p>
                      <a:r>
                        <a:rPr sz="1400" b="0">
                          <a:solidFill>
                            <a:srgbClr val="222936"/>
                          </a:solidFill>
                          <a:latin typeface="Roboto"/>
                          <a:ea typeface="Roboto"/>
                          <a:cs typeface="Roboto"/>
                        </a:rPr>
                        <a:t>October</a:t>
                      </a:r>
                    </a:p>
                  </a:txBody>
                  <a:tcPr>
                    <a:solidFill>
                      <a:srgbClr val="FFFFFF"/>
                    </a:solidFill>
                  </a:tcPr>
                </a:tc>
                <a:tc>
                  <a:txBody>
                    <a:bodyPr/>
                    <a:lstStyle/>
                    <a:p>
                      <a:r>
                        <a:rPr sz="1400" b="0">
                          <a:solidFill>
                            <a:srgbClr val="222936"/>
                          </a:solidFill>
                          <a:latin typeface="Roboto"/>
                          <a:ea typeface="Roboto"/>
                          <a:cs typeface="Roboto"/>
                        </a:rPr>
                        <a:t>657</a:t>
                      </a:r>
                    </a:p>
                  </a:txBody>
                  <a:tcPr>
                    <a:solidFill>
                      <a:srgbClr val="FFFFFF"/>
                    </a:solidFill>
                  </a:tcPr>
                </a:tc>
                <a:extLst>
                  <a:ext uri="{0D108BD9-81ED-4DB2-BD59-A6C34878D82A}">
                    <a16:rowId xmlns:a16="http://schemas.microsoft.com/office/drawing/2014/main" val="10010"/>
                  </a:ext>
                </a:extLst>
              </a:tr>
              <a:tr h="355986">
                <a:tc>
                  <a:txBody>
                    <a:bodyPr/>
                    <a:lstStyle/>
                    <a:p>
                      <a:r>
                        <a:rPr sz="1400" b="0">
                          <a:solidFill>
                            <a:srgbClr val="222936"/>
                          </a:solidFill>
                          <a:latin typeface="Roboto"/>
                          <a:ea typeface="Roboto"/>
                          <a:cs typeface="Roboto"/>
                        </a:rPr>
                        <a:t>November</a:t>
                      </a:r>
                    </a:p>
                  </a:txBody>
                  <a:tcPr>
                    <a:solidFill>
                      <a:srgbClr val="FFFFFF"/>
                    </a:solidFill>
                  </a:tcPr>
                </a:tc>
                <a:tc>
                  <a:txBody>
                    <a:bodyPr/>
                    <a:lstStyle/>
                    <a:p>
                      <a:r>
                        <a:rPr sz="1400" b="0">
                          <a:solidFill>
                            <a:srgbClr val="222936"/>
                          </a:solidFill>
                          <a:latin typeface="Roboto"/>
                          <a:ea typeface="Roboto"/>
                          <a:cs typeface="Roboto"/>
                        </a:rPr>
                        <a:t>538</a:t>
                      </a:r>
                    </a:p>
                  </a:txBody>
                  <a:tcPr>
                    <a:solidFill>
                      <a:srgbClr val="FFFFFF"/>
                    </a:solidFill>
                  </a:tcPr>
                </a:tc>
                <a:extLst>
                  <a:ext uri="{0D108BD9-81ED-4DB2-BD59-A6C34878D82A}">
                    <a16:rowId xmlns:a16="http://schemas.microsoft.com/office/drawing/2014/main" val="10011"/>
                  </a:ext>
                </a:extLst>
              </a:tr>
              <a:tr h="355986">
                <a:tc>
                  <a:txBody>
                    <a:bodyPr/>
                    <a:lstStyle/>
                    <a:p>
                      <a:r>
                        <a:rPr sz="1400" b="0">
                          <a:solidFill>
                            <a:srgbClr val="222936"/>
                          </a:solidFill>
                          <a:latin typeface="Roboto"/>
                          <a:ea typeface="Roboto"/>
                          <a:cs typeface="Roboto"/>
                        </a:rPr>
                        <a:t>December</a:t>
                      </a:r>
                    </a:p>
                  </a:txBody>
                  <a:tcPr>
                    <a:solidFill>
                      <a:srgbClr val="FFFFFF"/>
                    </a:solidFill>
                  </a:tcPr>
                </a:tc>
                <a:tc>
                  <a:txBody>
                    <a:bodyPr/>
                    <a:lstStyle/>
                    <a:p>
                      <a:r>
                        <a:rPr sz="1400" b="0">
                          <a:solidFill>
                            <a:srgbClr val="222936"/>
                          </a:solidFill>
                          <a:latin typeface="Roboto"/>
                          <a:ea typeface="Roboto"/>
                          <a:cs typeface="Roboto"/>
                        </a:rPr>
                        <a:t>477</a:t>
                      </a:r>
                    </a:p>
                  </a:txBody>
                  <a:tcPr>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5389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202359C0-8A7A-196E-DD58-8E6569619F09}" type="slidenum">
              <a:rPr sz="1100" b="0">
                <a:solidFill>
                  <a:srgbClr val="566070"/>
                </a:solidFill>
                <a:latin typeface="Roboto"/>
                <a:ea typeface="Roboto"/>
                <a:cs typeface="Roboto"/>
              </a:rPr>
              <a:t>5</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Age results</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B5420DD3-B245-4962-9E8A-B85713435227}"/>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dirty="0">
                <a:solidFill>
                  <a:srgbClr val="222936"/>
                </a:solidFill>
                <a:latin typeface="Roboto"/>
                <a:ea typeface="Roboto"/>
                <a:cs typeface="Roboto"/>
              </a:rPr>
              <a:t>No-shows by age group</a:t>
            </a:r>
            <a:r>
              <a:rPr lang="en-US" sz="1800" b="0" dirty="0">
                <a:solidFill>
                  <a:srgbClr val="222936"/>
                </a:solidFill>
                <a:latin typeface="Roboto"/>
                <a:ea typeface="Roboto"/>
                <a:cs typeface="Roboto"/>
              </a:rPr>
              <a:t>.  Younger people are more likely to no-show (probably because old people are more conscientious about their health).</a:t>
            </a:r>
            <a:endParaRPr sz="1800" b="0" dirty="0">
              <a:solidFill>
                <a:srgbClr val="222936"/>
              </a:solidFill>
              <a:latin typeface="Roboto"/>
              <a:ea typeface="Roboto"/>
              <a:cs typeface="Roboto"/>
            </a:endParaRPr>
          </a:p>
        </p:txBody>
      </p:sp>
      <p:graphicFrame>
        <p:nvGraphicFramePr>
          <p:cNvPr id="542" name="Chart"/>
          <p:cNvGraphicFramePr/>
          <p:nvPr/>
        </p:nvGraphicFramePr>
        <p:xfrm>
          <a:off x="4752785" y="1549337"/>
          <a:ext cx="6777990" cy="46278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43" name="Table 542"/>
          <p:cNvGraphicFramePr/>
          <p:nvPr>
            <p:extLst>
              <p:ext uri="{D42A27DB-BD31-4B8C-83A1-F6EECF244321}">
                <p14:modId xmlns:p14="http://schemas.microsoft.com/office/powerpoint/2010/main" val="1925719855"/>
              </p:ext>
            </p:extLst>
          </p:nvPr>
        </p:nvGraphicFramePr>
        <p:xfrm>
          <a:off x="393668" y="3227849"/>
          <a:ext cx="3606831" cy="2000250"/>
        </p:xfrm>
        <a:graphic>
          <a:graphicData uri="http://schemas.openxmlformats.org/drawingml/2006/table">
            <a:tbl>
              <a:tblPr/>
              <a:tblGrid>
                <a:gridCol w="1202277">
                  <a:extLst>
                    <a:ext uri="{9D8B030D-6E8A-4147-A177-3AD203B41FA5}">
                      <a16:colId xmlns:a16="http://schemas.microsoft.com/office/drawing/2014/main" val="20000"/>
                    </a:ext>
                  </a:extLst>
                </a:gridCol>
                <a:gridCol w="1202277">
                  <a:extLst>
                    <a:ext uri="{9D8B030D-6E8A-4147-A177-3AD203B41FA5}">
                      <a16:colId xmlns:a16="http://schemas.microsoft.com/office/drawing/2014/main" val="20001"/>
                    </a:ext>
                  </a:extLst>
                </a:gridCol>
                <a:gridCol w="1202277">
                  <a:extLst>
                    <a:ext uri="{9D8B030D-6E8A-4147-A177-3AD203B41FA5}">
                      <a16:colId xmlns:a16="http://schemas.microsoft.com/office/drawing/2014/main" val="20002"/>
                    </a:ext>
                  </a:extLst>
                </a:gridCol>
              </a:tblGrid>
              <a:tr h="400050">
                <a:tc>
                  <a:txBody>
                    <a:bodyPr/>
                    <a:lstStyle/>
                    <a:p>
                      <a:r>
                        <a:rPr sz="1200" b="1">
                          <a:solidFill>
                            <a:srgbClr val="222936"/>
                          </a:solidFill>
                          <a:latin typeface="Roboto"/>
                          <a:ea typeface="Roboto"/>
                          <a:cs typeface="Roboto"/>
                        </a:rPr>
                        <a:t>Age</a:t>
                      </a:r>
                    </a:p>
                  </a:txBody>
                  <a:tcPr>
                    <a:solidFill>
                      <a:srgbClr val="C0C0C0"/>
                    </a:solidFill>
                  </a:tcPr>
                </a:tc>
                <a:tc>
                  <a:txBody>
                    <a:bodyPr/>
                    <a:lstStyle/>
                    <a:p>
                      <a:r>
                        <a:rPr sz="1200" b="1" dirty="0">
                          <a:solidFill>
                            <a:srgbClr val="222936"/>
                          </a:solidFill>
                          <a:latin typeface="Roboto"/>
                          <a:ea typeface="Roboto"/>
                          <a:cs typeface="Roboto"/>
                        </a:rPr>
                        <a:t>Scheduled</a:t>
                      </a:r>
                    </a:p>
                  </a:txBody>
                  <a:tcPr>
                    <a:solidFill>
                      <a:srgbClr val="C0C0C0"/>
                    </a:solidFill>
                  </a:tcPr>
                </a:tc>
                <a:tc>
                  <a:txBody>
                    <a:bodyPr/>
                    <a:lstStyle/>
                    <a:p>
                      <a:r>
                        <a:rPr sz="1200" b="1">
                          <a:solidFill>
                            <a:srgbClr val="222936"/>
                          </a:solidFill>
                          <a:latin typeface="Roboto"/>
                          <a:ea typeface="Roboto"/>
                          <a:cs typeface="Roboto"/>
                        </a:rPr>
                        <a:t>Rate</a:t>
                      </a:r>
                    </a:p>
                  </a:txBody>
                  <a:tcPr>
                    <a:solidFill>
                      <a:srgbClr val="C0C0C0"/>
                    </a:solidFill>
                  </a:tcPr>
                </a:tc>
                <a:extLst>
                  <a:ext uri="{0D108BD9-81ED-4DB2-BD59-A6C34878D82A}">
                    <a16:rowId xmlns:a16="http://schemas.microsoft.com/office/drawing/2014/main" val="10000"/>
                  </a:ext>
                </a:extLst>
              </a:tr>
              <a:tr h="400050">
                <a:tc>
                  <a:txBody>
                    <a:bodyPr/>
                    <a:lstStyle/>
                    <a:p>
                      <a:r>
                        <a:rPr sz="1200" b="0">
                          <a:solidFill>
                            <a:srgbClr val="222936"/>
                          </a:solidFill>
                          <a:latin typeface="Roboto"/>
                          <a:ea typeface="Roboto"/>
                          <a:cs typeface="Roboto"/>
                        </a:rPr>
                        <a:t>18–34</a:t>
                      </a:r>
                    </a:p>
                  </a:txBody>
                  <a:tcPr>
                    <a:solidFill>
                      <a:srgbClr val="FFFFFF"/>
                    </a:solidFill>
                  </a:tcPr>
                </a:tc>
                <a:tc>
                  <a:txBody>
                    <a:bodyPr/>
                    <a:lstStyle/>
                    <a:p>
                      <a:r>
                        <a:rPr sz="1200" b="0">
                          <a:solidFill>
                            <a:srgbClr val="222936"/>
                          </a:solidFill>
                          <a:latin typeface="Roboto"/>
                          <a:ea typeface="Roboto"/>
                          <a:cs typeface="Roboto"/>
                        </a:rPr>
                        <a:t>1,501</a:t>
                      </a:r>
                    </a:p>
                  </a:txBody>
                  <a:tcPr>
                    <a:solidFill>
                      <a:srgbClr val="FFFFFF"/>
                    </a:solidFill>
                  </a:tcPr>
                </a:tc>
                <a:tc>
                  <a:txBody>
                    <a:bodyPr/>
                    <a:lstStyle/>
                    <a:p>
                      <a:r>
                        <a:rPr sz="1200" b="0">
                          <a:solidFill>
                            <a:srgbClr val="222936"/>
                          </a:solidFill>
                          <a:latin typeface="Roboto"/>
                          <a:ea typeface="Roboto"/>
                          <a:cs typeface="Roboto"/>
                        </a:rPr>
                        <a:t>13.5%</a:t>
                      </a:r>
                    </a:p>
                  </a:txBody>
                  <a:tcPr>
                    <a:solidFill>
                      <a:srgbClr val="FFFFFF"/>
                    </a:solidFill>
                  </a:tcPr>
                </a:tc>
                <a:extLst>
                  <a:ext uri="{0D108BD9-81ED-4DB2-BD59-A6C34878D82A}">
                    <a16:rowId xmlns:a16="http://schemas.microsoft.com/office/drawing/2014/main" val="10001"/>
                  </a:ext>
                </a:extLst>
              </a:tr>
              <a:tr h="400050">
                <a:tc>
                  <a:txBody>
                    <a:bodyPr/>
                    <a:lstStyle/>
                    <a:p>
                      <a:r>
                        <a:rPr sz="1200" b="0">
                          <a:solidFill>
                            <a:srgbClr val="222936"/>
                          </a:solidFill>
                          <a:latin typeface="Roboto"/>
                          <a:ea typeface="Roboto"/>
                          <a:cs typeface="Roboto"/>
                        </a:rPr>
                        <a:t>35–49</a:t>
                      </a:r>
                    </a:p>
                  </a:txBody>
                  <a:tcPr>
                    <a:solidFill>
                      <a:srgbClr val="FFFFFF"/>
                    </a:solidFill>
                  </a:tcPr>
                </a:tc>
                <a:tc>
                  <a:txBody>
                    <a:bodyPr/>
                    <a:lstStyle/>
                    <a:p>
                      <a:r>
                        <a:rPr sz="1200" b="0">
                          <a:solidFill>
                            <a:srgbClr val="222936"/>
                          </a:solidFill>
                          <a:latin typeface="Roboto"/>
                          <a:ea typeface="Roboto"/>
                          <a:cs typeface="Roboto"/>
                        </a:rPr>
                        <a:t>1,531</a:t>
                      </a:r>
                    </a:p>
                  </a:txBody>
                  <a:tcPr>
                    <a:solidFill>
                      <a:srgbClr val="FFFFFF"/>
                    </a:solidFill>
                  </a:tcPr>
                </a:tc>
                <a:tc>
                  <a:txBody>
                    <a:bodyPr/>
                    <a:lstStyle/>
                    <a:p>
                      <a:r>
                        <a:rPr sz="1200" b="0">
                          <a:solidFill>
                            <a:srgbClr val="222936"/>
                          </a:solidFill>
                          <a:latin typeface="Roboto"/>
                          <a:ea typeface="Roboto"/>
                          <a:cs typeface="Roboto"/>
                        </a:rPr>
                        <a:t>10.3%</a:t>
                      </a:r>
                    </a:p>
                  </a:txBody>
                  <a:tcPr>
                    <a:solidFill>
                      <a:srgbClr val="FFFFFF"/>
                    </a:solidFill>
                  </a:tcPr>
                </a:tc>
                <a:extLst>
                  <a:ext uri="{0D108BD9-81ED-4DB2-BD59-A6C34878D82A}">
                    <a16:rowId xmlns:a16="http://schemas.microsoft.com/office/drawing/2014/main" val="10002"/>
                  </a:ext>
                </a:extLst>
              </a:tr>
              <a:tr h="400050">
                <a:tc>
                  <a:txBody>
                    <a:bodyPr/>
                    <a:lstStyle/>
                    <a:p>
                      <a:r>
                        <a:rPr sz="1200" b="0">
                          <a:solidFill>
                            <a:srgbClr val="222936"/>
                          </a:solidFill>
                          <a:latin typeface="Roboto"/>
                          <a:ea typeface="Roboto"/>
                          <a:cs typeface="Roboto"/>
                        </a:rPr>
                        <a:t>50–64</a:t>
                      </a:r>
                    </a:p>
                  </a:txBody>
                  <a:tcPr>
                    <a:solidFill>
                      <a:srgbClr val="FFFFFF"/>
                    </a:solidFill>
                  </a:tcPr>
                </a:tc>
                <a:tc>
                  <a:txBody>
                    <a:bodyPr/>
                    <a:lstStyle/>
                    <a:p>
                      <a:r>
                        <a:rPr sz="1200" b="0">
                          <a:solidFill>
                            <a:srgbClr val="222936"/>
                          </a:solidFill>
                          <a:latin typeface="Roboto"/>
                          <a:ea typeface="Roboto"/>
                          <a:cs typeface="Roboto"/>
                        </a:rPr>
                        <a:t>1,545</a:t>
                      </a:r>
                    </a:p>
                  </a:txBody>
                  <a:tcPr>
                    <a:solidFill>
                      <a:srgbClr val="FFFFFF"/>
                    </a:solidFill>
                  </a:tcPr>
                </a:tc>
                <a:tc>
                  <a:txBody>
                    <a:bodyPr/>
                    <a:lstStyle/>
                    <a:p>
                      <a:r>
                        <a:rPr sz="1200" b="0">
                          <a:solidFill>
                            <a:srgbClr val="222936"/>
                          </a:solidFill>
                          <a:latin typeface="Roboto"/>
                          <a:ea typeface="Roboto"/>
                          <a:cs typeface="Roboto"/>
                        </a:rPr>
                        <a:t>8.0%</a:t>
                      </a:r>
                    </a:p>
                  </a:txBody>
                  <a:tcPr>
                    <a:solidFill>
                      <a:srgbClr val="FFFFFF"/>
                    </a:solidFill>
                  </a:tcPr>
                </a:tc>
                <a:extLst>
                  <a:ext uri="{0D108BD9-81ED-4DB2-BD59-A6C34878D82A}">
                    <a16:rowId xmlns:a16="http://schemas.microsoft.com/office/drawing/2014/main" val="10003"/>
                  </a:ext>
                </a:extLst>
              </a:tr>
              <a:tr h="400050">
                <a:tc>
                  <a:txBody>
                    <a:bodyPr/>
                    <a:lstStyle/>
                    <a:p>
                      <a:r>
                        <a:rPr sz="1200" b="0">
                          <a:solidFill>
                            <a:srgbClr val="222936"/>
                          </a:solidFill>
                          <a:latin typeface="Roboto"/>
                          <a:ea typeface="Roboto"/>
                          <a:cs typeface="Roboto"/>
                        </a:rPr>
                        <a:t>65+</a:t>
                      </a:r>
                    </a:p>
                  </a:txBody>
                  <a:tcPr>
                    <a:solidFill>
                      <a:srgbClr val="FFFFFF"/>
                    </a:solidFill>
                  </a:tcPr>
                </a:tc>
                <a:tc>
                  <a:txBody>
                    <a:bodyPr/>
                    <a:lstStyle/>
                    <a:p>
                      <a:r>
                        <a:rPr sz="1200" b="0">
                          <a:solidFill>
                            <a:srgbClr val="222936"/>
                          </a:solidFill>
                          <a:latin typeface="Roboto"/>
                          <a:ea typeface="Roboto"/>
                          <a:cs typeface="Roboto"/>
                        </a:rPr>
                        <a:t>1,423</a:t>
                      </a:r>
                    </a:p>
                  </a:txBody>
                  <a:tcPr>
                    <a:solidFill>
                      <a:srgbClr val="FFFFFF"/>
                    </a:solidFill>
                  </a:tcPr>
                </a:tc>
                <a:tc>
                  <a:txBody>
                    <a:bodyPr/>
                    <a:lstStyle/>
                    <a:p>
                      <a:r>
                        <a:rPr sz="1200" b="0" dirty="0">
                          <a:solidFill>
                            <a:srgbClr val="222936"/>
                          </a:solidFill>
                          <a:latin typeface="Roboto"/>
                          <a:ea typeface="Roboto"/>
                          <a:cs typeface="Roboto"/>
                        </a:rPr>
                        <a:t>7.4%</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53894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EFD6AB9A-5F9E-5F59-51AB-3C8734130965}" type="slidenum">
              <a:rPr sz="1100" b="0">
                <a:solidFill>
                  <a:srgbClr val="566070"/>
                </a:solidFill>
                <a:latin typeface="Roboto"/>
                <a:ea typeface="Roboto"/>
                <a:cs typeface="Roboto"/>
              </a:rPr>
              <a:t>6</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Specialty information</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5FE267F3-0061-4573-8F1D-079F5D6061EC}"/>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Some specialty details</a:t>
            </a:r>
          </a:p>
        </p:txBody>
      </p:sp>
      <p:sp>
        <p:nvSpPr>
          <p:cNvPr id="535" name="Rectangle 534">
            <a:extLst>
              <a:ext uri="{FF2B5EF4-FFF2-40B4-BE49-F238E27FC236}">
                <a16:creationId xmlns:a16="http://schemas.microsoft.com/office/drawing/2014/main" id="{EF3B7CF0-FEFC-4065-95EC-4E6588D1BF8D}"/>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This is the percentage distribution of specialties for each age category.</a:t>
            </a:r>
          </a:p>
        </p:txBody>
      </p:sp>
      <p:graphicFrame>
        <p:nvGraphicFramePr>
          <p:cNvPr id="542" name="Chart"/>
          <p:cNvGraphicFramePr/>
          <p:nvPr/>
        </p:nvGraphicFramePr>
        <p:xfrm>
          <a:off x="4752785" y="1549337"/>
          <a:ext cx="6777990" cy="46278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3894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a:spLocks noGrp="1"/>
          </p:cNvSpPr>
          <p:nvPr>
            <p:ph type="sldNum" idx="4"/>
          </p:nvPr>
        </p:nvSpPr>
        <p:spPr>
          <a:prstGeom prst="rect">
            <a:avLst/>
          </a:prstGeom>
        </p:spPr>
        <p:txBody>
          <a:bodyPr spcFirstLastPara="1" vert="horz" wrap="square" lIns="0" tIns="0" rIns="0" bIns="0" anchor="b">
            <a:noAutofit/>
          </a:bodyPr>
          <a:lstStyle/>
          <a:p>
            <a:pPr>
              <a:defRPr sz="1100" b="0">
                <a:solidFill>
                  <a:srgbClr val="566070"/>
                </a:solidFill>
                <a:latin typeface="Roboto"/>
                <a:ea typeface="Roboto"/>
                <a:cs typeface="Roboto"/>
              </a:defRPr>
            </a:pPr>
            <a:fld id="{EE5B3003-2C54-13C6-9832-7637201064DE}" type="slidenum">
              <a:rPr sz="1100" b="0">
                <a:solidFill>
                  <a:srgbClr val="566070"/>
                </a:solidFill>
                <a:latin typeface="Roboto"/>
                <a:ea typeface="Roboto"/>
                <a:cs typeface="Roboto"/>
              </a:rPr>
              <a:t>7</a:t>
            </a:fld>
            <a:endParaRPr/>
          </a:p>
        </p:txBody>
      </p:sp>
      <p:sp>
        <p:nvSpPr>
          <p:cNvPr id="533" name="Google Shape;533;p58">
            <a:extLst>
              <a:ext uri="{FF2B5EF4-FFF2-40B4-BE49-F238E27FC236}">
                <a16:creationId xmlns:a16="http://schemas.microsoft.com/office/drawing/2014/main" id="{3CD65521-5912-FE80-B7B5-EE9E16A1351B}"/>
              </a:ext>
            </a:extLst>
          </p:cNvPr>
          <p:cNvSpPr>
            <a:spLocks noGrp="1"/>
          </p:cNvSpPr>
          <p:nvPr>
            <p:ph type="title"/>
          </p:nvPr>
        </p:nvSpPr>
        <p:spPr>
          <a:xfrm>
            <a:off x="393700" y="344008"/>
            <a:ext cx="7835900" cy="1040291"/>
          </a:xfrm>
          <a:prstGeom prst="rect">
            <a:avLst/>
          </a:prstGeom>
        </p:spPr>
        <p:txBody>
          <a:bodyPr spcFirstLastPara="1" vert="horz" wrap="square" lIns="0" tIns="0" rIns="0" bIns="0" anchor="t">
            <a:noAutofit/>
          </a:bodyPr>
          <a:lstStyle/>
          <a:p>
            <a:pPr>
              <a:defRPr sz="2900" b="0">
                <a:solidFill>
                  <a:srgbClr val="3357B8"/>
                </a:solidFill>
                <a:latin typeface="Lora SemiBold"/>
                <a:ea typeface="Lora SemiBold"/>
                <a:cs typeface="Lora SemiBold"/>
              </a:defRPr>
            </a:pPr>
            <a:r>
              <a:rPr sz="2900" b="0">
                <a:solidFill>
                  <a:srgbClr val="3357B8"/>
                </a:solidFill>
                <a:latin typeface="Lora SemiBold"/>
                <a:ea typeface="Lora SemiBold"/>
                <a:cs typeface="Lora SemiBold"/>
              </a:rPr>
              <a:t>More results</a:t>
            </a:r>
            <a:endParaRPr>
              <a:solidFill>
                <a:schemeClr val="accent1"/>
              </a:solidFill>
            </a:endParaRPr>
          </a:p>
        </p:txBody>
      </p:sp>
      <p:sp>
        <p:nvSpPr>
          <p:cNvPr id="3" name="Footer Placeholder 2">
            <a:extLst>
              <a:ext uri="{FF2B5EF4-FFF2-40B4-BE49-F238E27FC236}">
                <a16:creationId xmlns:a16="http://schemas.microsoft.com/office/drawing/2014/main" id="{175B304C-27F3-8A33-E6D7-E2EFCA2F82B2}"/>
              </a:ext>
            </a:extLst>
          </p:cNvPr>
          <p:cNvSpPr>
            <a:spLocks noGrp="1"/>
          </p:cNvSpPr>
          <p:nvPr>
            <p:ph type="ftr" idx="3"/>
          </p:nvPr>
        </p:nvSpPr>
        <p:spPr/>
        <p:txBody>
          <a:bodyPr wrap="square" lIns="0" tIns="0" rIns="0" bIns="0">
            <a:noAutofit/>
          </a:bodyPr>
          <a:lstStyle/>
          <a:p>
            <a:pPr>
              <a:defRPr sz="1100" b="0">
                <a:solidFill>
                  <a:srgbClr val="566070"/>
                </a:solidFill>
                <a:latin typeface="Roboto"/>
                <a:ea typeface="Roboto"/>
                <a:cs typeface="Roboto"/>
              </a:defRPr>
            </a:pPr>
            <a:r>
              <a:rPr sz="1100" b="0">
                <a:solidFill>
                  <a:srgbClr val="566070"/>
                </a:solidFill>
                <a:latin typeface="Roboto"/>
                <a:ea typeface="Roboto"/>
                <a:cs typeface="Roboto"/>
              </a:rPr>
              <a:t>Synthetic appointment data</a:t>
            </a:r>
            <a:endParaRPr sz="1100"/>
          </a:p>
        </p:txBody>
      </p:sp>
      <p:sp>
        <p:nvSpPr>
          <p:cNvPr id="534" name="Rectangle 533">
            <a:extLst>
              <a:ext uri="{FF2B5EF4-FFF2-40B4-BE49-F238E27FC236}">
                <a16:creationId xmlns:a16="http://schemas.microsoft.com/office/drawing/2014/main" id="{C8BF15CA-5473-4ADC-A420-6FC1AD7FECA3}"/>
              </a:ext>
            </a:extLst>
          </p:cNvPr>
          <p:cNvSpPr>
            <a:spLocks noGrp="1"/>
          </p:cNvSpPr>
          <p:nvPr/>
        </p:nvSpPr>
        <p:spPr>
          <a:xfrm>
            <a:off x="393668" y="1564862"/>
            <a:ext cx="3606832" cy="1095375"/>
          </a:xfrm>
          <a:prstGeom prst="rect">
            <a:avLst/>
          </a:prstGeom>
          <a:noFill/>
          <a:ln w="0">
            <a:noFill/>
          </a:ln>
        </p:spPr>
        <p:txBody>
          <a:bodyPr wrap="square" lIns="0" tIns="0" rIns="0" bIns="0">
            <a:noAutofit/>
          </a:bodyPr>
          <a:lstStyle/>
          <a:p>
            <a:pPr>
              <a:defRPr sz="1800" b="0">
                <a:solidFill>
                  <a:srgbClr val="222936"/>
                </a:solidFill>
                <a:latin typeface="Roboto"/>
                <a:ea typeface="Roboto"/>
                <a:cs typeface="Roboto"/>
              </a:defRPr>
            </a:pPr>
            <a:r>
              <a:rPr sz="1800" b="0">
                <a:solidFill>
                  <a:srgbClr val="222936"/>
                </a:solidFill>
                <a:latin typeface="Roboto"/>
                <a:ea typeface="Roboto"/>
                <a:cs typeface="Roboto"/>
              </a:rPr>
              <a:t>Multiple group comparison</a:t>
            </a:r>
          </a:p>
        </p:txBody>
      </p:sp>
      <p:sp>
        <p:nvSpPr>
          <p:cNvPr id="535" name="Rectangle 534">
            <a:extLst>
              <a:ext uri="{FF2B5EF4-FFF2-40B4-BE49-F238E27FC236}">
                <a16:creationId xmlns:a16="http://schemas.microsoft.com/office/drawing/2014/main" id="{64895088-BFEC-4DD1-A5AD-AA168B2D3101}"/>
              </a:ext>
            </a:extLst>
          </p:cNvPr>
          <p:cNvSpPr>
            <a:spLocks noGrp="1"/>
          </p:cNvSpPr>
          <p:nvPr/>
        </p:nvSpPr>
        <p:spPr>
          <a:xfrm>
            <a:off x="393668" y="2774156"/>
            <a:ext cx="3606832" cy="3143250"/>
          </a:xfrm>
          <a:prstGeom prst="rect">
            <a:avLst/>
          </a:prstGeom>
          <a:noFill/>
          <a:ln w="0">
            <a:noFill/>
          </a:ln>
        </p:spPr>
        <p:txBody>
          <a:bodyPr wrap="square" lIns="0" tIns="0" rIns="0" bIns="0">
            <a:noAutofit/>
          </a:bodyPr>
          <a:lstStyle/>
          <a:p>
            <a:pPr>
              <a:defRPr sz="1400" b="0">
                <a:solidFill>
                  <a:srgbClr val="566070"/>
                </a:solidFill>
                <a:latin typeface="Roboto"/>
                <a:ea typeface="Roboto"/>
                <a:cs typeface="Roboto"/>
              </a:defRPr>
            </a:pPr>
            <a:r>
              <a:rPr sz="1400" b="0">
                <a:solidFill>
                  <a:srgbClr val="566070"/>
                </a:solidFill>
                <a:latin typeface="Roboto"/>
                <a:ea typeface="Roboto"/>
                <a:cs typeface="Roboto"/>
              </a:rPr>
              <a:t>No-show percentages by specialty and age.</a:t>
            </a:r>
          </a:p>
        </p:txBody>
      </p:sp>
      <p:graphicFrame>
        <p:nvGraphicFramePr>
          <p:cNvPr id="542" name="Chart"/>
          <p:cNvGraphicFramePr/>
          <p:nvPr/>
        </p:nvGraphicFramePr>
        <p:xfrm>
          <a:off x="4752785" y="1549337"/>
          <a:ext cx="6777990" cy="46278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53894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011EE4-C416-3EA2-180D-62404CE47D07}"/>
              </a:ext>
            </a:extLst>
          </p:cNvPr>
          <p:cNvSpPr>
            <a:spLocks noGrp="1"/>
          </p:cNvSpPr>
          <p:nvPr>
            <p:ph type="ctrTitle"/>
          </p:nvPr>
        </p:nvSpPr>
        <p:spPr>
          <a:xfrm>
            <a:off x="393700" y="937510"/>
            <a:ext cx="9448800" cy="2491490"/>
          </a:xfrm>
        </p:spPr>
        <p:txBody>
          <a:bodyPr wrap="square" lIns="0" tIns="0" rIns="0" bIns="0">
            <a:noAutofit/>
          </a:bodyPr>
          <a:lstStyle/>
          <a:p>
            <a:pPr>
              <a:defRPr sz="5500" b="0">
                <a:solidFill>
                  <a:srgbClr val="3357B8"/>
                </a:solidFill>
                <a:latin typeface="Lora SemiBold"/>
                <a:ea typeface="Lora SemiBold"/>
                <a:cs typeface="Lora SemiBold"/>
              </a:defRPr>
            </a:pPr>
            <a:r>
              <a:rPr sz="5500" b="0">
                <a:solidFill>
                  <a:srgbClr val="3357B8"/>
                </a:solidFill>
                <a:latin typeface="Lora SemiBold"/>
                <a:ea typeface="Lora SemiBold"/>
                <a:cs typeface="Lora SemiBold"/>
              </a:rPr>
              <a:t>Summary and next steps</a:t>
            </a:r>
          </a:p>
        </p:txBody>
      </p:sp>
      <p:sp>
        <p:nvSpPr>
          <p:cNvPr id="5" name="Subtitle 4">
            <a:extLst>
              <a:ext uri="{FF2B5EF4-FFF2-40B4-BE49-F238E27FC236}">
                <a16:creationId xmlns:a16="http://schemas.microsoft.com/office/drawing/2014/main" id="{119B400D-E218-8301-7E00-C5A55230DE5D}"/>
              </a:ext>
            </a:extLst>
          </p:cNvPr>
          <p:cNvSpPr>
            <a:spLocks noGrp="1"/>
          </p:cNvSpPr>
          <p:nvPr>
            <p:ph type="subTitle" idx="1"/>
          </p:nvPr>
        </p:nvSpPr>
        <p:spPr>
          <a:xfrm>
            <a:off x="441201" y="4532466"/>
            <a:ext cx="6458364" cy="1388024"/>
          </a:xfrm>
        </p:spPr>
        <p:txBody>
          <a:bodyPr wrap="square" lIns="0" tIns="0" rIns="0" bIns="0">
            <a:noAutofit/>
          </a:bodyPr>
          <a:lstStyle/>
          <a:p>
            <a:pPr>
              <a:lnSpc>
                <a:spcPct val="120000"/>
              </a:lnSpc>
              <a:buNone/>
              <a:defRPr sz="1800" b="0">
                <a:solidFill>
                  <a:srgbClr val="566070"/>
                </a:solidFill>
                <a:latin typeface="Roboto"/>
                <a:ea typeface="Roboto"/>
                <a:cs typeface="Roboto"/>
              </a:defRPr>
            </a:pPr>
            <a:r>
              <a:rPr sz="1800" b="0" dirty="0">
                <a:solidFill>
                  <a:srgbClr val="566070"/>
                </a:solidFill>
                <a:latin typeface="Roboto"/>
                <a:ea typeface="Roboto"/>
                <a:cs typeface="Roboto"/>
              </a:rPr>
              <a:t>There are differences across groups. Specialty mix varies. </a:t>
            </a:r>
            <a:r>
              <a:rPr lang="en-US" sz="1800" dirty="0">
                <a:solidFill>
                  <a:srgbClr val="566070"/>
                </a:solidFill>
                <a:latin typeface="Roboto"/>
                <a:ea typeface="Roboto"/>
                <a:cs typeface="Roboto"/>
              </a:rPr>
              <a:t>Actions to help younger people make their appointments may reduce their no-shows.</a:t>
            </a:r>
            <a:endParaRPr sz="1800" b="0" dirty="0">
              <a:solidFill>
                <a:srgbClr val="566070"/>
              </a:solidFill>
              <a:latin typeface="Roboto"/>
              <a:ea typeface="Roboto"/>
              <a:cs typeface="Roboto"/>
            </a:endParaRPr>
          </a:p>
        </p:txBody>
      </p:sp>
      <p:sp>
        <p:nvSpPr>
          <p:cNvPr id="3" name="Straight Connector 2">
            <a:extLst>
              <a:ext uri="{FF2B5EF4-FFF2-40B4-BE49-F238E27FC236}">
                <a16:creationId xmlns:a16="http://schemas.microsoft.com/office/drawing/2014/main" id="{718335B8-9460-49CD-BBE2-A147E63F60FC}"/>
              </a:ext>
            </a:extLst>
          </p:cNvPr>
          <p:cNvSpPr>
            <a:spLocks noGrp="1"/>
          </p:cNvSpPr>
          <p:nvPr/>
        </p:nv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en-US"/>
          </a:p>
        </p:txBody>
      </p:sp>
    </p:spTree>
    <p:extLst>
      <p:ext uri="{BB962C8B-B14F-4D97-AF65-F5344CB8AC3E}">
        <p14:creationId xmlns:p14="http://schemas.microsoft.com/office/powerpoint/2010/main" val="858355452"/>
      </p:ext>
    </p:extLst>
  </p:cSld>
  <p:clrMapOvr>
    <a:masterClrMapping/>
  </p:clrMapOvr>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1040</Words>
  <Application>Microsoft Office PowerPoint</Application>
  <DocSecurity>0</DocSecurity>
  <PresentationFormat>Widescreen</PresentationFormat>
  <Paragraphs>125</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Roboto</vt:lpstr>
      <vt:lpstr>Roboto SemiBold</vt:lpstr>
      <vt:lpstr>Lora SemiBold</vt:lpstr>
      <vt:lpstr>Lora Medium</vt:lpstr>
      <vt:lpstr>Roboto Medium</vt:lpstr>
      <vt:lpstr>Lora</vt:lpstr>
      <vt:lpstr>Default Codex Theme</vt:lpstr>
      <vt:lpstr>There is variability in no-shows</vt:lpstr>
      <vt:lpstr>Data and considerations</vt:lpstr>
      <vt:lpstr>Dashboard image</vt:lpstr>
      <vt:lpstr>Other volume information</vt:lpstr>
      <vt:lpstr>Age results</vt:lpstr>
      <vt:lpstr>Specialty information</vt:lpstr>
      <vt:lpstr>More results</vt:lpstr>
      <vt:lpstr>Summary and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 Fox</cp:lastModifiedBy>
  <cp:revision>3</cp:revision>
  <dcterms:created xsi:type="dcterms:W3CDTF">2026-10-06T14:56:52Z</dcterms:created>
  <dcterms:modified xsi:type="dcterms:W3CDTF">2026-10-07T10:33:19Z</dcterms:modified>
</cp:coreProperties>
</file>